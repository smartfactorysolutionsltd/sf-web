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2"/>
  </p:sldMasterIdLst>
  <p:notesMasterIdLst>
    <p:notesMasterId r:id="rId42"/>
  </p:notesMasterIdLst>
  <p:handoutMasterIdLst>
    <p:handoutMasterId r:id="rId43"/>
  </p:handoutMasterIdLst>
  <p:sldIdLst>
    <p:sldId id="656" r:id="rId13"/>
    <p:sldId id="762" r:id="rId14"/>
    <p:sldId id="700" r:id="rId15"/>
    <p:sldId id="763" r:id="rId16"/>
    <p:sldId id="702" r:id="rId17"/>
    <p:sldId id="764" r:id="rId18"/>
    <p:sldId id="737" r:id="rId19"/>
    <p:sldId id="767" r:id="rId20"/>
    <p:sldId id="729" r:id="rId21"/>
    <p:sldId id="736" r:id="rId22"/>
    <p:sldId id="739" r:id="rId23"/>
    <p:sldId id="734" r:id="rId24"/>
    <p:sldId id="757" r:id="rId25"/>
    <p:sldId id="760" r:id="rId26"/>
    <p:sldId id="759" r:id="rId27"/>
    <p:sldId id="752" r:id="rId28"/>
    <p:sldId id="756" r:id="rId29"/>
    <p:sldId id="732" r:id="rId30"/>
    <p:sldId id="731" r:id="rId31"/>
    <p:sldId id="754" r:id="rId32"/>
    <p:sldId id="733" r:id="rId33"/>
    <p:sldId id="728" r:id="rId34"/>
    <p:sldId id="751" r:id="rId35"/>
    <p:sldId id="761" r:id="rId36"/>
    <p:sldId id="730" r:id="rId37"/>
    <p:sldId id="742" r:id="rId38"/>
    <p:sldId id="707" r:id="rId39"/>
    <p:sldId id="738" r:id="rId40"/>
    <p:sldId id="766" r:id="rId41"/>
  </p:sldIdLst>
  <p:sldSz cx="6858000" cy="9906000" type="A4"/>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4723078-C8F5-4536-837C-917765B837BD}">
          <p14:sldIdLst>
            <p14:sldId id="656"/>
            <p14:sldId id="762"/>
            <p14:sldId id="700"/>
            <p14:sldId id="763"/>
            <p14:sldId id="702"/>
            <p14:sldId id="764"/>
            <p14:sldId id="737"/>
            <p14:sldId id="767"/>
            <p14:sldId id="729"/>
            <p14:sldId id="736"/>
            <p14:sldId id="739"/>
            <p14:sldId id="734"/>
            <p14:sldId id="757"/>
            <p14:sldId id="760"/>
            <p14:sldId id="759"/>
            <p14:sldId id="752"/>
            <p14:sldId id="756"/>
            <p14:sldId id="732"/>
            <p14:sldId id="731"/>
            <p14:sldId id="754"/>
            <p14:sldId id="733"/>
            <p14:sldId id="728"/>
            <p14:sldId id="751"/>
            <p14:sldId id="761"/>
            <p14:sldId id="730"/>
            <p14:sldId id="742"/>
            <p14:sldId id="707"/>
          </p14:sldIdLst>
        </p14:section>
        <p14:section name="Background info" id="{31C45F52-B37B-411C-A670-86029940C1F6}">
          <p14:sldIdLst>
            <p14:sldId id="738"/>
            <p14:sldId id="766"/>
          </p14:sldIdLst>
        </p14:section>
      </p14:sectionLst>
    </p:ex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34F"/>
    <a:srgbClr val="0D496B"/>
    <a:srgbClr val="3EC4FF"/>
    <a:srgbClr val="EDEDED"/>
    <a:srgbClr val="007DC2"/>
    <a:srgbClr val="007CC1"/>
    <a:srgbClr val="28ACE5"/>
    <a:srgbClr val="FFFFFF"/>
    <a:srgbClr val="252525"/>
    <a:srgbClr val="597D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290F76-299E-4200-ACC6-742A7AA7D89B}" v="6" dt="2025-11-18T10:00:03.8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01" autoAdjust="0"/>
  </p:normalViewPr>
  <p:slideViewPr>
    <p:cSldViewPr snapToGrid="0">
      <p:cViewPr>
        <p:scale>
          <a:sx n="120" d="100"/>
          <a:sy n="120" d="100"/>
        </p:scale>
        <p:origin x="2208" y="-2820"/>
      </p:cViewPr>
      <p:guideLst>
        <p:guide orient="horz" pos="3120"/>
        <p:guide pos="2160"/>
      </p:guideLst>
    </p:cSldViewPr>
  </p:slideViewPr>
  <p:notesTextViewPr>
    <p:cViewPr>
      <p:scale>
        <a:sx n="3" d="2"/>
        <a:sy n="3" d="2"/>
      </p:scale>
      <p:origin x="0" y="0"/>
    </p:cViewPr>
  </p:notesTextViewPr>
  <p:notesViewPr>
    <p:cSldViewPr snapToGrid="0">
      <p:cViewPr>
        <p:scale>
          <a:sx n="1" d="2"/>
          <a:sy n="1" d="2"/>
        </p:scale>
        <p:origin x="0" y="0"/>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10" Type="http://schemas.openxmlformats.org/officeDocument/2006/relationships/customXml" Target="../customXml/item10.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handoutMaster" Target="handoutMasters/handoutMaster1.xml"/><Relationship Id="rId48" Type="http://schemas.microsoft.com/office/2015/10/relationships/revisionInfo" Target="revisionInfo.xml"/><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slideMaster" Target="slideMasters/slideMaster1.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theme" Target="theme/theme1.xml"/><Relationship Id="rId20" Type="http://schemas.openxmlformats.org/officeDocument/2006/relationships/slide" Target="slides/slide8.xml"/><Relationship Id="rId41"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8427" cy="511731"/>
          </a:xfrm>
          <a:prstGeom prst="rect">
            <a:avLst/>
          </a:prstGeom>
        </p:spPr>
        <p:txBody>
          <a:bodyPr vert="horz" lIns="99072" tIns="49536" rIns="99072" bIns="49536" rtlCol="0"/>
          <a:lstStyle>
            <a:lvl1pPr algn="l">
              <a:defRPr sz="1300"/>
            </a:lvl1pPr>
          </a:lstStyle>
          <a:p>
            <a:endParaRPr lang="en-IE" dirty="0"/>
          </a:p>
        </p:txBody>
      </p:sp>
      <p:sp>
        <p:nvSpPr>
          <p:cNvPr id="3" name="Date Placeholder 2"/>
          <p:cNvSpPr>
            <a:spLocks noGrp="1"/>
          </p:cNvSpPr>
          <p:nvPr>
            <p:ph type="dt" sz="quarter" idx="1"/>
          </p:nvPr>
        </p:nvSpPr>
        <p:spPr>
          <a:xfrm>
            <a:off x="4023992" y="0"/>
            <a:ext cx="3078427" cy="511731"/>
          </a:xfrm>
          <a:prstGeom prst="rect">
            <a:avLst/>
          </a:prstGeom>
        </p:spPr>
        <p:txBody>
          <a:bodyPr vert="horz" lIns="99072" tIns="49536" rIns="99072" bIns="49536" rtlCol="0"/>
          <a:lstStyle>
            <a:lvl1pPr algn="r">
              <a:defRPr sz="1300"/>
            </a:lvl1pPr>
          </a:lstStyle>
          <a:p>
            <a:fld id="{583836E9-F806-4CDE-A852-BD2BA72BFB7C}" type="datetimeFigureOut">
              <a:rPr lang="en-IE" smtClean="0"/>
              <a:t>23/03/2026</a:t>
            </a:fld>
            <a:endParaRPr lang="en-IE" dirty="0"/>
          </a:p>
        </p:txBody>
      </p:sp>
      <p:sp>
        <p:nvSpPr>
          <p:cNvPr id="4" name="Footer Placeholder 3"/>
          <p:cNvSpPr>
            <a:spLocks noGrp="1"/>
          </p:cNvSpPr>
          <p:nvPr>
            <p:ph type="ftr" sz="quarter" idx="2"/>
          </p:nvPr>
        </p:nvSpPr>
        <p:spPr>
          <a:xfrm>
            <a:off x="1" y="9721106"/>
            <a:ext cx="3078427" cy="511731"/>
          </a:xfrm>
          <a:prstGeom prst="rect">
            <a:avLst/>
          </a:prstGeom>
        </p:spPr>
        <p:txBody>
          <a:bodyPr vert="horz" lIns="99072" tIns="49536" rIns="99072" bIns="49536" rtlCol="0" anchor="b"/>
          <a:lstStyle>
            <a:lvl1pPr algn="l">
              <a:defRPr sz="1300"/>
            </a:lvl1pPr>
          </a:lstStyle>
          <a:p>
            <a:endParaRPr lang="en-IE" dirty="0"/>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9072" tIns="49536" rIns="99072" bIns="49536" rtlCol="0" anchor="b"/>
          <a:lstStyle>
            <a:lvl1pPr algn="r">
              <a:defRPr sz="1300"/>
            </a:lvl1pPr>
          </a:lstStyle>
          <a:p>
            <a:fld id="{F8C37771-0C71-465D-A524-8707B947079D}" type="slidenum">
              <a:rPr lang="en-IE" smtClean="0"/>
              <a:t>‹#›</a:t>
            </a:fld>
            <a:endParaRPr lang="en-IE" dirty="0"/>
          </a:p>
        </p:txBody>
      </p:sp>
    </p:spTree>
    <p:extLst>
      <p:ext uri="{BB962C8B-B14F-4D97-AF65-F5344CB8AC3E}">
        <p14:creationId xmlns:p14="http://schemas.microsoft.com/office/powerpoint/2010/main" val="308917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8427" cy="513508"/>
          </a:xfrm>
          <a:prstGeom prst="rect">
            <a:avLst/>
          </a:prstGeom>
        </p:spPr>
        <p:txBody>
          <a:bodyPr vert="horz" lIns="99072" tIns="49536" rIns="99072" bIns="49536" rtlCol="0"/>
          <a:lstStyle>
            <a:lvl1pPr algn="l">
              <a:defRPr sz="1300"/>
            </a:lvl1pPr>
          </a:lstStyle>
          <a:p>
            <a:endParaRPr lang="en-GB" dirty="0"/>
          </a:p>
        </p:txBody>
      </p:sp>
      <p:sp>
        <p:nvSpPr>
          <p:cNvPr id="3" name="Date Placeholder 2"/>
          <p:cNvSpPr>
            <a:spLocks noGrp="1"/>
          </p:cNvSpPr>
          <p:nvPr>
            <p:ph type="dt" idx="1"/>
          </p:nvPr>
        </p:nvSpPr>
        <p:spPr>
          <a:xfrm>
            <a:off x="4023992" y="0"/>
            <a:ext cx="3078427" cy="513508"/>
          </a:xfrm>
          <a:prstGeom prst="rect">
            <a:avLst/>
          </a:prstGeom>
        </p:spPr>
        <p:txBody>
          <a:bodyPr vert="horz" lIns="99072" tIns="49536" rIns="99072" bIns="49536" rtlCol="0"/>
          <a:lstStyle>
            <a:lvl1pPr algn="r">
              <a:defRPr sz="1300"/>
            </a:lvl1pPr>
          </a:lstStyle>
          <a:p>
            <a:fld id="{00026656-3B84-4827-B403-377D7CE3649C}" type="datetimeFigureOut">
              <a:rPr lang="en-GB" smtClean="0"/>
              <a:t>23/03/2026</a:t>
            </a:fld>
            <a:endParaRPr lang="en-GB" dirty="0"/>
          </a:p>
        </p:txBody>
      </p:sp>
      <p:sp>
        <p:nvSpPr>
          <p:cNvPr id="4" name="Slide Image Placeholder 3"/>
          <p:cNvSpPr>
            <a:spLocks noGrp="1" noRot="1" noChangeAspect="1"/>
          </p:cNvSpPr>
          <p:nvPr>
            <p:ph type="sldImg" idx="2"/>
          </p:nvPr>
        </p:nvSpPr>
        <p:spPr>
          <a:xfrm>
            <a:off x="2357438" y="1279525"/>
            <a:ext cx="2389187" cy="3452813"/>
          </a:xfrm>
          <a:prstGeom prst="rect">
            <a:avLst/>
          </a:prstGeom>
          <a:noFill/>
          <a:ln w="12700">
            <a:solidFill>
              <a:prstClr val="black"/>
            </a:solidFill>
          </a:ln>
        </p:spPr>
        <p:txBody>
          <a:bodyPr vert="horz" lIns="99072" tIns="49536" rIns="99072" bIns="49536" rtlCol="0" anchor="ctr"/>
          <a:lstStyle/>
          <a:p>
            <a:endParaRPr lang="en-GB" dirty="0"/>
          </a:p>
        </p:txBody>
      </p:sp>
      <p:sp>
        <p:nvSpPr>
          <p:cNvPr id="5" name="Notes Placeholder 4"/>
          <p:cNvSpPr>
            <a:spLocks noGrp="1"/>
          </p:cNvSpPr>
          <p:nvPr>
            <p:ph type="body" sz="quarter" idx="3"/>
          </p:nvPr>
        </p:nvSpPr>
        <p:spPr>
          <a:xfrm>
            <a:off x="710407" y="4925408"/>
            <a:ext cx="5683250" cy="4029879"/>
          </a:xfrm>
          <a:prstGeom prst="rect">
            <a:avLst/>
          </a:prstGeom>
        </p:spPr>
        <p:txBody>
          <a:bodyPr vert="horz" lIns="99072" tIns="49536" rIns="99072" bIns="4953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721107"/>
            <a:ext cx="3078427" cy="513507"/>
          </a:xfrm>
          <a:prstGeom prst="rect">
            <a:avLst/>
          </a:prstGeom>
        </p:spPr>
        <p:txBody>
          <a:bodyPr vert="horz" lIns="99072" tIns="49536" rIns="99072" bIns="49536" rtlCol="0" anchor="b"/>
          <a:lstStyle>
            <a:lvl1pPr algn="l">
              <a:defRPr sz="1300"/>
            </a:lvl1pPr>
          </a:lstStyle>
          <a:p>
            <a:endParaRPr lang="en-GB" dirty="0"/>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2" tIns="49536" rIns="99072" bIns="49536" rtlCol="0" anchor="b"/>
          <a:lstStyle>
            <a:lvl1pPr algn="r">
              <a:defRPr sz="1300"/>
            </a:lvl1pPr>
          </a:lstStyle>
          <a:p>
            <a:fld id="{E1A57FBB-95CD-4CCD-B1EA-713F36784AE5}" type="slidenum">
              <a:rPr lang="en-GB" smtClean="0"/>
              <a:t>‹#›</a:t>
            </a:fld>
            <a:endParaRPr lang="en-GB" dirty="0"/>
          </a:p>
        </p:txBody>
      </p:sp>
    </p:spTree>
    <p:extLst>
      <p:ext uri="{BB962C8B-B14F-4D97-AF65-F5344CB8AC3E}">
        <p14:creationId xmlns:p14="http://schemas.microsoft.com/office/powerpoint/2010/main" val="3314306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57438" y="1279525"/>
            <a:ext cx="2389187" cy="3452813"/>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E1A57FBB-95CD-4CCD-B1EA-713F36784AE5}" type="slidenum">
              <a:rPr lang="en-GB" smtClean="0"/>
              <a:t>1</a:t>
            </a:fld>
            <a:endParaRPr lang="en-GB" dirty="0"/>
          </a:p>
        </p:txBody>
      </p:sp>
    </p:spTree>
    <p:extLst>
      <p:ext uri="{BB962C8B-B14F-4D97-AF65-F5344CB8AC3E}">
        <p14:creationId xmlns:p14="http://schemas.microsoft.com/office/powerpoint/2010/main" val="3131805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085B2789-F228-44F8-BFB5-E08540FAA6CC}" type="datetimeFigureOut">
              <a:rPr lang="en-GB" smtClean="0"/>
              <a:t>23/03/2026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6898649-80F3-45F1-A81F-F8C45E739614}" type="slidenum">
              <a:rPr lang="en-GB" smtClean="0"/>
              <a:t>‹#›</a:t>
            </a:fld>
            <a:endParaRPr lang="en-GB" dirty="0"/>
          </a:p>
        </p:txBody>
      </p:sp>
      <p:sp>
        <p:nvSpPr>
          <p:cNvPr id="7" name="Rectangle 6">
            <a:extLst>
              <a:ext uri="{FF2B5EF4-FFF2-40B4-BE49-F238E27FC236}">
                <a16:creationId xmlns:a16="http://schemas.microsoft.com/office/drawing/2014/main" id="{754183AB-4C40-41EC-AE63-846398863E21}"/>
              </a:ext>
            </a:extLst>
          </p:cNvPr>
          <p:cNvSpPr/>
          <p:nvPr userDrawn="1"/>
        </p:nvSpPr>
        <p:spPr>
          <a:xfrm>
            <a:off x="0" y="9452362"/>
            <a:ext cx="6858000" cy="453639"/>
          </a:xfrm>
          <a:prstGeom prst="rect">
            <a:avLst/>
          </a:prstGeom>
          <a:solidFill>
            <a:srgbClr val="0D49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dirty="0"/>
          </a:p>
        </p:txBody>
      </p:sp>
      <p:sp>
        <p:nvSpPr>
          <p:cNvPr id="8" name="Freeform: Shape 7">
            <a:extLst>
              <a:ext uri="{FF2B5EF4-FFF2-40B4-BE49-F238E27FC236}">
                <a16:creationId xmlns:a16="http://schemas.microsoft.com/office/drawing/2014/main" id="{9F1A85AA-2CFB-4651-8E3C-A3F1A6317D3C}"/>
              </a:ext>
            </a:extLst>
          </p:cNvPr>
          <p:cNvSpPr/>
          <p:nvPr userDrawn="1"/>
        </p:nvSpPr>
        <p:spPr>
          <a:xfrm rot="5400000" flipH="1">
            <a:off x="-12357" y="-2606"/>
            <a:ext cx="347744" cy="347744"/>
          </a:xfrm>
          <a:custGeom>
            <a:avLst/>
            <a:gdLst>
              <a:gd name="connsiteX0" fmla="*/ 65250 w 337125"/>
              <a:gd name="connsiteY0" fmla="*/ 344738 h 337125"/>
              <a:gd name="connsiteX1" fmla="*/ 0 w 337125"/>
              <a:gd name="connsiteY1" fmla="*/ 344738 h 337125"/>
              <a:gd name="connsiteX2" fmla="*/ 344738 w 337125"/>
              <a:gd name="connsiteY2" fmla="*/ 0 h 337125"/>
              <a:gd name="connsiteX3" fmla="*/ 344738 w 337125"/>
              <a:gd name="connsiteY3" fmla="*/ 65250 h 337125"/>
              <a:gd name="connsiteX4" fmla="*/ 65250 w 337125"/>
              <a:gd name="connsiteY4" fmla="*/ 344738 h 33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25" h="337125">
                <a:moveTo>
                  <a:pt x="65250" y="344738"/>
                </a:moveTo>
                <a:lnTo>
                  <a:pt x="0" y="344738"/>
                </a:lnTo>
                <a:cubicBezTo>
                  <a:pt x="239" y="154444"/>
                  <a:pt x="154444" y="239"/>
                  <a:pt x="344738" y="0"/>
                </a:cubicBezTo>
                <a:lnTo>
                  <a:pt x="344738" y="65250"/>
                </a:lnTo>
                <a:cubicBezTo>
                  <a:pt x="190455" y="65429"/>
                  <a:pt x="65429" y="190455"/>
                  <a:pt x="65250" y="344738"/>
                </a:cubicBezTo>
                <a:close/>
              </a:path>
            </a:pathLst>
          </a:custGeom>
          <a:solidFill>
            <a:srgbClr val="9D9D9C">
              <a:alpha val="20000"/>
            </a:srgbClr>
          </a:solidFill>
          <a:ln w="19050" cap="flat">
            <a:noFill/>
            <a:prstDash val="solid"/>
            <a:miter/>
          </a:ln>
        </p:spPr>
        <p:txBody>
          <a:bodyPr rtlCol="0" anchor="ctr"/>
          <a:lstStyle/>
          <a:p>
            <a:endParaRPr lang="en-IE" sz="1350" dirty="0"/>
          </a:p>
        </p:txBody>
      </p:sp>
      <p:sp>
        <p:nvSpPr>
          <p:cNvPr id="9" name="Freeform: Shape 8">
            <a:extLst>
              <a:ext uri="{FF2B5EF4-FFF2-40B4-BE49-F238E27FC236}">
                <a16:creationId xmlns:a16="http://schemas.microsoft.com/office/drawing/2014/main" id="{29B8BACD-C2E0-4281-A1D8-0E139530B687}"/>
              </a:ext>
            </a:extLst>
          </p:cNvPr>
          <p:cNvSpPr/>
          <p:nvPr userDrawn="1"/>
        </p:nvSpPr>
        <p:spPr>
          <a:xfrm rot="5400000" flipH="1">
            <a:off x="-12356" y="-2607"/>
            <a:ext cx="527224" cy="527225"/>
          </a:xfrm>
          <a:custGeom>
            <a:avLst/>
            <a:gdLst>
              <a:gd name="connsiteX0" fmla="*/ 65250 w 511125"/>
              <a:gd name="connsiteY0" fmla="*/ 514496 h 511125"/>
              <a:gd name="connsiteX1" fmla="*/ 0 w 511125"/>
              <a:gd name="connsiteY1" fmla="*/ 514496 h 511125"/>
              <a:gd name="connsiteX2" fmla="*/ 514931 w 511125"/>
              <a:gd name="connsiteY2" fmla="*/ 0 h 511125"/>
              <a:gd name="connsiteX3" fmla="*/ 514931 w 511125"/>
              <a:gd name="connsiteY3" fmla="*/ 65250 h 511125"/>
              <a:gd name="connsiteX4" fmla="*/ 65250 w 511125"/>
              <a:gd name="connsiteY4" fmla="*/ 514496 h 511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1125" h="511125">
                <a:moveTo>
                  <a:pt x="65250" y="514496"/>
                </a:moveTo>
                <a:lnTo>
                  <a:pt x="0" y="514496"/>
                </a:lnTo>
                <a:cubicBezTo>
                  <a:pt x="539" y="230402"/>
                  <a:pt x="230836" y="299"/>
                  <a:pt x="514931" y="0"/>
                </a:cubicBezTo>
                <a:lnTo>
                  <a:pt x="514931" y="65250"/>
                </a:lnTo>
                <a:cubicBezTo>
                  <a:pt x="266873" y="65549"/>
                  <a:pt x="65789" y="266439"/>
                  <a:pt x="65250" y="514496"/>
                </a:cubicBezTo>
                <a:close/>
              </a:path>
            </a:pathLst>
          </a:custGeom>
          <a:solidFill>
            <a:srgbClr val="9D9D9C">
              <a:alpha val="20000"/>
            </a:srgbClr>
          </a:solidFill>
          <a:ln w="19050" cap="flat">
            <a:noFill/>
            <a:prstDash val="solid"/>
            <a:miter/>
          </a:ln>
        </p:spPr>
        <p:txBody>
          <a:bodyPr rtlCol="0" anchor="ctr"/>
          <a:lstStyle/>
          <a:p>
            <a:endParaRPr lang="en-IE" sz="1350" dirty="0"/>
          </a:p>
        </p:txBody>
      </p:sp>
      <p:sp>
        <p:nvSpPr>
          <p:cNvPr id="10" name="Freeform: Shape 9">
            <a:extLst>
              <a:ext uri="{FF2B5EF4-FFF2-40B4-BE49-F238E27FC236}">
                <a16:creationId xmlns:a16="http://schemas.microsoft.com/office/drawing/2014/main" id="{DD1DA958-D359-45B6-9293-1CF4A66AC90D}"/>
              </a:ext>
            </a:extLst>
          </p:cNvPr>
          <p:cNvSpPr/>
          <p:nvPr userDrawn="1"/>
        </p:nvSpPr>
        <p:spPr>
          <a:xfrm rot="5400000" flipH="1">
            <a:off x="-12356" y="-2607"/>
            <a:ext cx="706704" cy="706706"/>
          </a:xfrm>
          <a:custGeom>
            <a:avLst/>
            <a:gdLst>
              <a:gd name="connsiteX0" fmla="*/ 65250 w 685125"/>
              <a:gd name="connsiteY0" fmla="*/ 685125 h 685125"/>
              <a:gd name="connsiteX1" fmla="*/ 0 w 685125"/>
              <a:gd name="connsiteY1" fmla="*/ 685125 h 685125"/>
              <a:gd name="connsiteX2" fmla="*/ 685125 w 685125"/>
              <a:gd name="connsiteY2" fmla="*/ 0 h 685125"/>
              <a:gd name="connsiteX3" fmla="*/ 685125 w 685125"/>
              <a:gd name="connsiteY3" fmla="*/ 65250 h 685125"/>
              <a:gd name="connsiteX4" fmla="*/ 65250 w 685125"/>
              <a:gd name="connsiteY4" fmla="*/ 685125 h 68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25" h="685125">
                <a:moveTo>
                  <a:pt x="65250" y="685125"/>
                </a:moveTo>
                <a:lnTo>
                  <a:pt x="0" y="685125"/>
                </a:lnTo>
                <a:cubicBezTo>
                  <a:pt x="420" y="306915"/>
                  <a:pt x="306915" y="420"/>
                  <a:pt x="685125" y="0"/>
                </a:cubicBezTo>
                <a:lnTo>
                  <a:pt x="685125" y="65250"/>
                </a:lnTo>
                <a:cubicBezTo>
                  <a:pt x="342927" y="65610"/>
                  <a:pt x="65610" y="342927"/>
                  <a:pt x="65250" y="685125"/>
                </a:cubicBezTo>
                <a:close/>
              </a:path>
            </a:pathLst>
          </a:custGeom>
          <a:solidFill>
            <a:srgbClr val="9D9D9C">
              <a:alpha val="20000"/>
            </a:srgbClr>
          </a:solidFill>
          <a:ln w="19050" cap="flat">
            <a:noFill/>
            <a:prstDash val="solid"/>
            <a:miter/>
          </a:ln>
        </p:spPr>
        <p:txBody>
          <a:bodyPr rtlCol="0" anchor="ctr"/>
          <a:lstStyle/>
          <a:p>
            <a:endParaRPr lang="en-IE" sz="1350" dirty="0"/>
          </a:p>
        </p:txBody>
      </p:sp>
    </p:spTree>
    <p:extLst>
      <p:ext uri="{BB962C8B-B14F-4D97-AF65-F5344CB8AC3E}">
        <p14:creationId xmlns:p14="http://schemas.microsoft.com/office/powerpoint/2010/main" val="1413111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5B2789-F228-44F8-BFB5-E08540FAA6CC}" type="datetimeFigureOut">
              <a:rPr lang="en-GB" smtClean="0"/>
              <a:t>23/03/2026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6898649-80F3-45F1-A81F-F8C45E739614}" type="slidenum">
              <a:rPr lang="en-GB" smtClean="0"/>
              <a:t>‹#›</a:t>
            </a:fld>
            <a:endParaRPr lang="en-GB" dirty="0"/>
          </a:p>
        </p:txBody>
      </p:sp>
      <p:sp>
        <p:nvSpPr>
          <p:cNvPr id="8" name="Rectangle 7">
            <a:extLst>
              <a:ext uri="{FF2B5EF4-FFF2-40B4-BE49-F238E27FC236}">
                <a16:creationId xmlns:a16="http://schemas.microsoft.com/office/drawing/2014/main" id="{A22FCB57-036D-489C-B837-25FEFDE25A21}"/>
              </a:ext>
            </a:extLst>
          </p:cNvPr>
          <p:cNvSpPr/>
          <p:nvPr userDrawn="1"/>
        </p:nvSpPr>
        <p:spPr>
          <a:xfrm>
            <a:off x="0" y="9452362"/>
            <a:ext cx="6858000" cy="453639"/>
          </a:xfrm>
          <a:prstGeom prst="rect">
            <a:avLst/>
          </a:prstGeom>
          <a:solidFill>
            <a:srgbClr val="0D49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dirty="0"/>
          </a:p>
        </p:txBody>
      </p:sp>
    </p:spTree>
    <p:extLst>
      <p:ext uri="{BB962C8B-B14F-4D97-AF65-F5344CB8AC3E}">
        <p14:creationId xmlns:p14="http://schemas.microsoft.com/office/powerpoint/2010/main" val="30821875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085B2789-F228-44F8-BFB5-E08540FAA6CC}" type="datetimeFigureOut">
              <a:rPr lang="en-GB" smtClean="0"/>
              <a:t>23/03/2026</a:t>
            </a:fld>
            <a:endParaRPr lang="en-GB"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E6898649-80F3-45F1-A81F-F8C45E739614}" type="slidenum">
              <a:rPr lang="en-GB" smtClean="0"/>
              <a:t>‹#›</a:t>
            </a:fld>
            <a:endParaRPr lang="en-GB" dirty="0"/>
          </a:p>
        </p:txBody>
      </p:sp>
      <p:grpSp>
        <p:nvGrpSpPr>
          <p:cNvPr id="2" name="Group 1">
            <a:extLst>
              <a:ext uri="{FF2B5EF4-FFF2-40B4-BE49-F238E27FC236}">
                <a16:creationId xmlns:a16="http://schemas.microsoft.com/office/drawing/2014/main" id="{A326DCD8-4767-94C5-36DE-6855EA7C0628}"/>
              </a:ext>
            </a:extLst>
          </p:cNvPr>
          <p:cNvGrpSpPr/>
          <p:nvPr userDrawn="1"/>
        </p:nvGrpSpPr>
        <p:grpSpPr>
          <a:xfrm>
            <a:off x="-12357" y="-2606"/>
            <a:ext cx="706706" cy="706704"/>
            <a:chOff x="-12357" y="-2606"/>
            <a:chExt cx="706706" cy="706704"/>
          </a:xfrm>
        </p:grpSpPr>
        <p:sp>
          <p:nvSpPr>
            <p:cNvPr id="7" name="Freeform: Shape 6">
              <a:extLst>
                <a:ext uri="{FF2B5EF4-FFF2-40B4-BE49-F238E27FC236}">
                  <a16:creationId xmlns:a16="http://schemas.microsoft.com/office/drawing/2014/main" id="{26368B88-52D3-4743-9EA7-60A2B4CBD594}"/>
                </a:ext>
              </a:extLst>
            </p:cNvPr>
            <p:cNvSpPr/>
            <p:nvPr userDrawn="1"/>
          </p:nvSpPr>
          <p:spPr>
            <a:xfrm rot="5400000" flipH="1">
              <a:off x="-12357" y="-2606"/>
              <a:ext cx="347744" cy="347744"/>
            </a:xfrm>
            <a:custGeom>
              <a:avLst/>
              <a:gdLst>
                <a:gd name="connsiteX0" fmla="*/ 65250 w 337125"/>
                <a:gd name="connsiteY0" fmla="*/ 344738 h 337125"/>
                <a:gd name="connsiteX1" fmla="*/ 0 w 337125"/>
                <a:gd name="connsiteY1" fmla="*/ 344738 h 337125"/>
                <a:gd name="connsiteX2" fmla="*/ 344738 w 337125"/>
                <a:gd name="connsiteY2" fmla="*/ 0 h 337125"/>
                <a:gd name="connsiteX3" fmla="*/ 344738 w 337125"/>
                <a:gd name="connsiteY3" fmla="*/ 65250 h 337125"/>
                <a:gd name="connsiteX4" fmla="*/ 65250 w 337125"/>
                <a:gd name="connsiteY4" fmla="*/ 344738 h 33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25" h="337125">
                  <a:moveTo>
                    <a:pt x="65250" y="344738"/>
                  </a:moveTo>
                  <a:lnTo>
                    <a:pt x="0" y="344738"/>
                  </a:lnTo>
                  <a:cubicBezTo>
                    <a:pt x="239" y="154444"/>
                    <a:pt x="154444" y="239"/>
                    <a:pt x="344738" y="0"/>
                  </a:cubicBezTo>
                  <a:lnTo>
                    <a:pt x="344738" y="65250"/>
                  </a:lnTo>
                  <a:cubicBezTo>
                    <a:pt x="190455" y="65429"/>
                    <a:pt x="65429" y="190455"/>
                    <a:pt x="65250" y="344738"/>
                  </a:cubicBezTo>
                  <a:close/>
                </a:path>
              </a:pathLst>
            </a:custGeom>
            <a:solidFill>
              <a:srgbClr val="9D9D9C">
                <a:alpha val="20000"/>
              </a:srgbClr>
            </a:solidFill>
            <a:ln w="19050" cap="flat">
              <a:noFill/>
              <a:prstDash val="solid"/>
              <a:miter/>
            </a:ln>
          </p:spPr>
          <p:txBody>
            <a:bodyPr rtlCol="0" anchor="ctr"/>
            <a:lstStyle/>
            <a:p>
              <a:endParaRPr lang="en-IE" sz="1350" dirty="0"/>
            </a:p>
          </p:txBody>
        </p:sp>
        <p:sp>
          <p:nvSpPr>
            <p:cNvPr id="8" name="Freeform: Shape 7">
              <a:extLst>
                <a:ext uri="{FF2B5EF4-FFF2-40B4-BE49-F238E27FC236}">
                  <a16:creationId xmlns:a16="http://schemas.microsoft.com/office/drawing/2014/main" id="{993B3158-05C3-4B19-B5C3-2315D90853FB}"/>
                </a:ext>
              </a:extLst>
            </p:cNvPr>
            <p:cNvSpPr/>
            <p:nvPr userDrawn="1"/>
          </p:nvSpPr>
          <p:spPr>
            <a:xfrm rot="5400000" flipH="1">
              <a:off x="-12356" y="-2607"/>
              <a:ext cx="527224" cy="527225"/>
            </a:xfrm>
            <a:custGeom>
              <a:avLst/>
              <a:gdLst>
                <a:gd name="connsiteX0" fmla="*/ 65250 w 511125"/>
                <a:gd name="connsiteY0" fmla="*/ 514496 h 511125"/>
                <a:gd name="connsiteX1" fmla="*/ 0 w 511125"/>
                <a:gd name="connsiteY1" fmla="*/ 514496 h 511125"/>
                <a:gd name="connsiteX2" fmla="*/ 514931 w 511125"/>
                <a:gd name="connsiteY2" fmla="*/ 0 h 511125"/>
                <a:gd name="connsiteX3" fmla="*/ 514931 w 511125"/>
                <a:gd name="connsiteY3" fmla="*/ 65250 h 511125"/>
                <a:gd name="connsiteX4" fmla="*/ 65250 w 511125"/>
                <a:gd name="connsiteY4" fmla="*/ 514496 h 511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1125" h="511125">
                  <a:moveTo>
                    <a:pt x="65250" y="514496"/>
                  </a:moveTo>
                  <a:lnTo>
                    <a:pt x="0" y="514496"/>
                  </a:lnTo>
                  <a:cubicBezTo>
                    <a:pt x="539" y="230402"/>
                    <a:pt x="230836" y="299"/>
                    <a:pt x="514931" y="0"/>
                  </a:cubicBezTo>
                  <a:lnTo>
                    <a:pt x="514931" y="65250"/>
                  </a:lnTo>
                  <a:cubicBezTo>
                    <a:pt x="266873" y="65549"/>
                    <a:pt x="65789" y="266439"/>
                    <a:pt x="65250" y="514496"/>
                  </a:cubicBezTo>
                  <a:close/>
                </a:path>
              </a:pathLst>
            </a:custGeom>
            <a:solidFill>
              <a:srgbClr val="9D9D9C">
                <a:alpha val="20000"/>
              </a:srgbClr>
            </a:solidFill>
            <a:ln w="19050" cap="flat">
              <a:noFill/>
              <a:prstDash val="solid"/>
              <a:miter/>
            </a:ln>
          </p:spPr>
          <p:txBody>
            <a:bodyPr rtlCol="0" anchor="ctr"/>
            <a:lstStyle/>
            <a:p>
              <a:endParaRPr lang="en-IE" sz="1350" dirty="0"/>
            </a:p>
          </p:txBody>
        </p:sp>
        <p:sp>
          <p:nvSpPr>
            <p:cNvPr id="9" name="Freeform: Shape 8">
              <a:extLst>
                <a:ext uri="{FF2B5EF4-FFF2-40B4-BE49-F238E27FC236}">
                  <a16:creationId xmlns:a16="http://schemas.microsoft.com/office/drawing/2014/main" id="{371ECB71-A473-4409-A675-20D08AE94559}"/>
                </a:ext>
              </a:extLst>
            </p:cNvPr>
            <p:cNvSpPr/>
            <p:nvPr userDrawn="1"/>
          </p:nvSpPr>
          <p:spPr>
            <a:xfrm rot="5400000" flipH="1">
              <a:off x="-12356" y="-2607"/>
              <a:ext cx="706704" cy="706706"/>
            </a:xfrm>
            <a:custGeom>
              <a:avLst/>
              <a:gdLst>
                <a:gd name="connsiteX0" fmla="*/ 65250 w 685125"/>
                <a:gd name="connsiteY0" fmla="*/ 685125 h 685125"/>
                <a:gd name="connsiteX1" fmla="*/ 0 w 685125"/>
                <a:gd name="connsiteY1" fmla="*/ 685125 h 685125"/>
                <a:gd name="connsiteX2" fmla="*/ 685125 w 685125"/>
                <a:gd name="connsiteY2" fmla="*/ 0 h 685125"/>
                <a:gd name="connsiteX3" fmla="*/ 685125 w 685125"/>
                <a:gd name="connsiteY3" fmla="*/ 65250 h 685125"/>
                <a:gd name="connsiteX4" fmla="*/ 65250 w 685125"/>
                <a:gd name="connsiteY4" fmla="*/ 685125 h 68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125" h="685125">
                  <a:moveTo>
                    <a:pt x="65250" y="685125"/>
                  </a:moveTo>
                  <a:lnTo>
                    <a:pt x="0" y="685125"/>
                  </a:lnTo>
                  <a:cubicBezTo>
                    <a:pt x="420" y="306915"/>
                    <a:pt x="306915" y="420"/>
                    <a:pt x="685125" y="0"/>
                  </a:cubicBezTo>
                  <a:lnTo>
                    <a:pt x="685125" y="65250"/>
                  </a:lnTo>
                  <a:cubicBezTo>
                    <a:pt x="342927" y="65610"/>
                    <a:pt x="65610" y="342927"/>
                    <a:pt x="65250" y="685125"/>
                  </a:cubicBezTo>
                  <a:close/>
                </a:path>
              </a:pathLst>
            </a:custGeom>
            <a:solidFill>
              <a:srgbClr val="9D9D9C">
                <a:alpha val="20000"/>
              </a:srgbClr>
            </a:solidFill>
            <a:ln w="19050" cap="flat">
              <a:noFill/>
              <a:prstDash val="solid"/>
              <a:miter/>
            </a:ln>
          </p:spPr>
          <p:txBody>
            <a:bodyPr rtlCol="0" anchor="ctr"/>
            <a:lstStyle/>
            <a:p>
              <a:endParaRPr lang="en-IE" sz="1350" dirty="0"/>
            </a:p>
          </p:txBody>
        </p:sp>
      </p:grpSp>
      <p:pic>
        <p:nvPicPr>
          <p:cNvPr id="10" name="Picture 9" descr="Logo, company name&#10;&#10;Description automatically generated">
            <a:extLst>
              <a:ext uri="{FF2B5EF4-FFF2-40B4-BE49-F238E27FC236}">
                <a16:creationId xmlns:a16="http://schemas.microsoft.com/office/drawing/2014/main" id="{776F4281-CC16-45E0-BBA2-5AA9E1DD3A7E}"/>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10125" t="37974" r="9715" b="37885"/>
          <a:stretch/>
        </p:blipFill>
        <p:spPr>
          <a:xfrm>
            <a:off x="4716379" y="197200"/>
            <a:ext cx="1913974" cy="406281"/>
          </a:xfrm>
          <a:prstGeom prst="rect">
            <a:avLst/>
          </a:prstGeom>
        </p:spPr>
      </p:pic>
    </p:spTree>
    <p:extLst>
      <p:ext uri="{BB962C8B-B14F-4D97-AF65-F5344CB8AC3E}">
        <p14:creationId xmlns:p14="http://schemas.microsoft.com/office/powerpoint/2010/main" val="3866131"/>
      </p:ext>
    </p:extLst>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slide" Target="slide9.xml"/></Relationships>
</file>

<file path=ppt/slides/_rels/slide6.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s://youtu.be/MEyKO2pvi6o?si=UNCJApKEtm8juKXV"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20.jpeg"/><Relationship Id="rId13" Type="http://schemas.openxmlformats.org/officeDocument/2006/relationships/image" Target="../media/image25.jpeg"/><Relationship Id="rId3" Type="http://schemas.openxmlformats.org/officeDocument/2006/relationships/image" Target="../media/image15.png"/><Relationship Id="rId7" Type="http://schemas.openxmlformats.org/officeDocument/2006/relationships/image" Target="../media/image19.jpeg"/><Relationship Id="rId12" Type="http://schemas.openxmlformats.org/officeDocument/2006/relationships/image" Target="../media/image24.jpe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8.jpeg"/><Relationship Id="rId11" Type="http://schemas.openxmlformats.org/officeDocument/2006/relationships/image" Target="../media/image23.png"/><Relationship Id="rId5" Type="http://schemas.openxmlformats.org/officeDocument/2006/relationships/image" Target="../media/image17.jpe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slide" Target="slide9.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slide" Target="slide9.xml"/><Relationship Id="rId3" Type="http://schemas.openxmlformats.org/officeDocument/2006/relationships/image" Target="../media/image15.png"/><Relationship Id="rId7" Type="http://schemas.openxmlformats.org/officeDocument/2006/relationships/image" Target="../media/image20.jpeg"/><Relationship Id="rId12" Type="http://schemas.openxmlformats.org/officeDocument/2006/relationships/image" Target="../media/image25.jpe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9.jpeg"/><Relationship Id="rId11" Type="http://schemas.openxmlformats.org/officeDocument/2006/relationships/image" Target="../media/image24.jpeg"/><Relationship Id="rId5" Type="http://schemas.openxmlformats.org/officeDocument/2006/relationships/image" Target="../media/image18.jpeg"/><Relationship Id="rId10" Type="http://schemas.openxmlformats.org/officeDocument/2006/relationships/image" Target="../media/image23.png"/><Relationship Id="rId4" Type="http://schemas.openxmlformats.org/officeDocument/2006/relationships/image" Target="../media/image17.jpe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slide" Target="slide9.xml"/><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customXml" Target="../../customXml/item11.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jpeg"/><Relationship Id="rId10" Type="http://schemas.openxmlformats.org/officeDocument/2006/relationships/image" Target="../media/image32.png"/><Relationship Id="rId4" Type="http://schemas.openxmlformats.org/officeDocument/2006/relationships/image" Target="../media/image26.jpeg"/><Relationship Id="rId9" Type="http://schemas.openxmlformats.org/officeDocument/2006/relationships/image" Target="../media/image31.png"/><Relationship Id="rId14" Type="http://schemas.openxmlformats.org/officeDocument/2006/relationships/image" Target="../media/image36.png"/></Relationships>
</file>

<file path=ppt/slides/_rels/slide1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hyperlink" Target="https://www.sick.com/media/pdf/0/20/220/dataSheet_SEC110-5C9D1SFZZZZ_1144993_en.pdf" TargetMode="External"/><Relationship Id="rId2" Type="http://schemas.openxmlformats.org/officeDocument/2006/relationships/slide" Target="slide9.xml"/><Relationship Id="rId1" Type="http://schemas.openxmlformats.org/officeDocument/2006/relationships/slideLayout" Target="../slideLayouts/slideLayout2.xml"/><Relationship Id="rId6" Type="http://schemas.openxmlformats.org/officeDocument/2006/relationships/hyperlink" Target="https://youtu.be/8qRBQh_tojc?si=YacntHyUC5wxzndb" TargetMode="External"/><Relationship Id="rId5" Type="http://schemas.openxmlformats.org/officeDocument/2006/relationships/hyperlink" Target="https://youtu.be/UNeyAg2AsOI?si=YK3fPt-paEAm204S" TargetMode="External"/><Relationship Id="rId10" Type="http://schemas.openxmlformats.org/officeDocument/2006/relationships/image" Target="../media/image40.png"/><Relationship Id="rId4" Type="http://schemas.openxmlformats.org/officeDocument/2006/relationships/image" Target="../media/image37.png"/><Relationship Id="rId9" Type="http://schemas.openxmlformats.org/officeDocument/2006/relationships/image" Target="../media/image39.png"/></Relationships>
</file>

<file path=ppt/slides/_rels/slide11.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hyperlink" Target="https://mall.industry.siemens.com/mall/en/IE/Catalog/Product/?mlfb=4NC5112-2CB21&amp;SiepCountryCode=IE" TargetMode="External"/><Relationship Id="rId12" Type="http://schemas.openxmlformats.org/officeDocument/2006/relationships/image" Target="../media/image47.png"/><Relationship Id="rId2" Type="http://schemas.openxmlformats.org/officeDocument/2006/relationships/slide" Target="slide9.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6.png"/><Relationship Id="rId5" Type="http://schemas.openxmlformats.org/officeDocument/2006/relationships/image" Target="../media/image42.png"/><Relationship Id="rId10" Type="http://schemas.openxmlformats.org/officeDocument/2006/relationships/hyperlink" Target="https://www.wago.com/gb/energy-measurement-technology/split-core-current-transformer/p/855-4005_150-101" TargetMode="External"/><Relationship Id="rId4" Type="http://schemas.openxmlformats.org/officeDocument/2006/relationships/hyperlink" Target="https://mall.industry.siemens.com/mall/en/IE/Catalog/Product/?mlfb=7KM2200-2EA30-1EA1&amp;SiepCountryCode=WW&amp;quantity=1" TargetMode="External"/><Relationship Id="rId9"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49.png"/><Relationship Id="rId7" Type="http://schemas.openxmlformats.org/officeDocument/2006/relationships/image" Target="../media/image52.sv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51.png"/><Relationship Id="rId4" Type="http://schemas.openxmlformats.org/officeDocument/2006/relationships/image" Target="../media/image50.png"/></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22.png"/><Relationship Id="rId7" Type="http://schemas.openxmlformats.org/officeDocument/2006/relationships/image" Target="../media/image56.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hyperlink" Target="https://www.keyence.co.uk/products/process/flow/fd-ec/" TargetMode="External"/><Relationship Id="rId4" Type="http://schemas.openxmlformats.org/officeDocument/2006/relationships/image" Target="../media/image54.png"/><Relationship Id="rId9" Type="http://schemas.openxmlformats.org/officeDocument/2006/relationships/slide" Target="slide9.xml"/></Relationships>
</file>

<file path=ppt/slides/_rels/slide15.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22.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7.png"/><Relationship Id="rId4" Type="http://schemas.openxmlformats.org/officeDocument/2006/relationships/hyperlink" Target="https://www.keyence.co.uk/products/process/flow/fd-h/"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53.png"/><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hyperlink" Target="https://www.youtube.com/watch?v=cUHVzKtFFSM&amp;t=1s&amp;ab_channel=SICKSensorIntelligence." TargetMode="External"/><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slide" Target="slide28.xml"/><Relationship Id="rId1" Type="http://schemas.openxmlformats.org/officeDocument/2006/relationships/slideLayout" Target="../slideLayouts/slideLayout2.xml"/><Relationship Id="rId6" Type="http://schemas.openxmlformats.org/officeDocument/2006/relationships/image" Target="../media/image64.jpe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hyperlink" Target="https://youtu.be/_UBEIRx7RxE?si=LZhsB-cRnmnErbPy" TargetMode="External"/><Relationship Id="rId7" Type="http://schemas.openxmlformats.org/officeDocument/2006/relationships/image" Target="../media/image73.jpeg"/><Relationship Id="rId2" Type="http://schemas.openxmlformats.org/officeDocument/2006/relationships/slide" Target="slide9.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jpeg"/><Relationship Id="rId10" Type="http://schemas.openxmlformats.org/officeDocument/2006/relationships/image" Target="../media/image75.png"/><Relationship Id="rId4" Type="http://schemas.openxmlformats.org/officeDocument/2006/relationships/hyperlink" Target="https://youtu.be/1YGGG301SEw?si=sk8BwG-2o95se5ER" TargetMode="External"/><Relationship Id="rId9" Type="http://schemas.openxmlformats.org/officeDocument/2006/relationships/image" Target="../media/image74.png"/></Relationships>
</file>

<file path=ppt/slides/_rels/slide20.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41.png"/><Relationship Id="rId7" Type="http://schemas.openxmlformats.org/officeDocument/2006/relationships/image" Target="../media/image79.png"/><Relationship Id="rId2" Type="http://schemas.openxmlformats.org/officeDocument/2006/relationships/slide" Target="slide9.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81.png"/></Relationships>
</file>

<file path=ppt/slides/_rels/slide22.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2.png"/><Relationship Id="rId7" Type="http://schemas.openxmlformats.org/officeDocument/2006/relationships/image" Target="../media/image13.png"/><Relationship Id="rId12" Type="http://schemas.openxmlformats.org/officeDocument/2006/relationships/image" Target="../media/image36.png"/><Relationship Id="rId2" Type="http://schemas.openxmlformats.org/officeDocument/2006/relationships/slide" Target="slide9.xml"/><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hyperlink" Target="https://youtu.be/1YGGG301SEw?si=sk8BwG-2o95se5ER" TargetMode="External"/><Relationship Id="rId5" Type="http://schemas.openxmlformats.org/officeDocument/2006/relationships/image" Target="../media/image84.png"/><Relationship Id="rId10" Type="http://schemas.openxmlformats.org/officeDocument/2006/relationships/image" Target="../media/image88.png"/><Relationship Id="rId4" Type="http://schemas.openxmlformats.org/officeDocument/2006/relationships/image" Target="../media/image83.png"/><Relationship Id="rId9" Type="http://schemas.openxmlformats.org/officeDocument/2006/relationships/image" Target="../media/image87.png"/></Relationships>
</file>

<file path=ppt/slides/_rels/slide2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slide" Target="slide28.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2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slide" Target="slide28.xml"/><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25.xml.rels><?xml version="1.0" encoding="UTF-8" standalone="yes"?>
<Relationships xmlns="http://schemas.openxmlformats.org/package/2006/relationships"><Relationship Id="rId8" Type="http://schemas.openxmlformats.org/officeDocument/2006/relationships/image" Target="../media/image98.jpeg"/><Relationship Id="rId3" Type="http://schemas.openxmlformats.org/officeDocument/2006/relationships/hyperlink" Target="https://youtu.be/UNeyAg2AsOI?si=YK3fPt-paEAm204S" TargetMode="External"/><Relationship Id="rId7" Type="http://schemas.openxmlformats.org/officeDocument/2006/relationships/image" Target="../media/image97.png"/><Relationship Id="rId2" Type="http://schemas.openxmlformats.org/officeDocument/2006/relationships/slide" Target="slide9.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9" Type="http://schemas.openxmlformats.org/officeDocument/2006/relationships/image" Target="../media/image36.png"/></Relationships>
</file>

<file path=ppt/slides/_rels/slide26.xml.rels><?xml version="1.0" encoding="UTF-8" standalone="yes"?>
<Relationships xmlns="http://schemas.openxmlformats.org/package/2006/relationships"><Relationship Id="rId8" Type="http://schemas.openxmlformats.org/officeDocument/2006/relationships/image" Target="../media/image105.jpeg"/><Relationship Id="rId3" Type="http://schemas.openxmlformats.org/officeDocument/2006/relationships/image" Target="../media/image100.png"/><Relationship Id="rId7" Type="http://schemas.openxmlformats.org/officeDocument/2006/relationships/image" Target="../media/image104.jpeg"/><Relationship Id="rId12" Type="http://schemas.openxmlformats.org/officeDocument/2006/relationships/slide" Target="slide9.xml"/><Relationship Id="rId2" Type="http://schemas.openxmlformats.org/officeDocument/2006/relationships/image" Target="../media/image99.jpeg"/><Relationship Id="rId1" Type="http://schemas.openxmlformats.org/officeDocument/2006/relationships/slideLayout" Target="../slideLayouts/slideLayout2.xml"/><Relationship Id="rId6" Type="http://schemas.openxmlformats.org/officeDocument/2006/relationships/image" Target="../media/image103.jpeg"/><Relationship Id="rId11" Type="http://schemas.openxmlformats.org/officeDocument/2006/relationships/image" Target="../media/image108.jpeg"/><Relationship Id="rId5" Type="http://schemas.openxmlformats.org/officeDocument/2006/relationships/image" Target="../media/image102.jpeg"/><Relationship Id="rId10" Type="http://schemas.openxmlformats.org/officeDocument/2006/relationships/image" Target="../media/image107.png"/><Relationship Id="rId4" Type="http://schemas.openxmlformats.org/officeDocument/2006/relationships/image" Target="../media/image101.jpeg"/><Relationship Id="rId9" Type="http://schemas.openxmlformats.org/officeDocument/2006/relationships/image" Target="../media/image106.png"/></Relationships>
</file>

<file path=ppt/slides/_rels/slide27.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110.png"/><Relationship Id="rId7" Type="http://schemas.openxmlformats.org/officeDocument/2006/relationships/image" Target="../media/image114.jpeg"/><Relationship Id="rId2"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2.png"/><Relationship Id="rId10" Type="http://schemas.openxmlformats.org/officeDocument/2006/relationships/image" Target="../media/image116.png"/><Relationship Id="rId4" Type="http://schemas.openxmlformats.org/officeDocument/2006/relationships/image" Target="../media/image111.png"/><Relationship Id="rId9" Type="http://schemas.openxmlformats.org/officeDocument/2006/relationships/image" Target="../media/image115.png"/></Relationships>
</file>

<file path=ppt/slides/_rels/slide28.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18.png"/><Relationship Id="rId1" Type="http://schemas.openxmlformats.org/officeDocument/2006/relationships/slideLayout" Target="../slideLayouts/slideLayout2.xml"/><Relationship Id="rId6" Type="http://schemas.openxmlformats.org/officeDocument/2006/relationships/slide" Target="slide6.xml"/><Relationship Id="rId5" Type="http://schemas.openxmlformats.org/officeDocument/2006/relationships/image" Target="../media/image53.png"/><Relationship Id="rId4" Type="http://schemas.openxmlformats.org/officeDocument/2006/relationships/image" Target="../media/image1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D09C7AF-88A5-4EC1-A113-F71EA4B4ED35}"/>
              </a:ext>
            </a:extLst>
          </p:cNvPr>
          <p:cNvSpPr/>
          <p:nvPr/>
        </p:nvSpPr>
        <p:spPr>
          <a:xfrm>
            <a:off x="-125261" y="8452940"/>
            <a:ext cx="7127309" cy="1465586"/>
          </a:xfrm>
          <a:custGeom>
            <a:avLst/>
            <a:gdLst>
              <a:gd name="connsiteX0" fmla="*/ 0 w 9144000"/>
              <a:gd name="connsiteY0" fmla="*/ 0 h 2808514"/>
              <a:gd name="connsiteX1" fmla="*/ 9144000 w 9144000"/>
              <a:gd name="connsiteY1" fmla="*/ 0 h 2808514"/>
              <a:gd name="connsiteX2" fmla="*/ 9144000 w 9144000"/>
              <a:gd name="connsiteY2" fmla="*/ 2808514 h 2808514"/>
              <a:gd name="connsiteX3" fmla="*/ 0 w 9144000"/>
              <a:gd name="connsiteY3" fmla="*/ 2808514 h 2808514"/>
              <a:gd name="connsiteX4" fmla="*/ 0 w 9144000"/>
              <a:gd name="connsiteY4" fmla="*/ 0 h 2808514"/>
              <a:gd name="connsiteX0" fmla="*/ 0 w 9144000"/>
              <a:gd name="connsiteY0" fmla="*/ 793102 h 2808514"/>
              <a:gd name="connsiteX1" fmla="*/ 9144000 w 9144000"/>
              <a:gd name="connsiteY1" fmla="*/ 0 h 2808514"/>
              <a:gd name="connsiteX2" fmla="*/ 9144000 w 9144000"/>
              <a:gd name="connsiteY2" fmla="*/ 2808514 h 2808514"/>
              <a:gd name="connsiteX3" fmla="*/ 0 w 9144000"/>
              <a:gd name="connsiteY3" fmla="*/ 2808514 h 2808514"/>
              <a:gd name="connsiteX4" fmla="*/ 0 w 9144000"/>
              <a:gd name="connsiteY4" fmla="*/ 793102 h 2808514"/>
              <a:gd name="connsiteX0" fmla="*/ 0 w 9162661"/>
              <a:gd name="connsiteY0" fmla="*/ 1110343 h 2808514"/>
              <a:gd name="connsiteX1" fmla="*/ 9162661 w 9162661"/>
              <a:gd name="connsiteY1" fmla="*/ 0 h 2808514"/>
              <a:gd name="connsiteX2" fmla="*/ 9162661 w 9162661"/>
              <a:gd name="connsiteY2" fmla="*/ 2808514 h 2808514"/>
              <a:gd name="connsiteX3" fmla="*/ 18661 w 9162661"/>
              <a:gd name="connsiteY3" fmla="*/ 2808514 h 2808514"/>
              <a:gd name="connsiteX4" fmla="*/ 0 w 9162661"/>
              <a:gd name="connsiteY4" fmla="*/ 1110343 h 2808514"/>
              <a:gd name="connsiteX0" fmla="*/ 18661 w 9144000"/>
              <a:gd name="connsiteY0" fmla="*/ 923731 h 2808514"/>
              <a:gd name="connsiteX1" fmla="*/ 9144000 w 9144000"/>
              <a:gd name="connsiteY1" fmla="*/ 0 h 2808514"/>
              <a:gd name="connsiteX2" fmla="*/ 9144000 w 9144000"/>
              <a:gd name="connsiteY2" fmla="*/ 2808514 h 2808514"/>
              <a:gd name="connsiteX3" fmla="*/ 0 w 9144000"/>
              <a:gd name="connsiteY3" fmla="*/ 2808514 h 2808514"/>
              <a:gd name="connsiteX4" fmla="*/ 18661 w 9144000"/>
              <a:gd name="connsiteY4" fmla="*/ 923731 h 2808514"/>
              <a:gd name="connsiteX0" fmla="*/ 9330 w 9144000"/>
              <a:gd name="connsiteY0" fmla="*/ 933062 h 2808514"/>
              <a:gd name="connsiteX1" fmla="*/ 9144000 w 9144000"/>
              <a:gd name="connsiteY1" fmla="*/ 0 h 2808514"/>
              <a:gd name="connsiteX2" fmla="*/ 9144000 w 9144000"/>
              <a:gd name="connsiteY2" fmla="*/ 2808514 h 2808514"/>
              <a:gd name="connsiteX3" fmla="*/ 0 w 9144000"/>
              <a:gd name="connsiteY3" fmla="*/ 2808514 h 2808514"/>
              <a:gd name="connsiteX4" fmla="*/ 9330 w 9144000"/>
              <a:gd name="connsiteY4" fmla="*/ 933062 h 2808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2808514">
                <a:moveTo>
                  <a:pt x="9330" y="933062"/>
                </a:moveTo>
                <a:lnTo>
                  <a:pt x="9144000" y="0"/>
                </a:lnTo>
                <a:lnTo>
                  <a:pt x="9144000" y="2808514"/>
                </a:lnTo>
                <a:lnTo>
                  <a:pt x="0" y="2808514"/>
                </a:lnTo>
                <a:lnTo>
                  <a:pt x="9330" y="933062"/>
                </a:lnTo>
                <a:close/>
              </a:path>
            </a:pathLst>
          </a:custGeom>
          <a:solidFill>
            <a:srgbClr val="026D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dirty="0"/>
          </a:p>
        </p:txBody>
      </p:sp>
      <p:sp>
        <p:nvSpPr>
          <p:cNvPr id="15" name="Rectangle 10">
            <a:extLst>
              <a:ext uri="{FF2B5EF4-FFF2-40B4-BE49-F238E27FC236}">
                <a16:creationId xmlns:a16="http://schemas.microsoft.com/office/drawing/2014/main" id="{3053FC11-53B1-46BE-B90D-A02DE7357771}"/>
              </a:ext>
            </a:extLst>
          </p:cNvPr>
          <p:cNvSpPr/>
          <p:nvPr/>
        </p:nvSpPr>
        <p:spPr>
          <a:xfrm>
            <a:off x="1512535" y="8568123"/>
            <a:ext cx="4280180" cy="1350403"/>
          </a:xfrm>
          <a:custGeom>
            <a:avLst/>
            <a:gdLst>
              <a:gd name="connsiteX0" fmla="*/ 0 w 9144000"/>
              <a:gd name="connsiteY0" fmla="*/ 0 h 2808514"/>
              <a:gd name="connsiteX1" fmla="*/ 9144000 w 9144000"/>
              <a:gd name="connsiteY1" fmla="*/ 0 h 2808514"/>
              <a:gd name="connsiteX2" fmla="*/ 9144000 w 9144000"/>
              <a:gd name="connsiteY2" fmla="*/ 2808514 h 2808514"/>
              <a:gd name="connsiteX3" fmla="*/ 0 w 9144000"/>
              <a:gd name="connsiteY3" fmla="*/ 2808514 h 2808514"/>
              <a:gd name="connsiteX4" fmla="*/ 0 w 9144000"/>
              <a:gd name="connsiteY4" fmla="*/ 0 h 2808514"/>
              <a:gd name="connsiteX0" fmla="*/ 0 w 9144000"/>
              <a:gd name="connsiteY0" fmla="*/ 793102 h 2808514"/>
              <a:gd name="connsiteX1" fmla="*/ 9144000 w 9144000"/>
              <a:gd name="connsiteY1" fmla="*/ 0 h 2808514"/>
              <a:gd name="connsiteX2" fmla="*/ 9144000 w 9144000"/>
              <a:gd name="connsiteY2" fmla="*/ 2808514 h 2808514"/>
              <a:gd name="connsiteX3" fmla="*/ 0 w 9144000"/>
              <a:gd name="connsiteY3" fmla="*/ 2808514 h 2808514"/>
              <a:gd name="connsiteX4" fmla="*/ 0 w 9144000"/>
              <a:gd name="connsiteY4" fmla="*/ 793102 h 2808514"/>
              <a:gd name="connsiteX0" fmla="*/ 0 w 9162661"/>
              <a:gd name="connsiteY0" fmla="*/ 1110343 h 2808514"/>
              <a:gd name="connsiteX1" fmla="*/ 9162661 w 9162661"/>
              <a:gd name="connsiteY1" fmla="*/ 0 h 2808514"/>
              <a:gd name="connsiteX2" fmla="*/ 9162661 w 9162661"/>
              <a:gd name="connsiteY2" fmla="*/ 2808514 h 2808514"/>
              <a:gd name="connsiteX3" fmla="*/ 18661 w 9162661"/>
              <a:gd name="connsiteY3" fmla="*/ 2808514 h 2808514"/>
              <a:gd name="connsiteX4" fmla="*/ 0 w 9162661"/>
              <a:gd name="connsiteY4" fmla="*/ 1110343 h 2808514"/>
              <a:gd name="connsiteX0" fmla="*/ 18661 w 9144000"/>
              <a:gd name="connsiteY0" fmla="*/ 923731 h 2808514"/>
              <a:gd name="connsiteX1" fmla="*/ 9144000 w 9144000"/>
              <a:gd name="connsiteY1" fmla="*/ 0 h 2808514"/>
              <a:gd name="connsiteX2" fmla="*/ 9144000 w 9144000"/>
              <a:gd name="connsiteY2" fmla="*/ 2808514 h 2808514"/>
              <a:gd name="connsiteX3" fmla="*/ 0 w 9144000"/>
              <a:gd name="connsiteY3" fmla="*/ 2808514 h 2808514"/>
              <a:gd name="connsiteX4" fmla="*/ 18661 w 9144000"/>
              <a:gd name="connsiteY4" fmla="*/ 923731 h 2808514"/>
              <a:gd name="connsiteX0" fmla="*/ 9330 w 9144000"/>
              <a:gd name="connsiteY0" fmla="*/ 933062 h 2808514"/>
              <a:gd name="connsiteX1" fmla="*/ 9144000 w 9144000"/>
              <a:gd name="connsiteY1" fmla="*/ 0 h 2808514"/>
              <a:gd name="connsiteX2" fmla="*/ 9144000 w 9144000"/>
              <a:gd name="connsiteY2" fmla="*/ 2808514 h 2808514"/>
              <a:gd name="connsiteX3" fmla="*/ 0 w 9144000"/>
              <a:gd name="connsiteY3" fmla="*/ 2808514 h 2808514"/>
              <a:gd name="connsiteX4" fmla="*/ 9330 w 9144000"/>
              <a:gd name="connsiteY4" fmla="*/ 933062 h 2808514"/>
              <a:gd name="connsiteX0" fmla="*/ 9330 w 9144000"/>
              <a:gd name="connsiteY0" fmla="*/ 894962 h 2770414"/>
              <a:gd name="connsiteX1" fmla="*/ 8533509 w 9144000"/>
              <a:gd name="connsiteY1" fmla="*/ 0 h 2770414"/>
              <a:gd name="connsiteX2" fmla="*/ 9144000 w 9144000"/>
              <a:gd name="connsiteY2" fmla="*/ 2770414 h 2770414"/>
              <a:gd name="connsiteX3" fmla="*/ 0 w 9144000"/>
              <a:gd name="connsiteY3" fmla="*/ 2770414 h 2770414"/>
              <a:gd name="connsiteX4" fmla="*/ 9330 w 9144000"/>
              <a:gd name="connsiteY4" fmla="*/ 894962 h 2770414"/>
              <a:gd name="connsiteX0" fmla="*/ 0 w 9134670"/>
              <a:gd name="connsiteY0" fmla="*/ 894962 h 2770414"/>
              <a:gd name="connsiteX1" fmla="*/ 8524179 w 9134670"/>
              <a:gd name="connsiteY1" fmla="*/ 0 h 2770414"/>
              <a:gd name="connsiteX2" fmla="*/ 9134670 w 9134670"/>
              <a:gd name="connsiteY2" fmla="*/ 2770414 h 2770414"/>
              <a:gd name="connsiteX3" fmla="*/ 413318 w 9134670"/>
              <a:gd name="connsiteY3" fmla="*/ 2770414 h 2770414"/>
              <a:gd name="connsiteX4" fmla="*/ 0 w 9134670"/>
              <a:gd name="connsiteY4" fmla="*/ 894962 h 2770414"/>
              <a:gd name="connsiteX0" fmla="*/ 0 w 9385128"/>
              <a:gd name="connsiteY0" fmla="*/ 904487 h 2770414"/>
              <a:gd name="connsiteX1" fmla="*/ 8774637 w 9385128"/>
              <a:gd name="connsiteY1" fmla="*/ 0 h 2770414"/>
              <a:gd name="connsiteX2" fmla="*/ 9385128 w 9385128"/>
              <a:gd name="connsiteY2" fmla="*/ 2770414 h 2770414"/>
              <a:gd name="connsiteX3" fmla="*/ 663776 w 9385128"/>
              <a:gd name="connsiteY3" fmla="*/ 2770414 h 2770414"/>
              <a:gd name="connsiteX4" fmla="*/ 0 w 9385128"/>
              <a:gd name="connsiteY4" fmla="*/ 904487 h 2770414"/>
              <a:gd name="connsiteX0" fmla="*/ 0 w 9385128"/>
              <a:gd name="connsiteY0" fmla="*/ 904487 h 2770414"/>
              <a:gd name="connsiteX1" fmla="*/ 8774637 w 9385128"/>
              <a:gd name="connsiteY1" fmla="*/ 0 h 2770414"/>
              <a:gd name="connsiteX2" fmla="*/ 9385128 w 9385128"/>
              <a:gd name="connsiteY2" fmla="*/ 2770414 h 2770414"/>
              <a:gd name="connsiteX3" fmla="*/ 382011 w 9385128"/>
              <a:gd name="connsiteY3" fmla="*/ 2770414 h 2770414"/>
              <a:gd name="connsiteX4" fmla="*/ 0 w 9385128"/>
              <a:gd name="connsiteY4" fmla="*/ 904487 h 2770414"/>
              <a:gd name="connsiteX0" fmla="*/ 0 w 9385128"/>
              <a:gd name="connsiteY0" fmla="*/ 488942 h 2354869"/>
              <a:gd name="connsiteX1" fmla="*/ 8899866 w 9385128"/>
              <a:gd name="connsiteY1" fmla="*/ 0 h 2354869"/>
              <a:gd name="connsiteX2" fmla="*/ 9385128 w 9385128"/>
              <a:gd name="connsiteY2" fmla="*/ 2354869 h 2354869"/>
              <a:gd name="connsiteX3" fmla="*/ 382011 w 9385128"/>
              <a:gd name="connsiteY3" fmla="*/ 2354869 h 2354869"/>
              <a:gd name="connsiteX4" fmla="*/ 0 w 9385128"/>
              <a:gd name="connsiteY4" fmla="*/ 488942 h 2354869"/>
              <a:gd name="connsiteX0" fmla="*/ 0 w 9385128"/>
              <a:gd name="connsiteY0" fmla="*/ 466276 h 2332203"/>
              <a:gd name="connsiteX1" fmla="*/ 8912389 w 9385128"/>
              <a:gd name="connsiteY1" fmla="*/ 0 h 2332203"/>
              <a:gd name="connsiteX2" fmla="*/ 9385128 w 9385128"/>
              <a:gd name="connsiteY2" fmla="*/ 2332203 h 2332203"/>
              <a:gd name="connsiteX3" fmla="*/ 382011 w 9385128"/>
              <a:gd name="connsiteY3" fmla="*/ 2332203 h 2332203"/>
              <a:gd name="connsiteX4" fmla="*/ 0 w 9385128"/>
              <a:gd name="connsiteY4" fmla="*/ 466276 h 2332203"/>
              <a:gd name="connsiteX0" fmla="*/ 0 w 9378867"/>
              <a:gd name="connsiteY0" fmla="*/ 488942 h 2332203"/>
              <a:gd name="connsiteX1" fmla="*/ 8906128 w 9378867"/>
              <a:gd name="connsiteY1" fmla="*/ 0 h 2332203"/>
              <a:gd name="connsiteX2" fmla="*/ 9378867 w 9378867"/>
              <a:gd name="connsiteY2" fmla="*/ 2332203 h 2332203"/>
              <a:gd name="connsiteX3" fmla="*/ 375750 w 9378867"/>
              <a:gd name="connsiteY3" fmla="*/ 2332203 h 2332203"/>
              <a:gd name="connsiteX4" fmla="*/ 0 w 9378867"/>
              <a:gd name="connsiteY4" fmla="*/ 488942 h 2332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8867" h="2332203">
                <a:moveTo>
                  <a:pt x="0" y="488942"/>
                </a:moveTo>
                <a:lnTo>
                  <a:pt x="8906128" y="0"/>
                </a:lnTo>
                <a:lnTo>
                  <a:pt x="9378867" y="2332203"/>
                </a:lnTo>
                <a:lnTo>
                  <a:pt x="375750" y="2332203"/>
                </a:lnTo>
                <a:lnTo>
                  <a:pt x="0" y="488942"/>
                </a:lnTo>
                <a:close/>
              </a:path>
            </a:pathLst>
          </a:custGeom>
          <a:solidFill>
            <a:srgbClr val="0A59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350" dirty="0"/>
          </a:p>
        </p:txBody>
      </p:sp>
      <p:sp>
        <p:nvSpPr>
          <p:cNvPr id="9" name="TextBox 8"/>
          <p:cNvSpPr txBox="1"/>
          <p:nvPr/>
        </p:nvSpPr>
        <p:spPr>
          <a:xfrm>
            <a:off x="1829841" y="9043269"/>
            <a:ext cx="3645568" cy="400110"/>
          </a:xfrm>
          <a:prstGeom prst="rect">
            <a:avLst/>
          </a:prstGeom>
          <a:noFill/>
        </p:spPr>
        <p:txBody>
          <a:bodyPr wrap="square" rtlCol="0">
            <a:spAutoFit/>
          </a:bodyPr>
          <a:lstStyle/>
          <a:p>
            <a:pPr algn="ctr"/>
            <a:r>
              <a:rPr lang="en-IE" sz="2000" b="1" dirty="0">
                <a:solidFill>
                  <a:schemeClr val="bg1"/>
                </a:solidFill>
                <a:latin typeface="AvenirNext LT Pro Bold"/>
              </a:rPr>
              <a:t>Solution Overview</a:t>
            </a:r>
            <a:endParaRPr lang="en-IE" b="1" dirty="0">
              <a:solidFill>
                <a:schemeClr val="bg1"/>
              </a:solidFill>
              <a:latin typeface="AvenirNext LT Pro Bold"/>
            </a:endParaRPr>
          </a:p>
        </p:txBody>
      </p:sp>
      <p:sp>
        <p:nvSpPr>
          <p:cNvPr id="7" name="TextBox 6">
            <a:extLst>
              <a:ext uri="{FF2B5EF4-FFF2-40B4-BE49-F238E27FC236}">
                <a16:creationId xmlns:a16="http://schemas.microsoft.com/office/drawing/2014/main" id="{EAD7991B-5708-4900-A260-2EADCE051E2C}"/>
              </a:ext>
            </a:extLst>
          </p:cNvPr>
          <p:cNvSpPr txBox="1"/>
          <p:nvPr/>
        </p:nvSpPr>
        <p:spPr>
          <a:xfrm>
            <a:off x="777922" y="1280666"/>
            <a:ext cx="5451438" cy="400110"/>
          </a:xfrm>
          <a:prstGeom prst="rect">
            <a:avLst/>
          </a:prstGeom>
          <a:noFill/>
        </p:spPr>
        <p:txBody>
          <a:bodyPr wrap="square">
            <a:spAutoFit/>
          </a:bodyPr>
          <a:lstStyle/>
          <a:p>
            <a:pPr algn="ctr"/>
            <a:r>
              <a:rPr lang="en-IE" sz="2000" b="1" cap="all" dirty="0">
                <a:solidFill>
                  <a:srgbClr val="0D496B"/>
                </a:solidFill>
                <a:latin typeface="AvenirNext LT Pro Bold"/>
              </a:rPr>
              <a:t>IIOT Hardware FOR Data acquisition</a:t>
            </a:r>
            <a:endParaRPr lang="en-GB" dirty="0"/>
          </a:p>
        </p:txBody>
      </p:sp>
      <p:pic>
        <p:nvPicPr>
          <p:cNvPr id="3" name="Picture 2" descr="A screenshot of a computer&#10;&#10;Description automatically generated">
            <a:extLst>
              <a:ext uri="{FF2B5EF4-FFF2-40B4-BE49-F238E27FC236}">
                <a16:creationId xmlns:a16="http://schemas.microsoft.com/office/drawing/2014/main" id="{EB3DE7D8-35A1-5738-5548-709B745C96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4676" y="2155922"/>
            <a:ext cx="5168648" cy="5384080"/>
          </a:xfrm>
          <a:prstGeom prst="rect">
            <a:avLst/>
          </a:prstGeom>
        </p:spPr>
      </p:pic>
    </p:spTree>
    <p:extLst>
      <p:ext uri="{BB962C8B-B14F-4D97-AF65-F5344CB8AC3E}">
        <p14:creationId xmlns:p14="http://schemas.microsoft.com/office/powerpoint/2010/main" val="3895569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BD51E-65EA-D3F2-D23E-05C5A4F91E8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C9BECB9-CDA1-4538-EDCC-836A96274BDF}"/>
              </a:ext>
            </a:extLst>
          </p:cNvPr>
          <p:cNvSpPr txBox="1"/>
          <p:nvPr/>
        </p:nvSpPr>
        <p:spPr>
          <a:xfrm>
            <a:off x="589840" y="606579"/>
            <a:ext cx="5902460" cy="1043812"/>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SmartFactory IIoT Connectivity Solutions</a:t>
            </a:r>
          </a:p>
          <a:p>
            <a:pPr>
              <a:lnSpc>
                <a:spcPct val="107000"/>
              </a:lnSpc>
              <a:spcAft>
                <a:spcPts val="300"/>
              </a:spcAft>
            </a:pPr>
            <a:r>
              <a:rPr lang="en-IE" sz="1400" dirty="0">
                <a:solidFill>
                  <a:srgbClr val="0A597A"/>
                </a:solidFill>
                <a:latin typeface="AvenirNext LT Pro Bold" panose="020B0804020202020204"/>
                <a:ea typeface="+mj-ea"/>
                <a:cs typeface="+mj-cs"/>
              </a:rPr>
              <a:t>Making Real-Time Data Acquisition Smart, Fast, Ultra-Reliable and Affordable</a:t>
            </a:r>
          </a:p>
          <a:p>
            <a:pPr>
              <a:lnSpc>
                <a:spcPct val="107000"/>
              </a:lnSpc>
              <a:spcAft>
                <a:spcPts val="300"/>
              </a:spcAft>
            </a:pPr>
            <a:endParaRPr lang="en-IE" sz="2000" b="1" dirty="0">
              <a:solidFill>
                <a:srgbClr val="0A597A"/>
              </a:solidFill>
              <a:latin typeface="AvenirNext LT Pro Bold" panose="020B0804020202020204"/>
              <a:ea typeface="+mj-ea"/>
              <a:cs typeface="+mj-cs"/>
            </a:endParaRPr>
          </a:p>
        </p:txBody>
      </p:sp>
      <p:sp>
        <p:nvSpPr>
          <p:cNvPr id="2" name="TextBox 1">
            <a:extLst>
              <a:ext uri="{FF2B5EF4-FFF2-40B4-BE49-F238E27FC236}">
                <a16:creationId xmlns:a16="http://schemas.microsoft.com/office/drawing/2014/main" id="{A99E61DF-6E1B-F4BF-66AE-7893D963ABB8}"/>
              </a:ext>
            </a:extLst>
          </p:cNvPr>
          <p:cNvSpPr txBox="1"/>
          <p:nvPr/>
        </p:nvSpPr>
        <p:spPr>
          <a:xfrm>
            <a:off x="589840" y="1353242"/>
            <a:ext cx="5921790" cy="1600438"/>
          </a:xfrm>
          <a:prstGeom prst="rect">
            <a:avLst/>
          </a:prstGeom>
          <a:noFill/>
        </p:spPr>
        <p:txBody>
          <a:bodyPr wrap="square">
            <a:spAutoFit/>
          </a:bodyPr>
          <a:lstStyle/>
          <a:p>
            <a:r>
              <a:rPr lang="en-IE" sz="1400" dirty="0">
                <a:solidFill>
                  <a:srgbClr val="0A597A"/>
                </a:solidFill>
                <a:latin typeface="AvenirNext LT Pro Bold" panose="020B0804020202020204"/>
                <a:ea typeface="+mj-ea"/>
                <a:cs typeface="+mj-cs"/>
              </a:rPr>
              <a:t>SmartFactory’s IIoT solutions have been designed to tackle one of the biggest challenges in manufacturing: collection of process, equipment, and environmental data from manual processes or legacy equipment. Our standard connectivity solutions integrate rugged industrial hardware, from the leaders in industrial automation.</a:t>
            </a:r>
          </a:p>
          <a:p>
            <a:endParaRPr lang="en-IE" sz="1400" b="1" dirty="0">
              <a:solidFill>
                <a:srgbClr val="0A597A"/>
              </a:solidFill>
              <a:latin typeface="AvenirNext LT Pro Bold" panose="020B0804020202020204"/>
              <a:ea typeface="+mj-ea"/>
              <a:cs typeface="+mj-cs"/>
            </a:endParaRPr>
          </a:p>
          <a:p>
            <a:endParaRPr lang="en-GB" sz="1400" b="1" dirty="0">
              <a:solidFill>
                <a:srgbClr val="0A597A"/>
              </a:solidFill>
              <a:latin typeface="AvenirNext LT Pro Bold" panose="020B0804020202020204"/>
              <a:ea typeface="+mj-ea"/>
              <a:cs typeface="+mj-cs"/>
            </a:endParaRPr>
          </a:p>
        </p:txBody>
      </p:sp>
      <p:sp>
        <p:nvSpPr>
          <p:cNvPr id="11" name="Action Button: Go Home 10">
            <a:hlinkClick r:id="rId2" action="ppaction://hlinksldjump" highlightClick="1"/>
            <a:hlinkHover r:id="" action="ppaction://hlinkshowjump?jump=firstslide"/>
            <a:extLst>
              <a:ext uri="{FF2B5EF4-FFF2-40B4-BE49-F238E27FC236}">
                <a16:creationId xmlns:a16="http://schemas.microsoft.com/office/drawing/2014/main" id="{D3B2A9D8-2BF9-4835-54B6-7777E4060CEB}"/>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Box 3">
            <a:extLst>
              <a:ext uri="{FF2B5EF4-FFF2-40B4-BE49-F238E27FC236}">
                <a16:creationId xmlns:a16="http://schemas.microsoft.com/office/drawing/2014/main" id="{4D12D987-9BEA-2504-20F0-D90C234DEBA7}"/>
              </a:ext>
            </a:extLst>
          </p:cNvPr>
          <p:cNvSpPr txBox="1"/>
          <p:nvPr/>
        </p:nvSpPr>
        <p:spPr>
          <a:xfrm>
            <a:off x="570510" y="6027227"/>
            <a:ext cx="5921790" cy="3524042"/>
          </a:xfrm>
          <a:prstGeom prst="rect">
            <a:avLst/>
          </a:prstGeom>
          <a:noFill/>
        </p:spPr>
        <p:txBody>
          <a:bodyPr wrap="square">
            <a:spAutoFit/>
          </a:bodyPr>
          <a:lstStyle/>
          <a:p>
            <a:r>
              <a:rPr lang="en-IE" sz="1400" b="1" dirty="0">
                <a:solidFill>
                  <a:srgbClr val="0A597A"/>
                </a:solidFill>
                <a:latin typeface="AvenirNext LT Pro Bold" panose="020B0804020202020204"/>
                <a:ea typeface="+mj-ea"/>
                <a:cs typeface="+mj-cs"/>
              </a:rPr>
              <a:t>Performance and Condition Monitoring</a:t>
            </a:r>
          </a:p>
          <a:p>
            <a:r>
              <a:rPr lang="en-IE" sz="1400" dirty="0">
                <a:solidFill>
                  <a:srgbClr val="0A597A"/>
                </a:solidFill>
                <a:latin typeface="AvenirNext LT Pro Bold" panose="020B0804020202020204"/>
                <a:ea typeface="+mj-ea"/>
                <a:cs typeface="+mj-cs"/>
              </a:rPr>
              <a:t>Wireless data capture for Downtime, Scrap, Rework, Vibration, Temperature, and Current, etc.</a:t>
            </a:r>
          </a:p>
          <a:p>
            <a:pPr>
              <a:spcBef>
                <a:spcPts val="600"/>
              </a:spcBef>
            </a:pPr>
            <a:r>
              <a:rPr lang="en-IE" sz="1400" b="1" dirty="0">
                <a:solidFill>
                  <a:srgbClr val="0A597A"/>
                </a:solidFill>
                <a:latin typeface="AvenirNext LT Pro Bold" panose="020B0804020202020204"/>
                <a:ea typeface="+mj-ea"/>
                <a:cs typeface="+mj-cs"/>
              </a:rPr>
              <a:t>Sustainability and SEU Monitoring</a:t>
            </a:r>
          </a:p>
          <a:p>
            <a:r>
              <a:rPr lang="en-IE" sz="1400" dirty="0">
                <a:solidFill>
                  <a:srgbClr val="0A597A"/>
                </a:solidFill>
                <a:latin typeface="AvenirNext LT Pro Bold" panose="020B0804020202020204"/>
                <a:ea typeface="+mj-ea"/>
                <a:cs typeface="+mj-cs"/>
              </a:rPr>
              <a:t>Wired and Wireless data Capture for Energy and Utilities usage (Electricity, Gas, Water, Compressed Air, etc.).</a:t>
            </a:r>
          </a:p>
          <a:p>
            <a:pPr>
              <a:spcBef>
                <a:spcPts val="600"/>
              </a:spcBef>
            </a:pPr>
            <a:r>
              <a:rPr lang="en-IE" sz="1400" b="1" dirty="0">
                <a:solidFill>
                  <a:srgbClr val="0A597A"/>
                </a:solidFill>
                <a:latin typeface="AvenirNext LT Pro Bold" panose="020B0804020202020204"/>
                <a:ea typeface="+mj-ea"/>
                <a:cs typeface="+mj-cs"/>
              </a:rPr>
              <a:t>Identification &amp; Locating Solutions</a:t>
            </a:r>
          </a:p>
          <a:p>
            <a:r>
              <a:rPr lang="en-IE" sz="1400" dirty="0">
                <a:solidFill>
                  <a:srgbClr val="0A597A"/>
                </a:solidFill>
                <a:latin typeface="AvenirNext LT Pro Bold" panose="020B0804020202020204"/>
                <a:ea typeface="+mj-ea"/>
                <a:cs typeface="+mj-cs"/>
              </a:rPr>
              <a:t>Including </a:t>
            </a:r>
            <a:r>
              <a:rPr lang="en-IE" sz="1400">
                <a:solidFill>
                  <a:srgbClr val="0A597A"/>
                </a:solidFill>
                <a:latin typeface="AvenirNext LT Pro Bold" panose="020B0804020202020204"/>
                <a:ea typeface="+mj-ea"/>
                <a:cs typeface="+mj-cs"/>
              </a:rPr>
              <a:t>Vision systems, </a:t>
            </a:r>
            <a:r>
              <a:rPr lang="en-IE" sz="1400" dirty="0">
                <a:solidFill>
                  <a:srgbClr val="0A597A"/>
                </a:solidFill>
                <a:latin typeface="AvenirNext LT Pro Bold" panose="020B0804020202020204"/>
                <a:ea typeface="+mj-ea"/>
                <a:cs typeface="+mj-cs"/>
              </a:rPr>
              <a:t>barcode readers, RFID, and Real Time Locating Systems (RTLS).</a:t>
            </a:r>
          </a:p>
          <a:p>
            <a:pPr>
              <a:spcBef>
                <a:spcPts val="600"/>
              </a:spcBef>
            </a:pPr>
            <a:r>
              <a:rPr lang="en-IE" sz="1400" b="1" dirty="0">
                <a:solidFill>
                  <a:srgbClr val="0A597A"/>
                </a:solidFill>
                <a:latin typeface="AvenirNext LT Pro Bold" panose="020B0804020202020204"/>
                <a:ea typeface="+mj-ea"/>
                <a:cs typeface="+mj-cs"/>
              </a:rPr>
              <a:t>Smart Connectivity Solutions</a:t>
            </a:r>
          </a:p>
          <a:p>
            <a:r>
              <a:rPr lang="en-IE" sz="1400" dirty="0">
                <a:solidFill>
                  <a:srgbClr val="0A597A"/>
                </a:solidFill>
                <a:latin typeface="AvenirNext LT Pro Bold" panose="020B0804020202020204"/>
                <a:ea typeface="+mj-ea"/>
                <a:cs typeface="+mj-cs"/>
              </a:rPr>
              <a:t>Industrial-grade cybersecurity and network infrastructure, plug and play integrations.</a:t>
            </a:r>
          </a:p>
          <a:p>
            <a:pPr>
              <a:spcBef>
                <a:spcPts val="600"/>
              </a:spcBef>
            </a:pPr>
            <a:r>
              <a:rPr lang="en-IE" sz="1400" b="1" dirty="0">
                <a:solidFill>
                  <a:srgbClr val="0A597A"/>
                </a:solidFill>
                <a:latin typeface="AvenirNext LT Pro Bold" panose="020B0804020202020204"/>
                <a:ea typeface="+mj-ea"/>
                <a:cs typeface="+mj-cs"/>
              </a:rPr>
              <a:t>Workflows &amp; Process Automation</a:t>
            </a:r>
          </a:p>
          <a:p>
            <a:r>
              <a:rPr lang="en-IE" sz="1400" dirty="0">
                <a:solidFill>
                  <a:srgbClr val="0A597A"/>
                </a:solidFill>
                <a:latin typeface="AvenirNext LT Pro Bold" panose="020B0804020202020204"/>
                <a:ea typeface="+mj-ea"/>
                <a:cs typeface="+mj-cs"/>
              </a:rPr>
              <a:t>Pick-to-Light, Call-for-Parts and </a:t>
            </a:r>
            <a:r>
              <a:rPr lang="en-IE" sz="1400" i="1" dirty="0">
                <a:solidFill>
                  <a:srgbClr val="0A597A"/>
                </a:solidFill>
                <a:latin typeface="AvenirNext LT Pro Bold" panose="020B0804020202020204"/>
                <a:ea typeface="+mj-ea"/>
                <a:cs typeface="+mj-cs"/>
              </a:rPr>
              <a:t>Call-for-Help</a:t>
            </a:r>
            <a:r>
              <a:rPr lang="en-IE" sz="1400" dirty="0">
                <a:solidFill>
                  <a:srgbClr val="0A597A"/>
                </a:solidFill>
                <a:latin typeface="AvenirNext LT Pro Bold" panose="020B0804020202020204"/>
                <a:ea typeface="+mj-ea"/>
                <a:cs typeface="+mj-cs"/>
              </a:rPr>
              <a:t>.</a:t>
            </a:r>
          </a:p>
        </p:txBody>
      </p:sp>
      <p:pic>
        <p:nvPicPr>
          <p:cNvPr id="3" name="Picture 2">
            <a:extLst>
              <a:ext uri="{FF2B5EF4-FFF2-40B4-BE49-F238E27FC236}">
                <a16:creationId xmlns:a16="http://schemas.microsoft.com/office/drawing/2014/main" id="{282C89AA-3865-A2BB-8F0E-38A2FDB48CDD}"/>
              </a:ext>
            </a:extLst>
          </p:cNvPr>
          <p:cNvPicPr>
            <a:picLocks noChangeAspect="1"/>
          </p:cNvPicPr>
          <p:nvPr/>
        </p:nvPicPr>
        <p:blipFill>
          <a:blip r:embed="rId3"/>
          <a:stretch>
            <a:fillRect/>
          </a:stretch>
        </p:blipFill>
        <p:spPr>
          <a:xfrm>
            <a:off x="1629525" y="2495359"/>
            <a:ext cx="3609857" cy="3472076"/>
          </a:xfrm>
          <a:prstGeom prst="rect">
            <a:avLst/>
          </a:prstGeom>
        </p:spPr>
      </p:pic>
    </p:spTree>
    <p:extLst>
      <p:ext uri="{BB962C8B-B14F-4D97-AF65-F5344CB8AC3E}">
        <p14:creationId xmlns:p14="http://schemas.microsoft.com/office/powerpoint/2010/main" val="1886251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F2FBAC1-F109-47D9-BB40-C89515C4310A}"/>
              </a:ext>
            </a:extLst>
          </p:cNvPr>
          <p:cNvSpPr txBox="1"/>
          <p:nvPr/>
        </p:nvSpPr>
        <p:spPr>
          <a:xfrm>
            <a:off x="577864" y="606579"/>
            <a:ext cx="4218218" cy="774827"/>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Performance Monitoring Solutions</a:t>
            </a:r>
          </a:p>
          <a:p>
            <a:pPr>
              <a:lnSpc>
                <a:spcPct val="107000"/>
              </a:lnSpc>
              <a:spcAft>
                <a:spcPts val="300"/>
              </a:spcAft>
            </a:pPr>
            <a:r>
              <a:rPr lang="en-GB" sz="2000" b="1" dirty="0">
                <a:solidFill>
                  <a:srgbClr val="0A597A"/>
                </a:solidFill>
                <a:latin typeface="AvenirNext LT Pro Bold" panose="020B0804020202020204"/>
                <a:ea typeface="+mj-ea"/>
                <a:cs typeface="+mj-cs"/>
              </a:rPr>
              <a:t> </a:t>
            </a:r>
          </a:p>
        </p:txBody>
      </p:sp>
      <p:sp>
        <p:nvSpPr>
          <p:cNvPr id="2" name="TextBox 1">
            <a:extLst>
              <a:ext uri="{FF2B5EF4-FFF2-40B4-BE49-F238E27FC236}">
                <a16:creationId xmlns:a16="http://schemas.microsoft.com/office/drawing/2014/main" id="{BB274C17-6967-5421-0401-F66FD668C0BF}"/>
              </a:ext>
            </a:extLst>
          </p:cNvPr>
          <p:cNvSpPr txBox="1"/>
          <p:nvPr/>
        </p:nvSpPr>
        <p:spPr>
          <a:xfrm>
            <a:off x="577864" y="1180576"/>
            <a:ext cx="5921790" cy="7848302"/>
          </a:xfrm>
          <a:prstGeom prst="rect">
            <a:avLst/>
          </a:prstGeom>
          <a:noFill/>
        </p:spPr>
        <p:txBody>
          <a:bodyPr wrap="square">
            <a:spAutoFit/>
          </a:bodyPr>
          <a:lstStyle/>
          <a:p>
            <a:pPr>
              <a:buNone/>
            </a:pPr>
            <a:r>
              <a:rPr lang="en-IE" sz="1400" b="1" dirty="0">
                <a:solidFill>
                  <a:srgbClr val="0A597A"/>
                </a:solidFill>
                <a:latin typeface="AvenirNext LT Pro Bold" panose="020B0804020202020204"/>
                <a:ea typeface="+mj-ea"/>
                <a:cs typeface="+mj-cs"/>
              </a:rPr>
              <a:t>Track. Analyse. Improve.</a:t>
            </a:r>
          </a:p>
          <a:p>
            <a:pPr>
              <a:buNone/>
            </a:pPr>
            <a:r>
              <a:rPr lang="en-IE" sz="1400" dirty="0">
                <a:solidFill>
                  <a:srgbClr val="0A597A"/>
                </a:solidFill>
                <a:latin typeface="AvenirNext LT Pro Bold" panose="020B0804020202020204"/>
                <a:ea typeface="+mj-ea"/>
                <a:cs typeface="+mj-cs"/>
              </a:rPr>
              <a:t>SmartFactory’s Performance Monitoring solutions are designed to provide complete visibility into your production operations — manual or automated. Designed for fast deployment and long-term reliability, these solutions are trusted by global manufacturers to reduce downtime, optimise productivity, and support Continuous Improvement initiatives.</a:t>
            </a:r>
          </a:p>
          <a:p>
            <a:pPr>
              <a:buNone/>
            </a:pPr>
            <a:endParaRPr lang="en-IE" sz="1400" dirty="0">
              <a:solidFill>
                <a:srgbClr val="0A597A"/>
              </a:solidFill>
              <a:latin typeface="AvenirNext LT Pro Bold" panose="020B0804020202020204"/>
              <a:ea typeface="+mj-ea"/>
              <a:cs typeface="+mj-cs"/>
            </a:endParaRPr>
          </a:p>
          <a:p>
            <a:pPr>
              <a:buNone/>
            </a:pPr>
            <a:r>
              <a:rPr lang="en-IE" sz="1400" dirty="0">
                <a:solidFill>
                  <a:srgbClr val="0A597A"/>
                </a:solidFill>
                <a:latin typeface="AvenirNext LT Pro Bold" panose="020B0804020202020204"/>
                <a:ea typeface="+mj-ea"/>
                <a:cs typeface="+mj-cs"/>
              </a:rPr>
              <a:t>The standard solutions include:</a:t>
            </a:r>
          </a:p>
          <a:p>
            <a:r>
              <a:rPr lang="en-IE" sz="1400" b="1" dirty="0">
                <a:solidFill>
                  <a:srgbClr val="0A597A"/>
                </a:solidFill>
                <a:latin typeface="AvenirNext LT Pro Bold" panose="020B0804020202020204"/>
              </a:rPr>
              <a:t>IIoT Toolkit #1: Out-of-the-Box IIoT Platform</a:t>
            </a:r>
          </a:p>
          <a:p>
            <a:r>
              <a:rPr lang="en-IE" sz="1400" dirty="0">
                <a:solidFill>
                  <a:srgbClr val="0A597A"/>
                </a:solidFill>
                <a:latin typeface="AvenirNext LT Pro Bold" panose="020B0804020202020204"/>
              </a:rPr>
              <a:t>A turnkey data collection and visualisation platform, preloaded with Kepware, Historian, WAPS (real-time dashboards), SQL, Power BI Gateway and more.</a:t>
            </a:r>
          </a:p>
          <a:p>
            <a:endParaRPr lang="en-IE" sz="1400" dirty="0">
              <a:solidFill>
                <a:srgbClr val="0A597A"/>
              </a:solidFill>
              <a:latin typeface="AvenirNext LT Pro Bold" panose="020B0804020202020204"/>
            </a:endParaRPr>
          </a:p>
          <a:p>
            <a:r>
              <a:rPr lang="en-IE" sz="1400" b="1" dirty="0">
                <a:solidFill>
                  <a:srgbClr val="0A597A"/>
                </a:solidFill>
                <a:latin typeface="AvenirNext LT Pro Bold" panose="020B0804020202020204"/>
              </a:rPr>
              <a:t>IIoT Toolkit #2: Wired/Wireless Gateways and Cleanroom Expansion Kit</a:t>
            </a:r>
          </a:p>
          <a:p>
            <a:r>
              <a:rPr lang="en-IE" sz="1400" dirty="0">
                <a:solidFill>
                  <a:srgbClr val="0A597A"/>
                </a:solidFill>
                <a:latin typeface="AvenirNext LT Pro Bold" panose="020B0804020202020204"/>
              </a:rPr>
              <a:t>Extend sensor coverage wirelessly in cleanrooms and isolated production areas using these wired and wireless gateways.</a:t>
            </a:r>
          </a:p>
          <a:p>
            <a:endParaRPr lang="en-IE" sz="1400" b="1"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IIoT Toolkit #3: Flexible Wireless I/O Nodes</a:t>
            </a:r>
          </a:p>
          <a:p>
            <a:r>
              <a:rPr lang="en-IE" sz="1400" dirty="0">
                <a:solidFill>
                  <a:srgbClr val="0A597A"/>
                </a:solidFill>
                <a:latin typeface="AvenirNext LT Pro Bold" panose="020B0804020202020204"/>
                <a:ea typeface="+mj-ea"/>
                <a:cs typeface="+mj-cs"/>
              </a:rPr>
              <a:t>Highly adaptable wireless nodes with multiple I/O configurations — suitable for capturing signals from sensors, switches, counters, thermistors, and more.</a:t>
            </a:r>
          </a:p>
          <a:p>
            <a:endParaRPr lang="en-GB" sz="1400" b="1"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IIoT Toolkit #4: Wireless Condition Monitoring Node</a:t>
            </a:r>
          </a:p>
          <a:p>
            <a:r>
              <a:rPr lang="en-IE" sz="1400" dirty="0">
                <a:solidFill>
                  <a:srgbClr val="0A597A"/>
                </a:solidFill>
                <a:latin typeface="AvenirNext LT Pro Bold" panose="020B0804020202020204"/>
                <a:ea typeface="+mj-ea"/>
                <a:cs typeface="+mj-cs"/>
              </a:rPr>
              <a:t>Monitor machine health in real-time with vibration, temperature, and current sensors. Perfect for proactive maintenance.</a:t>
            </a:r>
          </a:p>
          <a:p>
            <a:endParaRPr lang="en-IE" sz="1400"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rPr>
              <a:t>IIoT Toolkit #5: Wireless Output &amp; State Monitoring</a:t>
            </a:r>
          </a:p>
          <a:p>
            <a:r>
              <a:rPr lang="en-IE" sz="1400" dirty="0">
                <a:solidFill>
                  <a:srgbClr val="0A597A"/>
                </a:solidFill>
                <a:latin typeface="AvenirNext LT Pro Bold" panose="020B0804020202020204"/>
              </a:rPr>
              <a:t>A complete, pre-configured solution to wirelessly collect real-time production output and workstation states. </a:t>
            </a:r>
            <a:r>
              <a:rPr lang="en-IE" sz="1400">
                <a:solidFill>
                  <a:srgbClr val="0A597A"/>
                </a:solidFill>
                <a:latin typeface="AvenirNext LT Pro Bold" panose="020B0804020202020204"/>
              </a:rPr>
              <a:t>Cost-effective and ideal </a:t>
            </a:r>
            <a:r>
              <a:rPr lang="en-IE" sz="1400" dirty="0">
                <a:solidFill>
                  <a:srgbClr val="0A597A"/>
                </a:solidFill>
                <a:latin typeface="AvenirNext LT Pro Bold" panose="020B0804020202020204"/>
              </a:rPr>
              <a:t>for any manual or semi-automated process.</a:t>
            </a:r>
          </a:p>
          <a:p>
            <a:endParaRPr lang="en-IE" sz="1400"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Sensor Solutions for Manual Assembly</a:t>
            </a:r>
          </a:p>
          <a:p>
            <a:r>
              <a:rPr lang="en-IE" sz="1400" dirty="0">
                <a:solidFill>
                  <a:srgbClr val="0A597A"/>
                </a:solidFill>
                <a:latin typeface="AvenirNext LT Pro Bold" panose="020B0804020202020204"/>
                <a:ea typeface="+mj-ea"/>
                <a:cs typeface="+mj-cs"/>
              </a:rPr>
              <a:t>Capture cycle time, part placement, or manual actions with smart wired sensors connected directly to wireless nodes.</a:t>
            </a:r>
          </a:p>
          <a:p>
            <a:endParaRPr lang="en-IE" sz="1400"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SensingCam: Visual Downtime Analysis</a:t>
            </a:r>
          </a:p>
          <a:p>
            <a:r>
              <a:rPr lang="en-IE" sz="1400" dirty="0">
                <a:solidFill>
                  <a:srgbClr val="0A597A"/>
                </a:solidFill>
                <a:latin typeface="AvenirNext LT Pro Bold" panose="020B0804020202020204"/>
                <a:ea typeface="+mj-ea"/>
                <a:cs typeface="+mj-cs"/>
              </a:rPr>
              <a:t>Revolutionise your root-cause analysis with visual confirmation of events. The SensingCam records up to 40 seconds before/after a trigger.</a:t>
            </a:r>
            <a:endParaRPr lang="en-GB" sz="1400" dirty="0">
              <a:solidFill>
                <a:srgbClr val="0A597A"/>
              </a:solidFill>
              <a:latin typeface="AvenirNext LT Pro Bold" panose="020B0804020202020204"/>
              <a:ea typeface="+mj-ea"/>
              <a:cs typeface="+mj-cs"/>
            </a:endParaRPr>
          </a:p>
        </p:txBody>
      </p:sp>
      <p:sp>
        <p:nvSpPr>
          <p:cNvPr id="11" name="Action Button: Go Home 10">
            <a:hlinkClick r:id="rId2" action="ppaction://hlinksldjump" highlightClick="1"/>
            <a:hlinkHover r:id="" action="ppaction://hlinkshowjump?jump=firstslide"/>
            <a:extLst>
              <a:ext uri="{FF2B5EF4-FFF2-40B4-BE49-F238E27FC236}">
                <a16:creationId xmlns:a16="http://schemas.microsoft.com/office/drawing/2014/main" id="{4D47DBE2-9BB4-A31D-81AE-B0BCBAE70DE2}"/>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149461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B2DAF-21C4-4F16-3548-C1707B8AB86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51A6F26-78D6-223D-6609-F4E988F8F5DE}"/>
              </a:ext>
            </a:extLst>
          </p:cNvPr>
          <p:cNvSpPr txBox="1"/>
          <p:nvPr/>
        </p:nvSpPr>
        <p:spPr>
          <a:xfrm>
            <a:off x="763214" y="295705"/>
            <a:ext cx="5434385" cy="910955"/>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IIoT Toolkit </a:t>
            </a:r>
            <a:r>
              <a:rPr lang="en-GB" sz="2000" b="1" dirty="0">
                <a:solidFill>
                  <a:srgbClr val="0A597A"/>
                </a:solidFill>
                <a:latin typeface="AvenirNext LT Pro Bold" panose="020B0804020202020204"/>
                <a:ea typeface="+mj-ea"/>
                <a:cs typeface="+mj-cs"/>
              </a:rPr>
              <a:t>(kit #1)</a:t>
            </a:r>
          </a:p>
          <a:p>
            <a:pPr>
              <a:lnSpc>
                <a:spcPct val="107000"/>
              </a:lnSpc>
              <a:spcAft>
                <a:spcPts val="300"/>
              </a:spcAft>
            </a:pPr>
            <a:r>
              <a:rPr lang="en-GB" sz="1400" dirty="0">
                <a:solidFill>
                  <a:srgbClr val="0A597A"/>
                </a:solidFill>
                <a:latin typeface="AvenirNext LT Pro Bold" panose="020B0804020202020204"/>
                <a:ea typeface="+mj-ea"/>
                <a:cs typeface="+mj-cs"/>
              </a:rPr>
              <a:t>Out-of-the-box data collection, analytics and visualisation</a:t>
            </a:r>
            <a:br>
              <a:rPr lang="en-GB" sz="1400" dirty="0">
                <a:solidFill>
                  <a:srgbClr val="0A597A"/>
                </a:solidFill>
                <a:latin typeface="AvenirNext LT Pro Bold" panose="020B0804020202020204"/>
                <a:ea typeface="+mj-ea"/>
                <a:cs typeface="+mj-cs"/>
              </a:rPr>
            </a:br>
            <a:r>
              <a:rPr lang="en-GB" sz="1400" dirty="0">
                <a:solidFill>
                  <a:srgbClr val="0A597A"/>
                </a:solidFill>
                <a:latin typeface="AvenirNext LT Pro Bold" panose="020B0804020202020204"/>
                <a:ea typeface="+mj-ea"/>
                <a:cs typeface="+mj-cs"/>
              </a:rPr>
              <a:t>(Kepware, Historian, SQL, WAPS Dashboards and Power BI gateway)</a:t>
            </a:r>
            <a:endParaRPr lang="en-IE" sz="1400" dirty="0">
              <a:solidFill>
                <a:srgbClr val="0A597A"/>
              </a:solidFill>
              <a:latin typeface="AvenirNext LT Pro Bold" panose="020B0804020202020204"/>
              <a:ea typeface="+mj-ea"/>
              <a:cs typeface="+mj-cs"/>
            </a:endParaRPr>
          </a:p>
        </p:txBody>
      </p:sp>
      <p:grpSp>
        <p:nvGrpSpPr>
          <p:cNvPr id="45" name="Group 44">
            <a:extLst>
              <a:ext uri="{FF2B5EF4-FFF2-40B4-BE49-F238E27FC236}">
                <a16:creationId xmlns:a16="http://schemas.microsoft.com/office/drawing/2014/main" id="{BA37CBDE-314F-BE8D-650A-27ADC241AEBE}"/>
              </a:ext>
            </a:extLst>
          </p:cNvPr>
          <p:cNvGrpSpPr/>
          <p:nvPr/>
        </p:nvGrpSpPr>
        <p:grpSpPr>
          <a:xfrm>
            <a:off x="421786" y="6995092"/>
            <a:ext cx="6040554" cy="2273426"/>
            <a:chOff x="337693" y="7059517"/>
            <a:chExt cx="6040554" cy="2273426"/>
          </a:xfrm>
        </p:grpSpPr>
        <p:sp>
          <p:nvSpPr>
            <p:cNvPr id="37" name="TextBox 36">
              <a:extLst>
                <a:ext uri="{FF2B5EF4-FFF2-40B4-BE49-F238E27FC236}">
                  <a16:creationId xmlns:a16="http://schemas.microsoft.com/office/drawing/2014/main" id="{EA4C5A2B-7AD1-F0AD-ED29-6AE9BDB36198}"/>
                </a:ext>
              </a:extLst>
            </p:cNvPr>
            <p:cNvSpPr txBox="1"/>
            <p:nvPr/>
          </p:nvSpPr>
          <p:spPr>
            <a:xfrm>
              <a:off x="2914591" y="7103213"/>
              <a:ext cx="3463656" cy="2156744"/>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SMA214 </a:t>
              </a:r>
              <a:r>
                <a:rPr lang="en-IE" sz="1200" dirty="0">
                  <a:solidFill>
                    <a:srgbClr val="0A597A"/>
                  </a:solidFill>
                  <a:latin typeface="AvenirNext LT Pro Bold" panose="020B0804020202020204"/>
                  <a:ea typeface="+mj-ea"/>
                  <a:cs typeface="+mj-cs"/>
                </a:rPr>
                <a:t>(with CE mark)</a:t>
              </a:r>
            </a:p>
            <a:p>
              <a:pPr>
                <a:lnSpc>
                  <a:spcPct val="107000"/>
                </a:lnSpc>
              </a:pPr>
              <a:r>
                <a:rPr lang="en-IE" sz="1400" dirty="0">
                  <a:solidFill>
                    <a:srgbClr val="0A597A"/>
                  </a:solidFill>
                  <a:latin typeface="AvenirNext LT Pro Bold" panose="020B0804020202020204"/>
                  <a:ea typeface="+mj-ea"/>
                  <a:cs typeface="+mj-cs"/>
                </a:rPr>
                <a:t>Siemens PSU/UPS with OPC UA</a:t>
              </a:r>
            </a:p>
            <a:p>
              <a:pPr>
                <a:lnSpc>
                  <a:spcPct val="107000"/>
                </a:lnSpc>
              </a:pPr>
              <a:r>
                <a:rPr lang="en-IE" sz="1400" dirty="0">
                  <a:solidFill>
                    <a:srgbClr val="0A597A"/>
                  </a:solidFill>
                  <a:latin typeface="AvenirNext LT Pro Bold" panose="020B0804020202020204"/>
                  <a:ea typeface="+mj-ea"/>
                  <a:cs typeface="+mj-cs"/>
                </a:rPr>
                <a:t>Siemens Firewall/NAT/VPN device (optional)</a:t>
              </a:r>
            </a:p>
            <a:p>
              <a:pPr>
                <a:lnSpc>
                  <a:spcPct val="107000"/>
                </a:lnSpc>
              </a:pPr>
              <a:r>
                <a:rPr lang="en-IE" sz="1400" dirty="0">
                  <a:solidFill>
                    <a:srgbClr val="0A597A"/>
                  </a:solidFill>
                  <a:latin typeface="AvenirNext LT Pro Bold" panose="020B0804020202020204"/>
                  <a:ea typeface="+mj-ea"/>
                  <a:cs typeface="+mj-cs"/>
                </a:rPr>
                <a:t>Siemens WiFi AP (optional)</a:t>
              </a:r>
            </a:p>
            <a:p>
              <a:pPr>
                <a:lnSpc>
                  <a:spcPct val="107000"/>
                </a:lnSpc>
              </a:pPr>
              <a:r>
                <a:rPr lang="en-IE" sz="1400" dirty="0">
                  <a:solidFill>
                    <a:srgbClr val="0A597A"/>
                  </a:solidFill>
                  <a:latin typeface="AvenirNext LT Pro Bold" panose="020B0804020202020204"/>
                  <a:ea typeface="+mj-ea"/>
                  <a:cs typeface="+mj-cs"/>
                </a:rPr>
                <a:t>Banner DXM700 wireless sensor gateway</a:t>
              </a:r>
            </a:p>
            <a:p>
              <a:pPr>
                <a:lnSpc>
                  <a:spcPct val="107000"/>
                </a:lnSpc>
              </a:pPr>
              <a:r>
                <a:rPr lang="en-IE" sz="1400" dirty="0">
                  <a:solidFill>
                    <a:srgbClr val="0A597A"/>
                  </a:solidFill>
                  <a:latin typeface="AvenirNext LT Pro Bold" panose="020B0804020202020204"/>
                  <a:ea typeface="+mj-ea"/>
                  <a:cs typeface="+mj-cs"/>
                </a:rPr>
                <a:t>Siemens omni-directional antenna</a:t>
              </a:r>
            </a:p>
            <a:p>
              <a:pPr>
                <a:lnSpc>
                  <a:spcPct val="107000"/>
                </a:lnSpc>
              </a:pPr>
              <a:r>
                <a:rPr lang="en-IE" sz="1400" dirty="0">
                  <a:solidFill>
                    <a:srgbClr val="0A597A"/>
                  </a:solidFill>
                  <a:latin typeface="AvenirNext LT Pro Bold" panose="020B0804020202020204"/>
                  <a:ea typeface="+mj-ea"/>
                  <a:cs typeface="+mj-cs"/>
                </a:rPr>
                <a:t>Siemens 8-port switch</a:t>
              </a:r>
            </a:p>
            <a:p>
              <a:pPr>
                <a:lnSpc>
                  <a:spcPct val="107000"/>
                </a:lnSpc>
              </a:pPr>
              <a:r>
                <a:rPr lang="en-IE" sz="1400" dirty="0">
                  <a:solidFill>
                    <a:srgbClr val="0A597A"/>
                  </a:solidFill>
                  <a:latin typeface="AvenirNext LT Pro Bold" panose="020B0804020202020204"/>
                  <a:ea typeface="+mj-ea"/>
                  <a:cs typeface="+mj-cs"/>
                </a:rPr>
                <a:t>Siemens IPC (Windows 10 inc. x2 VM’s)</a:t>
              </a:r>
            </a:p>
            <a:p>
              <a:pPr>
                <a:lnSpc>
                  <a:spcPct val="107000"/>
                </a:lnSpc>
              </a:pPr>
              <a:r>
                <a:rPr lang="en-IE" sz="1400" dirty="0">
                  <a:solidFill>
                    <a:srgbClr val="0A597A"/>
                  </a:solidFill>
                  <a:latin typeface="AvenirNext LT Pro Bold" panose="020B0804020202020204"/>
                  <a:ea typeface="+mj-ea"/>
                  <a:cs typeface="+mj-cs"/>
                </a:rPr>
                <a:t>Compact - Rittal enclosure (500x500x300)</a:t>
              </a:r>
            </a:p>
          </p:txBody>
        </p:sp>
        <p:pic>
          <p:nvPicPr>
            <p:cNvPr id="6" name="Picture 5">
              <a:extLst>
                <a:ext uri="{FF2B5EF4-FFF2-40B4-BE49-F238E27FC236}">
                  <a16:creationId xmlns:a16="http://schemas.microsoft.com/office/drawing/2014/main" id="{D0EBB082-83ED-498C-7CBD-6C529B40A6BA}"/>
                </a:ext>
              </a:extLst>
            </p:cNvPr>
            <p:cNvPicPr>
              <a:picLocks noChangeAspect="1"/>
            </p:cNvPicPr>
            <p:nvPr/>
          </p:nvPicPr>
          <p:blipFill>
            <a:blip r:embed="rId2"/>
            <a:stretch>
              <a:fillRect/>
            </a:stretch>
          </p:blipFill>
          <p:spPr>
            <a:xfrm>
              <a:off x="337693" y="7059517"/>
              <a:ext cx="2319389" cy="2273426"/>
            </a:xfrm>
            <a:prstGeom prst="rect">
              <a:avLst/>
            </a:prstGeom>
          </p:spPr>
        </p:pic>
      </p:grpSp>
      <p:sp>
        <p:nvSpPr>
          <p:cNvPr id="2" name="Action Button: Go Home 1">
            <a:hlinkClick r:id="rId3" action="ppaction://hlinksldjump" highlightClick="1"/>
            <a:hlinkHover r:id="" action="ppaction://hlinkshowjump?jump=firstslide"/>
            <a:extLst>
              <a:ext uri="{FF2B5EF4-FFF2-40B4-BE49-F238E27FC236}">
                <a16:creationId xmlns:a16="http://schemas.microsoft.com/office/drawing/2014/main" id="{384F143C-5F12-0410-EED4-E3CC043AEE49}"/>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4" name="Picture 43">
            <a:extLst>
              <a:ext uri="{FF2B5EF4-FFF2-40B4-BE49-F238E27FC236}">
                <a16:creationId xmlns:a16="http://schemas.microsoft.com/office/drawing/2014/main" id="{C1F6B74D-C019-010E-C51D-671021EE5059}"/>
              </a:ext>
            </a:extLst>
          </p:cNvPr>
          <p:cNvPicPr>
            <a:picLocks noChangeAspect="1"/>
          </p:cNvPicPr>
          <p:nvPr/>
        </p:nvPicPr>
        <p:blipFill>
          <a:blip r:embed="rId4"/>
          <a:stretch>
            <a:fillRect/>
          </a:stretch>
        </p:blipFill>
        <p:spPr>
          <a:xfrm>
            <a:off x="464600" y="1232786"/>
            <a:ext cx="6031612" cy="3215295"/>
          </a:xfrm>
          <a:prstGeom prst="rect">
            <a:avLst/>
          </a:prstGeom>
        </p:spPr>
      </p:pic>
      <p:sp>
        <p:nvSpPr>
          <p:cNvPr id="7" name="TextBox 6">
            <a:extLst>
              <a:ext uri="{FF2B5EF4-FFF2-40B4-BE49-F238E27FC236}">
                <a16:creationId xmlns:a16="http://schemas.microsoft.com/office/drawing/2014/main" id="{43F89C21-CAE6-B62E-1F20-D88C5F389EEA}"/>
              </a:ext>
            </a:extLst>
          </p:cNvPr>
          <p:cNvSpPr txBox="1"/>
          <p:nvPr/>
        </p:nvSpPr>
        <p:spPr>
          <a:xfrm>
            <a:off x="763214" y="4491850"/>
            <a:ext cx="5434385" cy="2438937"/>
          </a:xfrm>
          <a:prstGeom prst="rect">
            <a:avLst/>
          </a:prstGeom>
          <a:noFill/>
        </p:spPr>
        <p:txBody>
          <a:bodyPr wrap="square">
            <a:spAutoFit/>
          </a:bodyPr>
          <a:lstStyle/>
          <a:p>
            <a:pPr>
              <a:lnSpc>
                <a:spcPct val="107000"/>
              </a:lnSpc>
              <a:spcAft>
                <a:spcPts val="300"/>
              </a:spcAft>
            </a:pPr>
            <a:r>
              <a:rPr lang="en-GB" sz="1400" b="1" dirty="0">
                <a:solidFill>
                  <a:srgbClr val="0A597A"/>
                </a:solidFill>
                <a:latin typeface="AvenirNext LT Pro Bold" panose="020B0804020202020204"/>
                <a:ea typeface="+mj-ea"/>
                <a:cs typeface="+mj-cs"/>
              </a:rPr>
              <a:t>Pre-configured with the following modules:</a:t>
            </a:r>
          </a:p>
          <a:p>
            <a:pPr marL="171450" indent="-171450">
              <a:lnSpc>
                <a:spcPct val="107000"/>
              </a:lnSpc>
              <a:spcAft>
                <a:spcPts val="300"/>
              </a:spcAft>
              <a:buFont typeface="Arial" panose="020B0604020202020204" pitchFamily="34" charset="0"/>
              <a:buChar char="•"/>
            </a:pPr>
            <a:r>
              <a:rPr lang="en-GB" sz="1200" dirty="0">
                <a:solidFill>
                  <a:srgbClr val="0A597A"/>
                </a:solidFill>
                <a:latin typeface="AvenirNext LT Pro Bold" panose="020B0804020202020204"/>
                <a:ea typeface="+mj-ea"/>
                <a:cs typeface="+mj-cs"/>
              </a:rPr>
              <a:t>User Management (LDAP/SSO optional)</a:t>
            </a:r>
          </a:p>
          <a:p>
            <a:pPr marL="171450" indent="-171450">
              <a:lnSpc>
                <a:spcPct val="107000"/>
              </a:lnSpc>
              <a:spcAft>
                <a:spcPts val="300"/>
              </a:spcAft>
              <a:buFont typeface="Arial" panose="020B0604020202020204" pitchFamily="34" charset="0"/>
              <a:buChar char="•"/>
            </a:pPr>
            <a:r>
              <a:rPr lang="en-GB" sz="1200" dirty="0">
                <a:solidFill>
                  <a:srgbClr val="0A597A"/>
                </a:solidFill>
                <a:latin typeface="AvenirNext LT Pro Bold" panose="020B0804020202020204"/>
                <a:ea typeface="+mj-ea"/>
                <a:cs typeface="+mj-cs"/>
              </a:rPr>
              <a:t>Product Manager (ERP integration optional)</a:t>
            </a:r>
          </a:p>
          <a:p>
            <a:pPr marL="171450" indent="-171450">
              <a:lnSpc>
                <a:spcPct val="107000"/>
              </a:lnSpc>
              <a:spcAft>
                <a:spcPts val="300"/>
              </a:spcAft>
              <a:buFont typeface="Arial" panose="020B0604020202020204" pitchFamily="34" charset="0"/>
              <a:buChar char="•"/>
            </a:pPr>
            <a:r>
              <a:rPr lang="en-GB" sz="1200" dirty="0">
                <a:solidFill>
                  <a:srgbClr val="0A597A"/>
                </a:solidFill>
                <a:latin typeface="AvenirNext LT Pro Bold" panose="020B0804020202020204"/>
                <a:ea typeface="+mj-ea"/>
                <a:cs typeface="+mj-cs"/>
              </a:rPr>
              <a:t>Work Order Manager (MES integration optional)</a:t>
            </a:r>
          </a:p>
          <a:p>
            <a:pPr marL="171450" indent="-171450">
              <a:lnSpc>
                <a:spcPct val="107000"/>
              </a:lnSpc>
              <a:spcAft>
                <a:spcPts val="300"/>
              </a:spcAft>
              <a:buFont typeface="Arial" panose="020B0604020202020204" pitchFamily="34" charset="0"/>
              <a:buChar char="•"/>
            </a:pPr>
            <a:r>
              <a:rPr lang="en-GB" sz="1200" dirty="0">
                <a:solidFill>
                  <a:srgbClr val="0A597A"/>
                </a:solidFill>
                <a:latin typeface="AvenirNext LT Pro Bold" panose="020B0804020202020204"/>
                <a:ea typeface="+mj-ea"/>
                <a:cs typeface="+mj-cs"/>
              </a:rPr>
              <a:t>Downtime Viewer (Day-by-Hour, Downtime, Scrap, Pareto, OEE, etc.)</a:t>
            </a:r>
          </a:p>
          <a:p>
            <a:pPr marL="171450" indent="-171450">
              <a:lnSpc>
                <a:spcPct val="107000"/>
              </a:lnSpc>
              <a:spcAft>
                <a:spcPts val="300"/>
              </a:spcAft>
              <a:buFont typeface="Arial" panose="020B0604020202020204" pitchFamily="34" charset="0"/>
              <a:buChar char="•"/>
            </a:pPr>
            <a:r>
              <a:rPr lang="en-GB" sz="1200" dirty="0">
                <a:solidFill>
                  <a:srgbClr val="0A597A"/>
                </a:solidFill>
                <a:latin typeface="AvenirNext LT Pro Bold" panose="020B0804020202020204"/>
                <a:ea typeface="+mj-ea"/>
                <a:cs typeface="+mj-cs"/>
              </a:rPr>
              <a:t>Call-for-Help/Call-for-Parts</a:t>
            </a:r>
          </a:p>
          <a:p>
            <a:pPr marL="171450" indent="-171450">
              <a:lnSpc>
                <a:spcPct val="107000"/>
              </a:lnSpc>
              <a:spcAft>
                <a:spcPts val="300"/>
              </a:spcAft>
              <a:buFont typeface="Arial" panose="020B0604020202020204" pitchFamily="34" charset="0"/>
              <a:buChar char="•"/>
            </a:pPr>
            <a:r>
              <a:rPr lang="en-GB" sz="1200" dirty="0">
                <a:solidFill>
                  <a:srgbClr val="0A597A"/>
                </a:solidFill>
                <a:latin typeface="AvenirNext LT Pro Bold" panose="020B0804020202020204"/>
                <a:ea typeface="+mj-ea"/>
                <a:cs typeface="+mj-cs"/>
              </a:rPr>
              <a:t>Sustainability &amp; Condition Monitoring (Energy, Utilities, Vibration, etc.)</a:t>
            </a:r>
          </a:p>
          <a:p>
            <a:pPr marL="171450" indent="-171450">
              <a:lnSpc>
                <a:spcPct val="107000"/>
              </a:lnSpc>
              <a:spcAft>
                <a:spcPts val="300"/>
              </a:spcAft>
              <a:buFont typeface="Arial" panose="020B0604020202020204" pitchFamily="34" charset="0"/>
              <a:buChar char="•"/>
            </a:pPr>
            <a:r>
              <a:rPr lang="en-GB" sz="1200" dirty="0">
                <a:solidFill>
                  <a:srgbClr val="0A597A"/>
                </a:solidFill>
                <a:latin typeface="AvenirNext LT Pro Bold" panose="020B0804020202020204"/>
                <a:ea typeface="+mj-ea"/>
                <a:cs typeface="+mj-cs"/>
              </a:rPr>
              <a:t>Workflow and Digital Daily Management System (Pick-to-Light, Shift Report, Production Summary Report, Label Reconciliation)</a:t>
            </a:r>
          </a:p>
          <a:p>
            <a:pPr marL="171450" indent="-171450">
              <a:lnSpc>
                <a:spcPct val="107000"/>
              </a:lnSpc>
              <a:spcAft>
                <a:spcPts val="300"/>
              </a:spcAft>
              <a:buFont typeface="Arial" panose="020B0604020202020204" pitchFamily="34" charset="0"/>
              <a:buChar char="•"/>
            </a:pPr>
            <a:r>
              <a:rPr lang="en-GB" sz="1200" dirty="0">
                <a:solidFill>
                  <a:srgbClr val="0A597A"/>
                </a:solidFill>
                <a:latin typeface="AvenirNext LT Pro Bold" panose="020B0804020202020204"/>
                <a:ea typeface="+mj-ea"/>
                <a:cs typeface="+mj-cs"/>
              </a:rPr>
              <a:t>MAPS and Grid/Site View (Dynamic KPI dashboards/maps, RTLS and RFID)</a:t>
            </a:r>
          </a:p>
        </p:txBody>
      </p:sp>
    </p:spTree>
    <p:extLst>
      <p:ext uri="{BB962C8B-B14F-4D97-AF65-F5344CB8AC3E}">
        <p14:creationId xmlns:p14="http://schemas.microsoft.com/office/powerpoint/2010/main" val="1346846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1F821C19-7107-4299-AE70-DA4E4212EAAB}"/>
              </a:ext>
            </a:extLst>
          </p:cNvPr>
          <p:cNvSpPr txBox="1"/>
          <p:nvPr/>
        </p:nvSpPr>
        <p:spPr>
          <a:xfrm>
            <a:off x="3054762" y="5087958"/>
            <a:ext cx="3463656" cy="1234697"/>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SMA230 </a:t>
            </a:r>
            <a:r>
              <a:rPr lang="en-IE" sz="1200" dirty="0">
                <a:solidFill>
                  <a:srgbClr val="0A597A"/>
                </a:solidFill>
                <a:latin typeface="AvenirNext LT Pro Bold" panose="020B0804020202020204"/>
                <a:ea typeface="+mj-ea"/>
                <a:cs typeface="+mj-cs"/>
              </a:rPr>
              <a:t>(with CE mark)</a:t>
            </a:r>
          </a:p>
          <a:p>
            <a:pPr>
              <a:lnSpc>
                <a:spcPct val="107000"/>
              </a:lnSpc>
            </a:pPr>
            <a:r>
              <a:rPr lang="en-IE" sz="1400" dirty="0">
                <a:solidFill>
                  <a:srgbClr val="0A597A"/>
                </a:solidFill>
                <a:latin typeface="AvenirNext LT Pro Bold" panose="020B0804020202020204"/>
                <a:ea typeface="+mj-ea"/>
                <a:cs typeface="+mj-cs"/>
              </a:rPr>
              <a:t>Siemens PSU/UPS</a:t>
            </a:r>
          </a:p>
          <a:p>
            <a:pPr>
              <a:lnSpc>
                <a:spcPct val="107000"/>
              </a:lnSpc>
            </a:pPr>
            <a:r>
              <a:rPr lang="en-IE" sz="1400" dirty="0">
                <a:solidFill>
                  <a:srgbClr val="0A597A"/>
                </a:solidFill>
                <a:latin typeface="AvenirNext LT Pro Bold" panose="020B0804020202020204"/>
                <a:ea typeface="+mj-ea"/>
                <a:cs typeface="+mj-cs"/>
              </a:rPr>
              <a:t>Banner DXM700</a:t>
            </a:r>
          </a:p>
          <a:p>
            <a:pPr>
              <a:lnSpc>
                <a:spcPct val="107000"/>
              </a:lnSpc>
            </a:pPr>
            <a:r>
              <a:rPr lang="en-IE" sz="1400" dirty="0">
                <a:solidFill>
                  <a:srgbClr val="0A597A"/>
                </a:solidFill>
                <a:latin typeface="AvenirNext LT Pro Bold" panose="020B0804020202020204"/>
                <a:ea typeface="+mj-ea"/>
                <a:cs typeface="+mj-cs"/>
              </a:rPr>
              <a:t>Siemens omni-directional antenna</a:t>
            </a:r>
          </a:p>
          <a:p>
            <a:pPr>
              <a:lnSpc>
                <a:spcPct val="107000"/>
              </a:lnSpc>
            </a:pPr>
            <a:r>
              <a:rPr lang="en-IE" sz="1400" dirty="0">
                <a:solidFill>
                  <a:srgbClr val="0A597A"/>
                </a:solidFill>
                <a:latin typeface="AvenirNext LT Pro Bold" panose="020B0804020202020204"/>
                <a:ea typeface="+mj-ea"/>
                <a:cs typeface="+mj-cs"/>
              </a:rPr>
              <a:t>Rittal enclosure (300x300x210)</a:t>
            </a:r>
          </a:p>
        </p:txBody>
      </p:sp>
      <p:sp>
        <p:nvSpPr>
          <p:cNvPr id="4" name="TextBox 3">
            <a:extLst>
              <a:ext uri="{FF2B5EF4-FFF2-40B4-BE49-F238E27FC236}">
                <a16:creationId xmlns:a16="http://schemas.microsoft.com/office/drawing/2014/main" id="{F7B1CB10-8434-EE99-3424-FBD796B7A0E5}"/>
              </a:ext>
            </a:extLst>
          </p:cNvPr>
          <p:cNvSpPr txBox="1"/>
          <p:nvPr/>
        </p:nvSpPr>
        <p:spPr>
          <a:xfrm>
            <a:off x="782676" y="231125"/>
            <a:ext cx="5434385" cy="2101986"/>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IIoT Toolkit </a:t>
            </a:r>
            <a:r>
              <a:rPr lang="en-GB" sz="2000" b="1" dirty="0">
                <a:solidFill>
                  <a:srgbClr val="0A597A"/>
                </a:solidFill>
                <a:latin typeface="AvenirNext LT Pro Bold" panose="020B0804020202020204"/>
                <a:ea typeface="+mj-ea"/>
                <a:cs typeface="+mj-cs"/>
              </a:rPr>
              <a:t>(kit #2)</a:t>
            </a:r>
          </a:p>
          <a:p>
            <a:pPr>
              <a:lnSpc>
                <a:spcPct val="107000"/>
              </a:lnSpc>
              <a:spcAft>
                <a:spcPts val="300"/>
              </a:spcAft>
            </a:pPr>
            <a:r>
              <a:rPr lang="en-IE" sz="1400" b="1" dirty="0">
                <a:solidFill>
                  <a:srgbClr val="0A597A"/>
                </a:solidFill>
                <a:latin typeface="AvenirNext LT Pro Bold" panose="020B0804020202020204"/>
                <a:ea typeface="+mj-ea"/>
                <a:cs typeface="+mj-cs"/>
              </a:rPr>
              <a:t>Wired and Wireless Gateways</a:t>
            </a:r>
            <a:br>
              <a:rPr lang="en-GB" sz="1400" dirty="0">
                <a:solidFill>
                  <a:srgbClr val="0A597A"/>
                </a:solidFill>
                <a:latin typeface="AvenirNext LT Pro Bold" panose="020B0804020202020204"/>
                <a:ea typeface="+mj-ea"/>
                <a:cs typeface="+mj-cs"/>
              </a:rPr>
            </a:br>
            <a:r>
              <a:rPr lang="en-GB" sz="1400" dirty="0">
                <a:solidFill>
                  <a:srgbClr val="0A597A"/>
                </a:solidFill>
                <a:latin typeface="AvenirNext LT Pro Bold" panose="020B0804020202020204"/>
                <a:ea typeface="+mj-ea"/>
                <a:cs typeface="+mj-cs"/>
              </a:rPr>
              <a:t>Simplified IIoT Integration with secure, easily scalable and robust gateways. They support various industrial protocols including IO Link, Modbus RTU, Modbus TCP, and EtherNet/IP, ensuring seamless integration with existing automation systems.</a:t>
            </a:r>
          </a:p>
          <a:p>
            <a:pPr>
              <a:lnSpc>
                <a:spcPct val="107000"/>
              </a:lnSpc>
              <a:spcAft>
                <a:spcPts val="300"/>
              </a:spcAft>
            </a:pPr>
            <a:r>
              <a:rPr lang="en-IE" sz="1400" dirty="0">
                <a:solidFill>
                  <a:srgbClr val="0A597A"/>
                </a:solidFill>
                <a:latin typeface="AvenirNext LT Pro Bold" panose="020B0804020202020204"/>
                <a:ea typeface="+mj-ea"/>
                <a:cs typeface="+mj-cs"/>
              </a:rPr>
              <a:t>They use frequency hopping spread spectrum (FHSS) for reliable communication and rugged industrial housings, up to  IP67-rated.</a:t>
            </a:r>
          </a:p>
        </p:txBody>
      </p:sp>
      <p:pic>
        <p:nvPicPr>
          <p:cNvPr id="10" name="Picture 9">
            <a:extLst>
              <a:ext uri="{FF2B5EF4-FFF2-40B4-BE49-F238E27FC236}">
                <a16:creationId xmlns:a16="http://schemas.microsoft.com/office/drawing/2014/main" id="{A7F6A687-E645-5887-0CE6-3521689E1B3D}"/>
              </a:ext>
            </a:extLst>
          </p:cNvPr>
          <p:cNvPicPr>
            <a:picLocks noChangeAspect="1"/>
          </p:cNvPicPr>
          <p:nvPr/>
        </p:nvPicPr>
        <p:blipFill>
          <a:blip r:embed="rId2"/>
          <a:stretch>
            <a:fillRect/>
          </a:stretch>
        </p:blipFill>
        <p:spPr>
          <a:xfrm>
            <a:off x="1097199" y="4953000"/>
            <a:ext cx="1509990" cy="1589710"/>
          </a:xfrm>
          <a:prstGeom prst="rect">
            <a:avLst/>
          </a:prstGeom>
        </p:spPr>
      </p:pic>
      <p:pic>
        <p:nvPicPr>
          <p:cNvPr id="12" name="Picture 11">
            <a:extLst>
              <a:ext uri="{FF2B5EF4-FFF2-40B4-BE49-F238E27FC236}">
                <a16:creationId xmlns:a16="http://schemas.microsoft.com/office/drawing/2014/main" id="{D4767AAF-7328-0E50-2ACF-CD54AFEA9419}"/>
              </a:ext>
            </a:extLst>
          </p:cNvPr>
          <p:cNvPicPr>
            <a:picLocks noChangeAspect="1"/>
          </p:cNvPicPr>
          <p:nvPr/>
        </p:nvPicPr>
        <p:blipFill>
          <a:blip r:embed="rId3"/>
          <a:stretch>
            <a:fillRect/>
          </a:stretch>
        </p:blipFill>
        <p:spPr>
          <a:xfrm>
            <a:off x="2058307" y="6712502"/>
            <a:ext cx="3692831" cy="2397532"/>
          </a:xfrm>
          <a:prstGeom prst="rect">
            <a:avLst/>
          </a:prstGeom>
        </p:spPr>
      </p:pic>
      <p:cxnSp>
        <p:nvCxnSpPr>
          <p:cNvPr id="15" name="Straight Arrow Connector 14">
            <a:extLst>
              <a:ext uri="{FF2B5EF4-FFF2-40B4-BE49-F238E27FC236}">
                <a16:creationId xmlns:a16="http://schemas.microsoft.com/office/drawing/2014/main" id="{E9702D8D-A560-BADF-9AC7-53D8CC7DBBE8}"/>
              </a:ext>
            </a:extLst>
          </p:cNvPr>
          <p:cNvCxnSpPr>
            <a:cxnSpLocks/>
          </p:cNvCxnSpPr>
          <p:nvPr/>
        </p:nvCxnSpPr>
        <p:spPr>
          <a:xfrm>
            <a:off x="2266915" y="6414096"/>
            <a:ext cx="1206500" cy="14393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Action Button: Go Home 1">
            <a:hlinkClick r:id="rId4" action="ppaction://hlinksldjump" highlightClick="1"/>
            <a:hlinkHover r:id="" action="ppaction://hlinkshowjump?jump=firstslide"/>
            <a:extLst>
              <a:ext uri="{FF2B5EF4-FFF2-40B4-BE49-F238E27FC236}">
                <a16:creationId xmlns:a16="http://schemas.microsoft.com/office/drawing/2014/main" id="{32B39AC8-BD52-6EC5-FB41-17DFBC2A25B2}"/>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Box 8">
            <a:extLst>
              <a:ext uri="{FF2B5EF4-FFF2-40B4-BE49-F238E27FC236}">
                <a16:creationId xmlns:a16="http://schemas.microsoft.com/office/drawing/2014/main" id="{87349A69-ABB9-7719-5D23-095572318C4F}"/>
              </a:ext>
            </a:extLst>
          </p:cNvPr>
          <p:cNvSpPr txBox="1"/>
          <p:nvPr/>
        </p:nvSpPr>
        <p:spPr>
          <a:xfrm>
            <a:off x="2354796" y="9120611"/>
            <a:ext cx="3396342" cy="246221"/>
          </a:xfrm>
          <a:prstGeom prst="rect">
            <a:avLst/>
          </a:prstGeom>
          <a:noFill/>
        </p:spPr>
        <p:txBody>
          <a:bodyPr wrap="square" rtlCol="0">
            <a:spAutoFit/>
          </a:bodyPr>
          <a:lstStyle/>
          <a:p>
            <a:pPr algn="ctr"/>
            <a:r>
              <a:rPr lang="en-IE" sz="1000" dirty="0">
                <a:latin typeface="Avenir Next LT Pro Light" panose="020B0304020202020204" pitchFamily="34" charset="0"/>
              </a:rPr>
              <a:t>Multi Cleanroom Facility</a:t>
            </a:r>
          </a:p>
        </p:txBody>
      </p:sp>
      <p:sp>
        <p:nvSpPr>
          <p:cNvPr id="17" name="TextBox 16">
            <a:extLst>
              <a:ext uri="{FF2B5EF4-FFF2-40B4-BE49-F238E27FC236}">
                <a16:creationId xmlns:a16="http://schemas.microsoft.com/office/drawing/2014/main" id="{882D9D74-EEAF-0943-519D-2D45786BD24C}"/>
              </a:ext>
            </a:extLst>
          </p:cNvPr>
          <p:cNvSpPr txBox="1"/>
          <p:nvPr/>
        </p:nvSpPr>
        <p:spPr>
          <a:xfrm>
            <a:off x="782676" y="4009535"/>
            <a:ext cx="5434385" cy="773673"/>
          </a:xfrm>
          <a:prstGeom prst="rect">
            <a:avLst/>
          </a:prstGeom>
          <a:noFill/>
        </p:spPr>
        <p:txBody>
          <a:bodyPr wrap="square">
            <a:spAutoFit/>
          </a:bodyPr>
          <a:lstStyle/>
          <a:p>
            <a:pPr>
              <a:lnSpc>
                <a:spcPct val="107000"/>
              </a:lnSpc>
              <a:spcAft>
                <a:spcPts val="300"/>
              </a:spcAft>
            </a:pPr>
            <a:r>
              <a:rPr lang="en-IE" sz="1400" b="1" dirty="0">
                <a:solidFill>
                  <a:srgbClr val="0A597A"/>
                </a:solidFill>
                <a:latin typeface="AvenirNext LT Pro Bold" panose="020B0804020202020204"/>
                <a:ea typeface="+mj-ea"/>
                <a:cs typeface="+mj-cs"/>
              </a:rPr>
              <a:t>Extend Monitoring into Controlled Environments</a:t>
            </a:r>
            <a:br>
              <a:rPr lang="en-GB" sz="1400" dirty="0">
                <a:solidFill>
                  <a:srgbClr val="0A597A"/>
                </a:solidFill>
                <a:latin typeface="AvenirNext LT Pro Bold" panose="020B0804020202020204"/>
                <a:ea typeface="+mj-ea"/>
                <a:cs typeface="+mj-cs"/>
              </a:rPr>
            </a:br>
            <a:r>
              <a:rPr lang="en-IE" sz="1400" dirty="0">
                <a:solidFill>
                  <a:srgbClr val="0A597A"/>
                </a:solidFill>
                <a:latin typeface="AvenirNext LT Pro Bold" panose="020B0804020202020204"/>
                <a:ea typeface="+mj-ea"/>
                <a:cs typeface="+mj-cs"/>
              </a:rPr>
              <a:t>Quickly expand wireless sensor coverage into cleanrooms or isolated areas using this plug-and-play kit.</a:t>
            </a:r>
          </a:p>
        </p:txBody>
      </p:sp>
      <p:pic>
        <p:nvPicPr>
          <p:cNvPr id="18" name="Picture 4" descr="DXM1200-X2R3">
            <a:extLst>
              <a:ext uri="{FF2B5EF4-FFF2-40B4-BE49-F238E27FC236}">
                <a16:creationId xmlns:a16="http://schemas.microsoft.com/office/drawing/2014/main" id="{07F9E7E6-E614-BC71-6ABD-3528C2A529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2676" y="2147659"/>
            <a:ext cx="1919148" cy="191914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DXM700-B1R3">
            <a:extLst>
              <a:ext uri="{FF2B5EF4-FFF2-40B4-BE49-F238E27FC236}">
                <a16:creationId xmlns:a16="http://schemas.microsoft.com/office/drawing/2014/main" id="{40C283E2-EE4B-8F89-144B-FFFBE8A492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4620" y="2780699"/>
            <a:ext cx="1167259" cy="116725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DXMR110-8K">
            <a:extLst>
              <a:ext uri="{FF2B5EF4-FFF2-40B4-BE49-F238E27FC236}">
                <a16:creationId xmlns:a16="http://schemas.microsoft.com/office/drawing/2014/main" id="{CBD9BC34-98AD-1BB6-BBD4-4B401DDF0E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85093" y="2741271"/>
            <a:ext cx="1167259" cy="1167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344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754EA-8358-2749-B370-56E8CBAECF2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CF27697-0194-1726-6714-DDA44232732C}"/>
              </a:ext>
            </a:extLst>
          </p:cNvPr>
          <p:cNvSpPr txBox="1"/>
          <p:nvPr/>
        </p:nvSpPr>
        <p:spPr>
          <a:xfrm>
            <a:off x="763214" y="200455"/>
            <a:ext cx="5434385" cy="1679434"/>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IIoT Toolkit </a:t>
            </a:r>
            <a:r>
              <a:rPr lang="en-GB" sz="2000" b="1" dirty="0">
                <a:solidFill>
                  <a:srgbClr val="0A597A"/>
                </a:solidFill>
                <a:latin typeface="AvenirNext LT Pro Bold" panose="020B0804020202020204"/>
                <a:ea typeface="+mj-ea"/>
                <a:cs typeface="+mj-cs"/>
              </a:rPr>
              <a:t>(kit #3)</a:t>
            </a:r>
          </a:p>
          <a:p>
            <a:pPr>
              <a:lnSpc>
                <a:spcPct val="107000"/>
              </a:lnSpc>
              <a:spcAft>
                <a:spcPts val="300"/>
              </a:spcAft>
            </a:pPr>
            <a:r>
              <a:rPr lang="en-GB" sz="1400" dirty="0">
                <a:solidFill>
                  <a:srgbClr val="0A597A"/>
                </a:solidFill>
                <a:latin typeface="AvenirNext LT Pro Bold" panose="020B0804020202020204"/>
                <a:ea typeface="+mj-ea"/>
                <a:cs typeface="+mj-cs"/>
              </a:rPr>
              <a:t>Connect Any Signal, From Any Sensor – Wirelessly</a:t>
            </a:r>
          </a:p>
          <a:p>
            <a:pPr>
              <a:lnSpc>
                <a:spcPct val="107000"/>
              </a:lnSpc>
              <a:spcAft>
                <a:spcPts val="300"/>
              </a:spcAft>
            </a:pPr>
            <a:r>
              <a:rPr lang="en-IE" sz="1400" dirty="0">
                <a:solidFill>
                  <a:srgbClr val="0A597A"/>
                </a:solidFill>
                <a:latin typeface="AvenirNext LT Pro Bold" panose="020B0804020202020204"/>
                <a:ea typeface="+mj-ea"/>
                <a:cs typeface="+mj-cs"/>
              </a:rPr>
              <a:t>Modular nodes designed to support almost any I/O configuration: analogue, digital, thermistor, counters, or serial data — all over a secure wireless link.</a:t>
            </a:r>
            <a:r>
              <a:rPr lang="en-GB" sz="1400" i="1" dirty="0">
                <a:solidFill>
                  <a:srgbClr val="0A597A"/>
                </a:solidFill>
                <a:latin typeface="AvenirNext LT Pro Bold" panose="020B0804020202020204"/>
                <a:ea typeface="+mj-ea"/>
                <a:cs typeface="+mj-cs"/>
              </a:rPr>
              <a:t> </a:t>
            </a:r>
          </a:p>
          <a:p>
            <a:pPr>
              <a:lnSpc>
                <a:spcPct val="107000"/>
              </a:lnSpc>
              <a:spcAft>
                <a:spcPts val="300"/>
              </a:spcAft>
            </a:pPr>
            <a:r>
              <a:rPr lang="en-GB" sz="1400" i="1" dirty="0">
                <a:solidFill>
                  <a:srgbClr val="0A597A"/>
                </a:solidFill>
                <a:latin typeface="AvenirNext LT Pro Bold" panose="020B0804020202020204"/>
                <a:ea typeface="+mj-ea"/>
                <a:cs typeface="+mj-cs"/>
              </a:rPr>
              <a:t>Flex-power™ </a:t>
            </a:r>
            <a:r>
              <a:rPr lang="en-GB" sz="1400" dirty="0">
                <a:solidFill>
                  <a:srgbClr val="0A597A"/>
                </a:solidFill>
                <a:latin typeface="AvenirNext LT Pro Bold" panose="020B0804020202020204"/>
                <a:ea typeface="+mj-ea"/>
                <a:cs typeface="+mj-cs"/>
              </a:rPr>
              <a:t>and battery powered options available</a:t>
            </a:r>
            <a:endParaRPr lang="en-IE" sz="1400" dirty="0">
              <a:solidFill>
                <a:srgbClr val="0A597A"/>
              </a:solidFill>
              <a:latin typeface="AvenirNext LT Pro Bold" panose="020B0804020202020204"/>
              <a:ea typeface="+mj-ea"/>
              <a:cs typeface="+mj-cs"/>
            </a:endParaRPr>
          </a:p>
        </p:txBody>
      </p:sp>
      <p:sp>
        <p:nvSpPr>
          <p:cNvPr id="22" name="TextBox 21">
            <a:extLst>
              <a:ext uri="{FF2B5EF4-FFF2-40B4-BE49-F238E27FC236}">
                <a16:creationId xmlns:a16="http://schemas.microsoft.com/office/drawing/2014/main" id="{9845297C-B84D-9904-5050-9CD4F2EA9F6C}"/>
              </a:ext>
            </a:extLst>
          </p:cNvPr>
          <p:cNvSpPr txBox="1"/>
          <p:nvPr/>
        </p:nvSpPr>
        <p:spPr>
          <a:xfrm>
            <a:off x="2060867" y="2118837"/>
            <a:ext cx="4288125" cy="1234697"/>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DX80 Nodes</a:t>
            </a:r>
            <a:br>
              <a:rPr lang="en-IE" sz="1400" dirty="0">
                <a:solidFill>
                  <a:srgbClr val="0A597A"/>
                </a:solidFill>
                <a:latin typeface="AvenirNext LT Pro Bold" panose="020B0804020202020204"/>
                <a:ea typeface="+mj-ea"/>
                <a:cs typeface="+mj-cs"/>
              </a:rPr>
            </a:br>
            <a:r>
              <a:rPr lang="en-IE" sz="1400" dirty="0">
                <a:solidFill>
                  <a:srgbClr val="0A597A"/>
                </a:solidFill>
                <a:latin typeface="AvenirNext LT Pro Bold" panose="020B0804020202020204"/>
                <a:ea typeface="+mj-ea"/>
                <a:cs typeface="+mj-cs"/>
              </a:rPr>
              <a:t>Configurable Inputs and Outputs </a:t>
            </a:r>
            <a:r>
              <a:rPr lang="en-IE" sz="1400" dirty="0">
                <a:solidFill>
                  <a:srgbClr val="0A597A"/>
                </a:solidFill>
                <a:latin typeface="AvenirNext LT Pro Bold" panose="020B0804020202020204"/>
              </a:rPr>
              <a:t>(PNP/PNP), 0-10v and 0-20mA Analogue I/O </a:t>
            </a:r>
            <a:r>
              <a:rPr lang="en-IE" sz="1400" dirty="0">
                <a:solidFill>
                  <a:srgbClr val="0A597A"/>
                </a:solidFill>
                <a:latin typeface="AvenirNext LT Pro Bold" panose="020B0804020202020204"/>
                <a:ea typeface="+mj-ea"/>
                <a:cs typeface="+mj-cs"/>
              </a:rPr>
              <a:t>and </a:t>
            </a:r>
            <a:r>
              <a:rPr lang="en-IE" sz="1400" dirty="0">
                <a:solidFill>
                  <a:srgbClr val="0A597A"/>
                </a:solidFill>
                <a:latin typeface="AvenirNext LT Pro Bold" panose="020B0804020202020204"/>
              </a:rPr>
              <a:t>1-wire Serial Interface</a:t>
            </a:r>
            <a:r>
              <a:rPr lang="en-IE" sz="1400" dirty="0">
                <a:solidFill>
                  <a:srgbClr val="0A597A"/>
                </a:solidFill>
                <a:latin typeface="AvenirNext LT Pro Bold" panose="020B0804020202020204"/>
                <a:ea typeface="+mj-ea"/>
                <a:cs typeface="+mj-cs"/>
              </a:rPr>
              <a:t>. </a:t>
            </a:r>
          </a:p>
          <a:p>
            <a:pPr>
              <a:lnSpc>
                <a:spcPct val="107000"/>
              </a:lnSpc>
            </a:pPr>
            <a:r>
              <a:rPr lang="en-IE" sz="1400" dirty="0">
                <a:solidFill>
                  <a:srgbClr val="0A597A"/>
                </a:solidFill>
                <a:latin typeface="AvenirNext LT Pro Bold" panose="020B0804020202020204"/>
                <a:ea typeface="+mj-ea"/>
                <a:cs typeface="+mj-cs"/>
              </a:rPr>
              <a:t>Support multiple wireless network topologies including Point-to-Multipoint, Bus, Ring, Star, Tree and Mesh.</a:t>
            </a:r>
          </a:p>
        </p:txBody>
      </p:sp>
      <p:pic>
        <p:nvPicPr>
          <p:cNvPr id="13" name="Picture 12">
            <a:extLst>
              <a:ext uri="{FF2B5EF4-FFF2-40B4-BE49-F238E27FC236}">
                <a16:creationId xmlns:a16="http://schemas.microsoft.com/office/drawing/2014/main" id="{2C9842D6-DC01-6788-DC50-E41B2EF81F6D}"/>
              </a:ext>
            </a:extLst>
          </p:cNvPr>
          <p:cNvPicPr>
            <a:picLocks noChangeAspect="1"/>
          </p:cNvPicPr>
          <p:nvPr/>
        </p:nvPicPr>
        <p:blipFill>
          <a:blip r:embed="rId2"/>
          <a:stretch>
            <a:fillRect/>
          </a:stretch>
        </p:blipFill>
        <p:spPr>
          <a:xfrm>
            <a:off x="509008" y="1958267"/>
            <a:ext cx="1134323" cy="1294463"/>
          </a:xfrm>
          <a:prstGeom prst="rect">
            <a:avLst/>
          </a:prstGeom>
        </p:spPr>
      </p:pic>
      <p:sp>
        <p:nvSpPr>
          <p:cNvPr id="3" name="Action Button: Go Home 2">
            <a:hlinkClick r:id="rId3" action="ppaction://hlinksldjump" highlightClick="1"/>
            <a:hlinkHover r:id="" action="ppaction://hlinkshowjump?jump=firstslide"/>
            <a:extLst>
              <a:ext uri="{FF2B5EF4-FFF2-40B4-BE49-F238E27FC236}">
                <a16:creationId xmlns:a16="http://schemas.microsoft.com/office/drawing/2014/main" id="{2178A25E-A530-415B-F5D2-A2BA08CD9181}"/>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5" name="Group 4">
            <a:extLst>
              <a:ext uri="{FF2B5EF4-FFF2-40B4-BE49-F238E27FC236}">
                <a16:creationId xmlns:a16="http://schemas.microsoft.com/office/drawing/2014/main" id="{EB796227-5F8A-6435-4B6F-E74B5AB02AE8}"/>
              </a:ext>
            </a:extLst>
          </p:cNvPr>
          <p:cNvGrpSpPr/>
          <p:nvPr/>
        </p:nvGrpSpPr>
        <p:grpSpPr>
          <a:xfrm>
            <a:off x="675565" y="5843609"/>
            <a:ext cx="5885302" cy="3451898"/>
            <a:chOff x="675565" y="200455"/>
            <a:chExt cx="5885302" cy="3451898"/>
          </a:xfrm>
        </p:grpSpPr>
        <p:sp>
          <p:nvSpPr>
            <p:cNvPr id="4" name="TextBox 3">
              <a:extLst>
                <a:ext uri="{FF2B5EF4-FFF2-40B4-BE49-F238E27FC236}">
                  <a16:creationId xmlns:a16="http://schemas.microsoft.com/office/drawing/2014/main" id="{3D2848CC-1DBB-CBE6-A4F2-82A0DC0A401D}"/>
                </a:ext>
              </a:extLst>
            </p:cNvPr>
            <p:cNvSpPr txBox="1"/>
            <p:nvPr/>
          </p:nvSpPr>
          <p:spPr>
            <a:xfrm>
              <a:off x="763214" y="200455"/>
              <a:ext cx="5434385" cy="1179938"/>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IIoT Toolkit </a:t>
              </a:r>
              <a:r>
                <a:rPr lang="en-GB" sz="2000" b="1" dirty="0">
                  <a:solidFill>
                    <a:srgbClr val="0A597A"/>
                  </a:solidFill>
                  <a:latin typeface="AvenirNext LT Pro Bold" panose="020B0804020202020204"/>
                  <a:ea typeface="+mj-ea"/>
                  <a:cs typeface="+mj-cs"/>
                </a:rPr>
                <a:t>(kit #4)</a:t>
              </a:r>
            </a:p>
            <a:p>
              <a:pPr>
                <a:lnSpc>
                  <a:spcPct val="107000"/>
                </a:lnSpc>
                <a:spcAft>
                  <a:spcPts val="300"/>
                </a:spcAft>
              </a:pPr>
              <a:r>
                <a:rPr lang="en-IE" sz="1400" b="1" dirty="0">
                  <a:solidFill>
                    <a:srgbClr val="0A597A"/>
                  </a:solidFill>
                  <a:latin typeface="AvenirNext LT Pro Bold" panose="020B0804020202020204"/>
                  <a:ea typeface="+mj-ea"/>
                  <a:cs typeface="+mj-cs"/>
                </a:rPr>
                <a:t>Proactive Maintenance, Without the Complexity</a:t>
              </a:r>
            </a:p>
            <a:p>
              <a:pPr>
                <a:lnSpc>
                  <a:spcPct val="107000"/>
                </a:lnSpc>
                <a:spcAft>
                  <a:spcPts val="300"/>
                </a:spcAft>
              </a:pPr>
              <a:r>
                <a:rPr lang="en-IE" sz="1400" dirty="0">
                  <a:solidFill>
                    <a:srgbClr val="0A597A"/>
                  </a:solidFill>
                  <a:latin typeface="AvenirNext LT Pro Bold" panose="020B0804020202020204"/>
                  <a:ea typeface="+mj-ea"/>
                  <a:cs typeface="+mj-cs"/>
                </a:rPr>
                <a:t>Monitor vibration, current, and temperature data in real-time — all from a compact wireless node with pre-configured sensors.</a:t>
              </a:r>
            </a:p>
          </p:txBody>
        </p:sp>
        <p:sp>
          <p:nvSpPr>
            <p:cNvPr id="6" name="TextBox 5">
              <a:extLst>
                <a:ext uri="{FF2B5EF4-FFF2-40B4-BE49-F238E27FC236}">
                  <a16:creationId xmlns:a16="http://schemas.microsoft.com/office/drawing/2014/main" id="{A5EEA375-B7A1-D3D5-4C7B-0BD4D9794D0C}"/>
                </a:ext>
              </a:extLst>
            </p:cNvPr>
            <p:cNvSpPr txBox="1"/>
            <p:nvPr/>
          </p:nvSpPr>
          <p:spPr>
            <a:xfrm>
              <a:off x="2579039" y="1771325"/>
              <a:ext cx="3981828" cy="1004186"/>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DX80DR2M-H10 </a:t>
              </a:r>
            </a:p>
            <a:p>
              <a:pPr>
                <a:lnSpc>
                  <a:spcPct val="107000"/>
                </a:lnSpc>
              </a:pPr>
              <a:r>
                <a:rPr lang="en-IE" sz="1400" dirty="0">
                  <a:solidFill>
                    <a:srgbClr val="0A597A"/>
                  </a:solidFill>
                  <a:latin typeface="AvenirNext LT Pro Bold" panose="020B0804020202020204"/>
                  <a:ea typeface="+mj-ea"/>
                  <a:cs typeface="+mj-cs"/>
                </a:rPr>
                <a:t>Pre-Configured for Vibration and Temperature Sensors and Current Transformer.</a:t>
              </a:r>
            </a:p>
            <a:p>
              <a:pPr>
                <a:lnSpc>
                  <a:spcPct val="107000"/>
                </a:lnSpc>
              </a:pPr>
              <a:r>
                <a:rPr lang="en-GB" sz="1400" dirty="0">
                  <a:solidFill>
                    <a:srgbClr val="0A597A"/>
                  </a:solidFill>
                  <a:latin typeface="AvenirNext LT Pro Bold" panose="020B0804020202020204"/>
                  <a:ea typeface="+mj-ea"/>
                  <a:cs typeface="+mj-cs"/>
                </a:rPr>
                <a:t>Battery powered options available.</a:t>
              </a:r>
              <a:endParaRPr lang="en-IE" sz="1400" dirty="0">
                <a:solidFill>
                  <a:srgbClr val="0A597A"/>
                </a:solidFill>
                <a:latin typeface="AvenirNext LT Pro Bold" panose="020B0804020202020204"/>
                <a:ea typeface="+mj-ea"/>
                <a:cs typeface="+mj-cs"/>
              </a:endParaRPr>
            </a:p>
          </p:txBody>
        </p:sp>
        <p:sp>
          <p:nvSpPr>
            <p:cNvPr id="7" name="TextBox 6">
              <a:hlinkClick r:id="rId4"/>
              <a:extLst>
                <a:ext uri="{FF2B5EF4-FFF2-40B4-BE49-F238E27FC236}">
                  <a16:creationId xmlns:a16="http://schemas.microsoft.com/office/drawing/2014/main" id="{541E45C3-45CE-0807-1D30-98CA96A96960}"/>
                </a:ext>
              </a:extLst>
            </p:cNvPr>
            <p:cNvSpPr txBox="1"/>
            <p:nvPr/>
          </p:nvSpPr>
          <p:spPr>
            <a:xfrm>
              <a:off x="4121150" y="3006022"/>
              <a:ext cx="2076450" cy="646331"/>
            </a:xfrm>
            <a:prstGeom prst="rect">
              <a:avLst/>
            </a:prstGeom>
            <a:noFill/>
          </p:spPr>
          <p:txBody>
            <a:bodyPr wrap="square">
              <a:spAutoFit/>
            </a:bodyPr>
            <a:lstStyle/>
            <a:p>
              <a:pPr algn="ctr"/>
              <a:r>
                <a:rPr lang="en-IE" sz="1800" b="1" u="sng" dirty="0">
                  <a:solidFill>
                    <a:srgbClr val="00B0F0"/>
                  </a:solidFill>
                  <a:latin typeface="AvenirNext LT Pro Bold"/>
                  <a:ea typeface="+mj-ea"/>
                  <a:cs typeface="+mj-cs"/>
                </a:rPr>
                <a:t>Link to </a:t>
              </a:r>
              <a:r>
                <a:rPr lang="en-IE" b="1" u="sng" dirty="0">
                  <a:solidFill>
                    <a:srgbClr val="00B0F0"/>
                  </a:solidFill>
                  <a:latin typeface="AvenirNext LT Pro Bold"/>
                  <a:ea typeface="+mj-ea"/>
                  <a:cs typeface="+mj-cs"/>
                </a:rPr>
                <a:t>Condition Monitoring</a:t>
              </a:r>
              <a:r>
                <a:rPr lang="en-IE" sz="1800" b="1" u="sng" dirty="0">
                  <a:solidFill>
                    <a:srgbClr val="00B0F0"/>
                  </a:solidFill>
                  <a:latin typeface="AvenirNext LT Pro Bold"/>
                  <a:ea typeface="+mj-ea"/>
                  <a:cs typeface="+mj-cs"/>
                </a:rPr>
                <a:t> video</a:t>
              </a:r>
            </a:p>
          </p:txBody>
        </p:sp>
        <p:pic>
          <p:nvPicPr>
            <p:cNvPr id="9" name="Picture 8">
              <a:extLst>
                <a:ext uri="{FF2B5EF4-FFF2-40B4-BE49-F238E27FC236}">
                  <a16:creationId xmlns:a16="http://schemas.microsoft.com/office/drawing/2014/main" id="{DC270710-56A9-B099-5ED8-E4040DB76F73}"/>
                </a:ext>
              </a:extLst>
            </p:cNvPr>
            <p:cNvPicPr>
              <a:picLocks noChangeAspect="1"/>
            </p:cNvPicPr>
            <p:nvPr/>
          </p:nvPicPr>
          <p:blipFill>
            <a:blip r:embed="rId5"/>
            <a:stretch>
              <a:fillRect/>
            </a:stretch>
          </p:blipFill>
          <p:spPr>
            <a:xfrm>
              <a:off x="675565" y="1687664"/>
              <a:ext cx="1627390" cy="1360973"/>
            </a:xfrm>
            <a:prstGeom prst="rect">
              <a:avLst/>
            </a:prstGeom>
          </p:spPr>
        </p:pic>
      </p:grpSp>
      <p:pic>
        <p:nvPicPr>
          <p:cNvPr id="10" name="Picture 9" descr="A close-up of a black round object&#10;&#10;Description automatically generated">
            <a:extLst>
              <a:ext uri="{FF2B5EF4-FFF2-40B4-BE49-F238E27FC236}">
                <a16:creationId xmlns:a16="http://schemas.microsoft.com/office/drawing/2014/main" id="{7E7F6B8A-C25E-7F4A-1972-137547D85E54}"/>
              </a:ext>
            </a:extLst>
          </p:cNvPr>
          <p:cNvPicPr>
            <a:picLocks noChangeAspect="1"/>
          </p:cNvPicPr>
          <p:nvPr/>
        </p:nvPicPr>
        <p:blipFill>
          <a:blip r:embed="rId6"/>
          <a:stretch>
            <a:fillRect/>
          </a:stretch>
        </p:blipFill>
        <p:spPr>
          <a:xfrm>
            <a:off x="763214" y="4114643"/>
            <a:ext cx="723127" cy="900844"/>
          </a:xfrm>
          <a:prstGeom prst="rect">
            <a:avLst/>
          </a:prstGeom>
        </p:spPr>
      </p:pic>
      <p:sp>
        <p:nvSpPr>
          <p:cNvPr id="11" name="TextBox 10">
            <a:extLst>
              <a:ext uri="{FF2B5EF4-FFF2-40B4-BE49-F238E27FC236}">
                <a16:creationId xmlns:a16="http://schemas.microsoft.com/office/drawing/2014/main" id="{0F89E09C-0819-14CE-D2CC-E89872E0FD5B}"/>
              </a:ext>
            </a:extLst>
          </p:cNvPr>
          <p:cNvSpPr txBox="1"/>
          <p:nvPr/>
        </p:nvSpPr>
        <p:spPr>
          <a:xfrm>
            <a:off x="2060867" y="3931797"/>
            <a:ext cx="4288125" cy="1465209"/>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R70 Serial Radios</a:t>
            </a:r>
            <a:br>
              <a:rPr lang="en-IE" sz="1400" dirty="0">
                <a:solidFill>
                  <a:srgbClr val="0A597A"/>
                </a:solidFill>
                <a:latin typeface="AvenirNext LT Pro Bold" panose="020B0804020202020204"/>
                <a:ea typeface="+mj-ea"/>
                <a:cs typeface="+mj-cs"/>
              </a:rPr>
            </a:br>
            <a:r>
              <a:rPr lang="en-IE" sz="1400" dirty="0">
                <a:solidFill>
                  <a:srgbClr val="0A597A"/>
                </a:solidFill>
                <a:latin typeface="AvenirNext LT Pro Bold" panose="020B0804020202020204"/>
                <a:ea typeface="+mj-ea"/>
                <a:cs typeface="+mj-cs"/>
              </a:rPr>
              <a:t>Highly flexible, low-power wireless devices which can be configured as a Master, Repeater or Slave.</a:t>
            </a:r>
          </a:p>
          <a:p>
            <a:pPr>
              <a:lnSpc>
                <a:spcPct val="107000"/>
              </a:lnSpc>
            </a:pPr>
            <a:r>
              <a:rPr lang="en-IE" sz="1400" dirty="0">
                <a:solidFill>
                  <a:srgbClr val="0A597A"/>
                </a:solidFill>
                <a:latin typeface="AvenirNext LT Pro Bold" panose="020B0804020202020204"/>
                <a:ea typeface="+mj-ea"/>
                <a:cs typeface="+mj-cs"/>
              </a:rPr>
              <a:t>MultiHop technology, which enables them to form self-healing, auto-routing mesh networks. Rugged design and reliable performance in industrial environments.</a:t>
            </a:r>
          </a:p>
        </p:txBody>
      </p:sp>
    </p:spTree>
    <p:extLst>
      <p:ext uri="{BB962C8B-B14F-4D97-AF65-F5344CB8AC3E}">
        <p14:creationId xmlns:p14="http://schemas.microsoft.com/office/powerpoint/2010/main" val="1879047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B9647-C351-73E1-B4D5-8386A45556A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38903D5-8D95-F7D3-4758-3F9E16AD0757}"/>
              </a:ext>
            </a:extLst>
          </p:cNvPr>
          <p:cNvSpPr txBox="1"/>
          <p:nvPr/>
        </p:nvSpPr>
        <p:spPr>
          <a:xfrm>
            <a:off x="763215" y="200455"/>
            <a:ext cx="4218218"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IIoT Toolkit </a:t>
            </a:r>
            <a:r>
              <a:rPr lang="en-GB" sz="2000" b="1" dirty="0">
                <a:solidFill>
                  <a:srgbClr val="0A597A"/>
                </a:solidFill>
                <a:latin typeface="AvenirNext LT Pro Bold" panose="020B0804020202020204"/>
                <a:ea typeface="+mj-ea"/>
                <a:cs typeface="+mj-cs"/>
              </a:rPr>
              <a:t>(kit #5)</a:t>
            </a:r>
          </a:p>
          <a:p>
            <a:pPr>
              <a:lnSpc>
                <a:spcPct val="107000"/>
              </a:lnSpc>
              <a:spcAft>
                <a:spcPts val="300"/>
              </a:spcAft>
            </a:pPr>
            <a:r>
              <a:rPr lang="en-GB" sz="1400" dirty="0">
                <a:solidFill>
                  <a:srgbClr val="0A597A"/>
                </a:solidFill>
                <a:latin typeface="AvenirNext LT Pro Bold" panose="020B0804020202020204"/>
                <a:ea typeface="+mj-ea"/>
                <a:cs typeface="+mj-cs"/>
              </a:rPr>
              <a:t>Highly flexible, scalable and quick to install</a:t>
            </a:r>
            <a:endParaRPr lang="en-IE" sz="1400" dirty="0">
              <a:solidFill>
                <a:srgbClr val="0A597A"/>
              </a:solidFill>
              <a:latin typeface="AvenirNext LT Pro Bold" panose="020B0804020202020204"/>
              <a:ea typeface="+mj-ea"/>
              <a:cs typeface="+mj-cs"/>
            </a:endParaRPr>
          </a:p>
        </p:txBody>
      </p:sp>
      <p:sp>
        <p:nvSpPr>
          <p:cNvPr id="24" name="TextBox 23">
            <a:extLst>
              <a:ext uri="{FF2B5EF4-FFF2-40B4-BE49-F238E27FC236}">
                <a16:creationId xmlns:a16="http://schemas.microsoft.com/office/drawing/2014/main" id="{B4A70445-294F-EB04-D70D-27B160D52E26}"/>
              </a:ext>
            </a:extLst>
          </p:cNvPr>
          <p:cNvSpPr txBox="1"/>
          <p:nvPr/>
        </p:nvSpPr>
        <p:spPr>
          <a:xfrm>
            <a:off x="4771103" y="2002601"/>
            <a:ext cx="1927970" cy="1004186"/>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LED Segment for </a:t>
            </a:r>
          </a:p>
          <a:p>
            <a:pPr>
              <a:lnSpc>
                <a:spcPct val="107000"/>
              </a:lnSpc>
            </a:pPr>
            <a:r>
              <a:rPr lang="en-IE" sz="1400" b="1" dirty="0">
                <a:solidFill>
                  <a:srgbClr val="0A597A"/>
                </a:solidFill>
                <a:latin typeface="AvenirNext LT Pro Bold" panose="020B0804020202020204"/>
                <a:ea typeface="+mj-ea"/>
                <a:cs typeface="+mj-cs"/>
              </a:rPr>
              <a:t>State</a:t>
            </a:r>
            <a:r>
              <a:rPr lang="en-IE" sz="1400" dirty="0">
                <a:solidFill>
                  <a:srgbClr val="0A597A"/>
                </a:solidFill>
                <a:latin typeface="AvenirNext LT Pro Bold" panose="020B0804020202020204"/>
                <a:ea typeface="+mj-ea"/>
                <a:cs typeface="+mj-cs"/>
              </a:rPr>
              <a:t> or </a:t>
            </a:r>
            <a:r>
              <a:rPr lang="en-IE" sz="1400" b="1" i="1" dirty="0">
                <a:solidFill>
                  <a:srgbClr val="0A597A"/>
                </a:solidFill>
                <a:latin typeface="AvenirNext LT Pro Bold" panose="020B0804020202020204"/>
                <a:ea typeface="+mj-ea"/>
                <a:cs typeface="+mj-cs"/>
              </a:rPr>
              <a:t>Call-for-Help</a:t>
            </a:r>
            <a:r>
              <a:rPr lang="en-IE" sz="1400" dirty="0">
                <a:solidFill>
                  <a:srgbClr val="0A597A"/>
                </a:solidFill>
                <a:latin typeface="AvenirNext LT Pro Bold" panose="020B0804020202020204"/>
                <a:ea typeface="+mj-ea"/>
                <a:cs typeface="+mj-cs"/>
              </a:rPr>
              <a:t> programmable with 14 colours</a:t>
            </a:r>
          </a:p>
        </p:txBody>
      </p:sp>
      <p:sp>
        <p:nvSpPr>
          <p:cNvPr id="26" name="TextBox 25">
            <a:extLst>
              <a:ext uri="{FF2B5EF4-FFF2-40B4-BE49-F238E27FC236}">
                <a16:creationId xmlns:a16="http://schemas.microsoft.com/office/drawing/2014/main" id="{9DD87843-669F-7962-0FB5-F0884E5E0660}"/>
              </a:ext>
            </a:extLst>
          </p:cNvPr>
          <p:cNvSpPr txBox="1"/>
          <p:nvPr/>
        </p:nvSpPr>
        <p:spPr>
          <a:xfrm>
            <a:off x="4771103" y="3508505"/>
            <a:ext cx="1927970" cy="773673"/>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Wireless Node for State with high speed counter</a:t>
            </a:r>
          </a:p>
        </p:txBody>
      </p:sp>
      <p:sp>
        <p:nvSpPr>
          <p:cNvPr id="28" name="TextBox 27">
            <a:extLst>
              <a:ext uri="{FF2B5EF4-FFF2-40B4-BE49-F238E27FC236}">
                <a16:creationId xmlns:a16="http://schemas.microsoft.com/office/drawing/2014/main" id="{C267FEF8-DCC0-0358-ED90-BD71A328527B}"/>
              </a:ext>
            </a:extLst>
          </p:cNvPr>
          <p:cNvSpPr txBox="1"/>
          <p:nvPr/>
        </p:nvSpPr>
        <p:spPr>
          <a:xfrm>
            <a:off x="4771103" y="7534430"/>
            <a:ext cx="2036250" cy="773673"/>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Wireless Pendant for </a:t>
            </a:r>
            <a:r>
              <a:rPr lang="en-IE" sz="1400" b="1" i="1" dirty="0">
                <a:solidFill>
                  <a:srgbClr val="0A597A"/>
                </a:solidFill>
                <a:latin typeface="AvenirNext LT Pro Bold" panose="020B0804020202020204"/>
                <a:ea typeface="+mj-ea"/>
                <a:cs typeface="+mj-cs"/>
              </a:rPr>
              <a:t>Scrap </a:t>
            </a:r>
            <a:r>
              <a:rPr lang="en-IE" sz="1400" b="1" dirty="0">
                <a:solidFill>
                  <a:srgbClr val="0A597A"/>
                </a:solidFill>
                <a:latin typeface="AvenirNext LT Pro Bold" panose="020B0804020202020204"/>
                <a:ea typeface="+mj-ea"/>
                <a:cs typeface="+mj-cs"/>
              </a:rPr>
              <a:t>Count and</a:t>
            </a:r>
            <a:r>
              <a:rPr lang="en-IE" sz="1400" dirty="0">
                <a:solidFill>
                  <a:srgbClr val="0A597A"/>
                </a:solidFill>
                <a:latin typeface="AvenirNext LT Pro Bold" panose="020B0804020202020204"/>
                <a:ea typeface="+mj-ea"/>
                <a:cs typeface="+mj-cs"/>
              </a:rPr>
              <a:t> </a:t>
            </a:r>
            <a:r>
              <a:rPr lang="en-IE" sz="1400" b="1" dirty="0">
                <a:solidFill>
                  <a:srgbClr val="0A597A"/>
                </a:solidFill>
                <a:latin typeface="AvenirNext LT Pro Bold" panose="020B0804020202020204"/>
                <a:ea typeface="+mj-ea"/>
                <a:cs typeface="+mj-cs"/>
              </a:rPr>
              <a:t>Reasons</a:t>
            </a:r>
            <a:r>
              <a:rPr lang="en-IE" sz="1400" dirty="0">
                <a:solidFill>
                  <a:srgbClr val="0A597A"/>
                </a:solidFill>
                <a:latin typeface="AvenirNext LT Pro Bold" panose="020B0804020202020204"/>
                <a:ea typeface="+mj-ea"/>
                <a:cs typeface="+mj-cs"/>
              </a:rPr>
              <a:t> </a:t>
            </a:r>
          </a:p>
          <a:p>
            <a:pPr>
              <a:lnSpc>
                <a:spcPct val="107000"/>
              </a:lnSpc>
            </a:pPr>
            <a:r>
              <a:rPr lang="en-IE" sz="1400" dirty="0">
                <a:solidFill>
                  <a:schemeClr val="bg1">
                    <a:lumMod val="65000"/>
                  </a:schemeClr>
                </a:solidFill>
                <a:latin typeface="AvenirNext LT Pro Bold" panose="020B0804020202020204"/>
                <a:ea typeface="+mj-ea"/>
                <a:cs typeface="+mj-cs"/>
              </a:rPr>
              <a:t>24v or Li-Ion powered</a:t>
            </a:r>
          </a:p>
        </p:txBody>
      </p:sp>
      <p:sp>
        <p:nvSpPr>
          <p:cNvPr id="30" name="TextBox 29">
            <a:extLst>
              <a:ext uri="{FF2B5EF4-FFF2-40B4-BE49-F238E27FC236}">
                <a16:creationId xmlns:a16="http://schemas.microsoft.com/office/drawing/2014/main" id="{01FCA06B-DB95-7DC7-5A94-65194F82695A}"/>
              </a:ext>
            </a:extLst>
          </p:cNvPr>
          <p:cNvSpPr txBox="1"/>
          <p:nvPr/>
        </p:nvSpPr>
        <p:spPr>
          <a:xfrm>
            <a:off x="4771103" y="5332036"/>
            <a:ext cx="1964065" cy="773673"/>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Product/Cycle Counter</a:t>
            </a:r>
            <a:br>
              <a:rPr lang="en-IE" sz="1400" dirty="0">
                <a:solidFill>
                  <a:srgbClr val="0A597A"/>
                </a:solidFill>
                <a:latin typeface="AvenirNext LT Pro Bold" panose="020B0804020202020204"/>
                <a:ea typeface="+mj-ea"/>
                <a:cs typeface="+mj-cs"/>
              </a:rPr>
            </a:br>
            <a:r>
              <a:rPr lang="en-IE" sz="1400" dirty="0">
                <a:solidFill>
                  <a:srgbClr val="0A597A"/>
                </a:solidFill>
                <a:latin typeface="AvenirNext LT Pro Bold" panose="020B0804020202020204"/>
                <a:ea typeface="+mj-ea"/>
                <a:cs typeface="+mj-cs"/>
              </a:rPr>
              <a:t>(required)</a:t>
            </a:r>
          </a:p>
          <a:p>
            <a:pPr>
              <a:lnSpc>
                <a:spcPct val="107000"/>
              </a:lnSpc>
            </a:pPr>
            <a:r>
              <a:rPr lang="en-IE" sz="1400" dirty="0">
                <a:solidFill>
                  <a:srgbClr val="0A597A"/>
                </a:solidFill>
                <a:latin typeface="AvenirNext LT Pro Bold" panose="020B0804020202020204"/>
                <a:ea typeface="+mj-ea"/>
                <a:cs typeface="+mj-cs"/>
              </a:rPr>
              <a:t>Derived </a:t>
            </a:r>
            <a:r>
              <a:rPr lang="en-IE" sz="1400" b="1" dirty="0">
                <a:solidFill>
                  <a:srgbClr val="0A597A"/>
                </a:solidFill>
                <a:latin typeface="AvenirNext LT Pro Bold" panose="020B0804020202020204"/>
                <a:ea typeface="+mj-ea"/>
                <a:cs typeface="+mj-cs"/>
              </a:rPr>
              <a:t>State</a:t>
            </a:r>
            <a:r>
              <a:rPr lang="en-IE" sz="1400" dirty="0">
                <a:solidFill>
                  <a:srgbClr val="0A597A"/>
                </a:solidFill>
                <a:latin typeface="AvenirNext LT Pro Bold" panose="020B0804020202020204"/>
                <a:ea typeface="+mj-ea"/>
                <a:cs typeface="+mj-cs"/>
              </a:rPr>
              <a:t> (optional)</a:t>
            </a:r>
          </a:p>
        </p:txBody>
      </p:sp>
      <p:sp>
        <p:nvSpPr>
          <p:cNvPr id="31" name="TextBox 30">
            <a:extLst>
              <a:ext uri="{FF2B5EF4-FFF2-40B4-BE49-F238E27FC236}">
                <a16:creationId xmlns:a16="http://schemas.microsoft.com/office/drawing/2014/main" id="{0D75B87C-672F-7CC9-7D2E-1A8AF5FC08F9}"/>
              </a:ext>
            </a:extLst>
          </p:cNvPr>
          <p:cNvSpPr txBox="1"/>
          <p:nvPr/>
        </p:nvSpPr>
        <p:spPr>
          <a:xfrm>
            <a:off x="4771103" y="4697222"/>
            <a:ext cx="1927970" cy="312650"/>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Stainless Steel bracket </a:t>
            </a:r>
          </a:p>
        </p:txBody>
      </p:sp>
      <p:sp>
        <p:nvSpPr>
          <p:cNvPr id="32" name="TextBox 31">
            <a:extLst>
              <a:ext uri="{FF2B5EF4-FFF2-40B4-BE49-F238E27FC236}">
                <a16:creationId xmlns:a16="http://schemas.microsoft.com/office/drawing/2014/main" id="{3866700A-DA18-CB87-683B-F66D59C823E6}"/>
              </a:ext>
            </a:extLst>
          </p:cNvPr>
          <p:cNvSpPr txBox="1"/>
          <p:nvPr/>
        </p:nvSpPr>
        <p:spPr>
          <a:xfrm>
            <a:off x="4771103" y="8582710"/>
            <a:ext cx="1896400" cy="773673"/>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Single 8-pin M12 quick disconnect cable (required)</a:t>
            </a:r>
          </a:p>
        </p:txBody>
      </p:sp>
      <p:sp>
        <p:nvSpPr>
          <p:cNvPr id="37" name="TextBox 36">
            <a:extLst>
              <a:ext uri="{FF2B5EF4-FFF2-40B4-BE49-F238E27FC236}">
                <a16:creationId xmlns:a16="http://schemas.microsoft.com/office/drawing/2014/main" id="{CFCC06FD-0FE3-933A-B19A-4544BE977D1A}"/>
              </a:ext>
            </a:extLst>
          </p:cNvPr>
          <p:cNvSpPr txBox="1"/>
          <p:nvPr/>
        </p:nvSpPr>
        <p:spPr>
          <a:xfrm>
            <a:off x="4771103" y="6394637"/>
            <a:ext cx="1896400" cy="773673"/>
          </a:xfrm>
          <a:prstGeom prst="rect">
            <a:avLst/>
          </a:prstGeom>
          <a:noFill/>
        </p:spPr>
        <p:txBody>
          <a:bodyPr wrap="square">
            <a:spAutoFit/>
          </a:bodyPr>
          <a:lstStyle/>
          <a:p>
            <a:pPr>
              <a:lnSpc>
                <a:spcPct val="107000"/>
              </a:lnSpc>
            </a:pPr>
            <a:r>
              <a:rPr lang="en-IE" sz="1400" i="1" dirty="0">
                <a:solidFill>
                  <a:srgbClr val="0A597A"/>
                </a:solidFill>
                <a:latin typeface="AvenirNext LT Pro Bold" panose="020B0804020202020204"/>
                <a:ea typeface="+mj-ea"/>
                <a:cs typeface="+mj-cs"/>
              </a:rPr>
              <a:t>Call-for-Help</a:t>
            </a:r>
            <a:r>
              <a:rPr lang="en-IE" sz="1400" dirty="0">
                <a:solidFill>
                  <a:srgbClr val="0A597A"/>
                </a:solidFill>
                <a:latin typeface="AvenirNext LT Pro Bold" panose="020B0804020202020204"/>
                <a:ea typeface="+mj-ea"/>
                <a:cs typeface="+mj-cs"/>
              </a:rPr>
              <a:t> button</a:t>
            </a:r>
          </a:p>
          <a:p>
            <a:pPr>
              <a:lnSpc>
                <a:spcPct val="107000"/>
              </a:lnSpc>
            </a:pPr>
            <a:r>
              <a:rPr lang="en-IE" sz="1400" i="1" dirty="0">
                <a:solidFill>
                  <a:srgbClr val="0A597A"/>
                </a:solidFill>
                <a:latin typeface="AvenirNext LT Pro Bold" panose="020B0804020202020204"/>
                <a:ea typeface="+mj-ea"/>
                <a:cs typeface="+mj-cs"/>
              </a:rPr>
              <a:t>Set-up Mode</a:t>
            </a:r>
            <a:r>
              <a:rPr lang="en-IE" sz="1400" dirty="0">
                <a:solidFill>
                  <a:srgbClr val="0A597A"/>
                </a:solidFill>
                <a:latin typeface="AvenirNext LT Pro Bold" panose="020B0804020202020204"/>
                <a:ea typeface="+mj-ea"/>
                <a:cs typeface="+mj-cs"/>
              </a:rPr>
              <a:t> selector switch</a:t>
            </a:r>
          </a:p>
        </p:txBody>
      </p:sp>
      <p:grpSp>
        <p:nvGrpSpPr>
          <p:cNvPr id="12" name="Group 11">
            <a:extLst>
              <a:ext uri="{FF2B5EF4-FFF2-40B4-BE49-F238E27FC236}">
                <a16:creationId xmlns:a16="http://schemas.microsoft.com/office/drawing/2014/main" id="{0A205114-2926-F21C-EE1C-98F272B61532}"/>
              </a:ext>
            </a:extLst>
          </p:cNvPr>
          <p:cNvGrpSpPr/>
          <p:nvPr/>
        </p:nvGrpSpPr>
        <p:grpSpPr>
          <a:xfrm>
            <a:off x="281057" y="1948399"/>
            <a:ext cx="4342363" cy="7302104"/>
            <a:chOff x="281057" y="1948399"/>
            <a:chExt cx="4342363" cy="7302104"/>
          </a:xfrm>
        </p:grpSpPr>
        <p:pic>
          <p:nvPicPr>
            <p:cNvPr id="25" name="Picture 24" descr="A picture containing metalware, opener&#10;&#10;Description automatically generated">
              <a:extLst>
                <a:ext uri="{FF2B5EF4-FFF2-40B4-BE49-F238E27FC236}">
                  <a16:creationId xmlns:a16="http://schemas.microsoft.com/office/drawing/2014/main" id="{0BAEECAA-EC13-B37B-B364-C19963DCA3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057" y="4388233"/>
              <a:ext cx="1260000" cy="1260000"/>
            </a:xfrm>
            <a:prstGeom prst="rect">
              <a:avLst/>
            </a:prstGeom>
          </p:spPr>
        </p:pic>
        <p:pic>
          <p:nvPicPr>
            <p:cNvPr id="5" name="Picture 4" descr="A picture containing gear&#10;&#10;Description automatically generated">
              <a:extLst>
                <a:ext uri="{FF2B5EF4-FFF2-40B4-BE49-F238E27FC236}">
                  <a16:creationId xmlns:a16="http://schemas.microsoft.com/office/drawing/2014/main" id="{D8E6CA29-F6B1-517C-48EB-EB3CEF3EF5D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9291" t="22904" r="36850" b="30895"/>
            <a:stretch/>
          </p:blipFill>
          <p:spPr>
            <a:xfrm>
              <a:off x="512435" y="3208926"/>
              <a:ext cx="1201254" cy="1307247"/>
            </a:xfrm>
            <a:prstGeom prst="rect">
              <a:avLst/>
            </a:prstGeom>
          </p:spPr>
        </p:pic>
        <p:pic>
          <p:nvPicPr>
            <p:cNvPr id="9" name="Picture 8">
              <a:extLst>
                <a:ext uri="{FF2B5EF4-FFF2-40B4-BE49-F238E27FC236}">
                  <a16:creationId xmlns:a16="http://schemas.microsoft.com/office/drawing/2014/main" id="{66736494-1809-F938-69A6-BD9CA746A8E4}"/>
                </a:ext>
              </a:extLst>
            </p:cNvPr>
            <p:cNvPicPr>
              <a:picLocks noChangeAspect="1"/>
            </p:cNvPicPr>
            <p:nvPr/>
          </p:nvPicPr>
          <p:blipFill>
            <a:blip r:embed="rId4"/>
            <a:stretch>
              <a:fillRect/>
            </a:stretch>
          </p:blipFill>
          <p:spPr>
            <a:xfrm flipH="1">
              <a:off x="3186339" y="7368264"/>
              <a:ext cx="946013" cy="1082517"/>
            </a:xfrm>
            <a:prstGeom prst="rect">
              <a:avLst/>
            </a:prstGeom>
          </p:spPr>
        </p:pic>
        <p:pic>
          <p:nvPicPr>
            <p:cNvPr id="19" name="Picture 18" descr="A picture containing light, gear&#10;&#10;Description automatically generated">
              <a:extLst>
                <a:ext uri="{FF2B5EF4-FFF2-40B4-BE49-F238E27FC236}">
                  <a16:creationId xmlns:a16="http://schemas.microsoft.com/office/drawing/2014/main" id="{9455763C-AAE9-2B4F-B4C2-B1A86EC6960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334" t="20164" r="14431" b="22730"/>
            <a:stretch/>
          </p:blipFill>
          <p:spPr>
            <a:xfrm rot="16200000" flipH="1">
              <a:off x="714243" y="7601930"/>
              <a:ext cx="887814" cy="504000"/>
            </a:xfrm>
            <a:prstGeom prst="rect">
              <a:avLst/>
            </a:prstGeom>
          </p:spPr>
        </p:pic>
        <p:pic>
          <p:nvPicPr>
            <p:cNvPr id="21" name="Picture 20" descr="A picture containing light, gear&#10;&#10;Description automatically generated">
              <a:extLst>
                <a:ext uri="{FF2B5EF4-FFF2-40B4-BE49-F238E27FC236}">
                  <a16:creationId xmlns:a16="http://schemas.microsoft.com/office/drawing/2014/main" id="{B83A4B03-A347-3F91-FC9A-F91207A24EA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334" t="20164" r="14431" b="22730"/>
            <a:stretch/>
          </p:blipFill>
          <p:spPr>
            <a:xfrm rot="16200000" flipH="1">
              <a:off x="714245" y="5406216"/>
              <a:ext cx="887813" cy="504000"/>
            </a:xfrm>
            <a:prstGeom prst="rect">
              <a:avLst/>
            </a:prstGeom>
          </p:spPr>
        </p:pic>
        <p:pic>
          <p:nvPicPr>
            <p:cNvPr id="29" name="Picture 28" descr="A picture containing chart&#10;&#10;Description automatically generated">
              <a:extLst>
                <a:ext uri="{FF2B5EF4-FFF2-40B4-BE49-F238E27FC236}">
                  <a16:creationId xmlns:a16="http://schemas.microsoft.com/office/drawing/2014/main" id="{30212997-683B-0CAD-F5D0-B4D0D5DF1486}"/>
                </a:ext>
              </a:extLst>
            </p:cNvPr>
            <p:cNvPicPr>
              <a:picLocks noChangeAspect="1"/>
            </p:cNvPicPr>
            <p:nvPr/>
          </p:nvPicPr>
          <p:blipFill rotWithShape="1">
            <a:blip r:embed="rId6">
              <a:extLst>
                <a:ext uri="{28A0092B-C50C-407E-A947-70E740481C1C}">
                  <a14:useLocalDpi xmlns:a14="http://schemas.microsoft.com/office/drawing/2010/main" val="0"/>
                </a:ext>
              </a:extLst>
            </a:blip>
            <a:srcRect l="20962" t="19447" r="20430" b="19023"/>
            <a:stretch/>
          </p:blipFill>
          <p:spPr>
            <a:xfrm>
              <a:off x="540083" y="1948399"/>
              <a:ext cx="1200551" cy="1260402"/>
            </a:xfrm>
            <a:prstGeom prst="rect">
              <a:avLst/>
            </a:prstGeom>
          </p:spPr>
        </p:pic>
        <p:pic>
          <p:nvPicPr>
            <p:cNvPr id="6" name="Picture 5" descr="Shape, circle&#10;&#10;Description automatically generated">
              <a:extLst>
                <a:ext uri="{FF2B5EF4-FFF2-40B4-BE49-F238E27FC236}">
                  <a16:creationId xmlns:a16="http://schemas.microsoft.com/office/drawing/2014/main" id="{795A39C5-FDA6-7661-03F0-BAD563E2A3B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76542" y="2193366"/>
              <a:ext cx="823150" cy="770468"/>
            </a:xfrm>
            <a:prstGeom prst="rect">
              <a:avLst/>
            </a:prstGeom>
          </p:spPr>
        </p:pic>
        <p:pic>
          <p:nvPicPr>
            <p:cNvPr id="10" name="Picture 9" descr="A picture containing microphone&#10;&#10;Description automatically generated">
              <a:extLst>
                <a:ext uri="{FF2B5EF4-FFF2-40B4-BE49-F238E27FC236}">
                  <a16:creationId xmlns:a16="http://schemas.microsoft.com/office/drawing/2014/main" id="{A6469DA7-DB7D-22E5-074A-072FFC2B7C36}"/>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21339" t="14832" r="22642"/>
            <a:stretch/>
          </p:blipFill>
          <p:spPr>
            <a:xfrm rot="16200000" flipH="1">
              <a:off x="2019581" y="5097359"/>
              <a:ext cx="248626" cy="1008000"/>
            </a:xfrm>
            <a:prstGeom prst="rect">
              <a:avLst/>
            </a:prstGeom>
          </p:spPr>
        </p:pic>
        <p:pic>
          <p:nvPicPr>
            <p:cNvPr id="20" name="Picture 19" descr="A picture containing microphone&#10;&#10;Description automatically generated">
              <a:extLst>
                <a:ext uri="{FF2B5EF4-FFF2-40B4-BE49-F238E27FC236}">
                  <a16:creationId xmlns:a16="http://schemas.microsoft.com/office/drawing/2014/main" id="{C0892003-72C4-6662-EBEB-D85DD6BDB51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21339" t="14832" r="22642"/>
            <a:stretch/>
          </p:blipFill>
          <p:spPr>
            <a:xfrm rot="16200000" flipH="1">
              <a:off x="2019581" y="7299049"/>
              <a:ext cx="248626" cy="1008000"/>
            </a:xfrm>
            <a:prstGeom prst="rect">
              <a:avLst/>
            </a:prstGeom>
          </p:spPr>
        </p:pic>
        <p:pic>
          <p:nvPicPr>
            <p:cNvPr id="35" name="Picture 34" descr="A picture containing light, gear&#10;&#10;Description automatically generated">
              <a:extLst>
                <a:ext uri="{FF2B5EF4-FFF2-40B4-BE49-F238E27FC236}">
                  <a16:creationId xmlns:a16="http://schemas.microsoft.com/office/drawing/2014/main" id="{041D14C3-A1FC-F58E-8498-3729B44D3E3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334" t="20164" r="14431" b="22730"/>
            <a:stretch/>
          </p:blipFill>
          <p:spPr>
            <a:xfrm rot="16200000" flipH="1">
              <a:off x="714243" y="6511673"/>
              <a:ext cx="887814" cy="504000"/>
            </a:xfrm>
            <a:prstGeom prst="rect">
              <a:avLst/>
            </a:prstGeom>
          </p:spPr>
        </p:pic>
        <p:pic>
          <p:nvPicPr>
            <p:cNvPr id="36" name="Picture 35" descr="A picture containing microphone&#10;&#10;Description automatically generated">
              <a:extLst>
                <a:ext uri="{FF2B5EF4-FFF2-40B4-BE49-F238E27FC236}">
                  <a16:creationId xmlns:a16="http://schemas.microsoft.com/office/drawing/2014/main" id="{FA96A0C2-D98F-65E9-03C1-018EDF109C9B}"/>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21339" t="14832" r="22642"/>
            <a:stretch/>
          </p:blipFill>
          <p:spPr>
            <a:xfrm rot="16200000" flipH="1">
              <a:off x="2019581" y="6202816"/>
              <a:ext cx="248626" cy="1008000"/>
            </a:xfrm>
            <a:prstGeom prst="rect">
              <a:avLst/>
            </a:prstGeom>
          </p:spPr>
        </p:pic>
        <p:pic>
          <p:nvPicPr>
            <p:cNvPr id="38" name="Picture 37">
              <a:extLst>
                <a:ext uri="{FF2B5EF4-FFF2-40B4-BE49-F238E27FC236}">
                  <a16:creationId xmlns:a16="http://schemas.microsoft.com/office/drawing/2014/main" id="{61B834B7-A924-25BA-6B12-34823905CD70}"/>
                </a:ext>
              </a:extLst>
            </p:cNvPr>
            <p:cNvPicPr>
              <a:picLocks noChangeAspect="1"/>
            </p:cNvPicPr>
            <p:nvPr/>
          </p:nvPicPr>
          <p:blipFill rotWithShape="1">
            <a:blip r:embed="rId9"/>
            <a:srcRect r="50529"/>
            <a:stretch/>
          </p:blipFill>
          <p:spPr>
            <a:xfrm>
              <a:off x="3555009" y="5259344"/>
              <a:ext cx="390580" cy="864000"/>
            </a:xfrm>
            <a:prstGeom prst="rect">
              <a:avLst/>
            </a:prstGeom>
          </p:spPr>
        </p:pic>
        <p:grpSp>
          <p:nvGrpSpPr>
            <p:cNvPr id="15" name="Group 14">
              <a:extLst>
                <a:ext uri="{FF2B5EF4-FFF2-40B4-BE49-F238E27FC236}">
                  <a16:creationId xmlns:a16="http://schemas.microsoft.com/office/drawing/2014/main" id="{B275F5D4-543F-EBEA-49EA-3E4E559C9BAC}"/>
                </a:ext>
              </a:extLst>
            </p:cNvPr>
            <p:cNvGrpSpPr/>
            <p:nvPr/>
          </p:nvGrpSpPr>
          <p:grpSpPr>
            <a:xfrm>
              <a:off x="1685627" y="8648823"/>
              <a:ext cx="1210916" cy="525048"/>
              <a:chOff x="1924493" y="8896902"/>
              <a:chExt cx="1210916" cy="525048"/>
            </a:xfrm>
          </p:grpSpPr>
          <p:cxnSp>
            <p:nvCxnSpPr>
              <p:cNvPr id="14" name="Straight Connector 13">
                <a:extLst>
                  <a:ext uri="{FF2B5EF4-FFF2-40B4-BE49-F238E27FC236}">
                    <a16:creationId xmlns:a16="http://schemas.microsoft.com/office/drawing/2014/main" id="{1AEDB293-A664-1089-FC3F-7425EBB4EEDC}"/>
                  </a:ext>
                </a:extLst>
              </p:cNvPr>
              <p:cNvCxnSpPr/>
              <p:nvPr/>
            </p:nvCxnSpPr>
            <p:spPr>
              <a:xfrm>
                <a:off x="1924493" y="9080325"/>
                <a:ext cx="669851" cy="0"/>
              </a:xfrm>
              <a:prstGeom prst="line">
                <a:avLst/>
              </a:prstGeom>
              <a:ln w="381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CEC6D68-0271-9037-2D2D-968C75739E91}"/>
                  </a:ext>
                </a:extLst>
              </p:cNvPr>
              <p:cNvCxnSpPr/>
              <p:nvPr/>
            </p:nvCxnSpPr>
            <p:spPr>
              <a:xfrm>
                <a:off x="1924493" y="9275401"/>
                <a:ext cx="66985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130084F8-B090-3193-B36F-B25699FB05AD}"/>
                  </a:ext>
                </a:extLst>
              </p:cNvPr>
              <p:cNvSpPr txBox="1"/>
              <p:nvPr/>
            </p:nvSpPr>
            <p:spPr>
              <a:xfrm>
                <a:off x="2634462" y="8896902"/>
                <a:ext cx="320879" cy="312650"/>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a:t>
                </a:r>
              </a:p>
            </p:txBody>
          </p:sp>
          <p:sp>
            <p:nvSpPr>
              <p:cNvPr id="41" name="TextBox 40">
                <a:extLst>
                  <a:ext uri="{FF2B5EF4-FFF2-40B4-BE49-F238E27FC236}">
                    <a16:creationId xmlns:a16="http://schemas.microsoft.com/office/drawing/2014/main" id="{40274C50-1EB8-DBAD-6C1A-AF6DD0054916}"/>
                  </a:ext>
                </a:extLst>
              </p:cNvPr>
              <p:cNvSpPr txBox="1"/>
              <p:nvPr/>
            </p:nvSpPr>
            <p:spPr>
              <a:xfrm>
                <a:off x="2634462" y="9109300"/>
                <a:ext cx="320879" cy="312650"/>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a:t>
                </a:r>
              </a:p>
            </p:txBody>
          </p:sp>
          <p:sp>
            <p:nvSpPr>
              <p:cNvPr id="42" name="TextBox 41">
                <a:extLst>
                  <a:ext uri="{FF2B5EF4-FFF2-40B4-BE49-F238E27FC236}">
                    <a16:creationId xmlns:a16="http://schemas.microsoft.com/office/drawing/2014/main" id="{C19CC4DF-690B-AE90-169C-E428A459CF08}"/>
                  </a:ext>
                </a:extLst>
              </p:cNvPr>
              <p:cNvSpPr txBox="1"/>
              <p:nvPr/>
            </p:nvSpPr>
            <p:spPr>
              <a:xfrm>
                <a:off x="2515911" y="9075307"/>
                <a:ext cx="619498" cy="218265"/>
              </a:xfrm>
              <a:prstGeom prst="rect">
                <a:avLst/>
              </a:prstGeom>
              <a:noFill/>
            </p:spPr>
            <p:txBody>
              <a:bodyPr wrap="square">
                <a:spAutoFit/>
              </a:bodyPr>
              <a:lstStyle/>
              <a:p>
                <a:pPr>
                  <a:lnSpc>
                    <a:spcPct val="107000"/>
                  </a:lnSpc>
                </a:pPr>
                <a:r>
                  <a:rPr lang="en-IE" sz="800" dirty="0">
                    <a:solidFill>
                      <a:schemeClr val="bg1">
                        <a:lumMod val="65000"/>
                      </a:schemeClr>
                    </a:solidFill>
                    <a:latin typeface="AvenirNext LT Pro Bold" panose="020B0804020202020204"/>
                    <a:ea typeface="+mj-ea"/>
                    <a:cs typeface="+mj-cs"/>
                  </a:rPr>
                  <a:t>10-30v dc</a:t>
                </a:r>
              </a:p>
            </p:txBody>
          </p:sp>
        </p:grpSp>
        <p:pic>
          <p:nvPicPr>
            <p:cNvPr id="43" name="Picture 42">
              <a:extLst>
                <a:ext uri="{FF2B5EF4-FFF2-40B4-BE49-F238E27FC236}">
                  <a16:creationId xmlns:a16="http://schemas.microsoft.com/office/drawing/2014/main" id="{C623317A-F7F0-B51C-3FD9-DD09FBC57DC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5400000">
              <a:off x="2913033" y="3626341"/>
              <a:ext cx="550169" cy="550169"/>
            </a:xfrm>
            <a:prstGeom prst="rect">
              <a:avLst/>
            </a:prstGeom>
          </p:spPr>
        </p:pic>
        <p:pic>
          <p:nvPicPr>
            <p:cNvPr id="34" name="Picture 33">
              <a:extLst>
                <a:ext uri="{FF2B5EF4-FFF2-40B4-BE49-F238E27FC236}">
                  <a16:creationId xmlns:a16="http://schemas.microsoft.com/office/drawing/2014/main" id="{802CFD05-ED9B-18A2-B204-4F34F53EFBA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5400000">
              <a:off x="4132352" y="7729362"/>
              <a:ext cx="396000" cy="396000"/>
            </a:xfrm>
            <a:prstGeom prst="rect">
              <a:avLst/>
            </a:prstGeom>
          </p:spPr>
        </p:pic>
        <p:pic>
          <p:nvPicPr>
            <p:cNvPr id="3" name="Picture 2">
              <a:extLst>
                <a:ext uri="{FF2B5EF4-FFF2-40B4-BE49-F238E27FC236}">
                  <a16:creationId xmlns:a16="http://schemas.microsoft.com/office/drawing/2014/main" id="{F946CC6C-9F68-B859-FA1B-4076BE21E348}"/>
                </a:ext>
              </a:extLst>
            </p:cNvPr>
            <p:cNvPicPr>
              <a:picLocks noChangeAspect="1"/>
            </p:cNvPicPr>
            <p:nvPr/>
          </p:nvPicPr>
          <p:blipFill>
            <a:blip r:embed="rId11"/>
            <a:stretch>
              <a:fillRect/>
            </a:stretch>
          </p:blipFill>
          <p:spPr>
            <a:xfrm flipH="1">
              <a:off x="2913033" y="6370420"/>
              <a:ext cx="702313" cy="689544"/>
            </a:xfrm>
            <a:prstGeom prst="rect">
              <a:avLst/>
            </a:prstGeom>
          </p:spPr>
        </p:pic>
        <p:pic>
          <p:nvPicPr>
            <p:cNvPr id="17" name="Picture 16">
              <a:extLst>
                <a:ext uri="{FF2B5EF4-FFF2-40B4-BE49-F238E27FC236}">
                  <a16:creationId xmlns:a16="http://schemas.microsoft.com/office/drawing/2014/main" id="{A911F1E6-3D7B-D7FF-E5D9-A1051670760D}"/>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28855" t="14485" r="28321" b="19315"/>
            <a:stretch/>
          </p:blipFill>
          <p:spPr>
            <a:xfrm>
              <a:off x="922426" y="8494503"/>
              <a:ext cx="256691" cy="756000"/>
            </a:xfrm>
            <a:prstGeom prst="rect">
              <a:avLst/>
            </a:prstGeom>
          </p:spPr>
        </p:pic>
        <p:grpSp>
          <p:nvGrpSpPr>
            <p:cNvPr id="7" name="Group 6">
              <a:extLst>
                <a:ext uri="{FF2B5EF4-FFF2-40B4-BE49-F238E27FC236}">
                  <a16:creationId xmlns:a16="http://schemas.microsoft.com/office/drawing/2014/main" id="{F60B3CAF-5380-71FB-B169-D8F560B96BFA}"/>
                </a:ext>
              </a:extLst>
            </p:cNvPr>
            <p:cNvGrpSpPr/>
            <p:nvPr/>
          </p:nvGrpSpPr>
          <p:grpSpPr>
            <a:xfrm>
              <a:off x="3827863" y="6336254"/>
              <a:ext cx="795557" cy="733812"/>
              <a:chOff x="3827863" y="6336254"/>
              <a:chExt cx="795557" cy="733812"/>
            </a:xfrm>
          </p:grpSpPr>
          <p:pic>
            <p:nvPicPr>
              <p:cNvPr id="23" name="Picture 22" descr="A picture containing electronics&#10;&#10;Description automatically generated">
                <a:extLst>
                  <a:ext uri="{FF2B5EF4-FFF2-40B4-BE49-F238E27FC236}">
                    <a16:creationId xmlns:a16="http://schemas.microsoft.com/office/drawing/2014/main" id="{9E04CF99-C47F-661A-323D-0DBEE3086C52}"/>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827863" y="6336254"/>
                <a:ext cx="795557" cy="733812"/>
              </a:xfrm>
              <a:prstGeom prst="rect">
                <a:avLst/>
              </a:prstGeom>
            </p:spPr>
          </p:pic>
          <p:sp>
            <p:nvSpPr>
              <p:cNvPr id="4" name="Oval 3">
                <a:extLst>
                  <a:ext uri="{FF2B5EF4-FFF2-40B4-BE49-F238E27FC236}">
                    <a16:creationId xmlns:a16="http://schemas.microsoft.com/office/drawing/2014/main" id="{6CF38A84-8BC2-6CFE-A828-5F8EEEA53F3C}"/>
                  </a:ext>
                </a:extLst>
              </p:cNvPr>
              <p:cNvSpPr/>
              <p:nvPr/>
            </p:nvSpPr>
            <p:spPr>
              <a:xfrm>
                <a:off x="4135331" y="6421443"/>
                <a:ext cx="204345" cy="119347"/>
              </a:xfrm>
              <a:prstGeom prst="ellipse">
                <a:avLst/>
              </a:prstGeom>
              <a:solidFill>
                <a:srgbClr val="007D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sp>
        <p:nvSpPr>
          <p:cNvPr id="2" name="TextBox 1">
            <a:extLst>
              <a:ext uri="{FF2B5EF4-FFF2-40B4-BE49-F238E27FC236}">
                <a16:creationId xmlns:a16="http://schemas.microsoft.com/office/drawing/2014/main" id="{7D62366E-3D1E-60AD-D30D-27351A7DB4F0}"/>
              </a:ext>
            </a:extLst>
          </p:cNvPr>
          <p:cNvSpPr txBox="1"/>
          <p:nvPr/>
        </p:nvSpPr>
        <p:spPr>
          <a:xfrm>
            <a:off x="763214" y="1100425"/>
            <a:ext cx="5855483" cy="523220"/>
          </a:xfrm>
          <a:prstGeom prst="rect">
            <a:avLst/>
          </a:prstGeom>
          <a:noFill/>
        </p:spPr>
        <p:txBody>
          <a:bodyPr wrap="square">
            <a:spAutoFit/>
          </a:bodyPr>
          <a:lstStyle/>
          <a:p>
            <a:r>
              <a:rPr lang="en-IE" sz="1400" b="1" dirty="0">
                <a:solidFill>
                  <a:srgbClr val="0A597A"/>
                </a:solidFill>
                <a:latin typeface="AvenirNext LT Pro Bold" panose="020B0804020202020204"/>
                <a:ea typeface="+mj-ea"/>
                <a:cs typeface="+mj-cs"/>
              </a:rPr>
              <a:t>Complete solution to wirelessly capture real-time production output and state, from any manual workstation or automated production unit</a:t>
            </a:r>
            <a:endParaRPr lang="en-GB" sz="1400" b="1" dirty="0">
              <a:solidFill>
                <a:srgbClr val="0A597A"/>
              </a:solidFill>
              <a:latin typeface="AvenirNext LT Pro Bold" panose="020B0804020202020204"/>
              <a:ea typeface="+mj-ea"/>
              <a:cs typeface="+mj-cs"/>
            </a:endParaRPr>
          </a:p>
        </p:txBody>
      </p:sp>
      <p:sp>
        <p:nvSpPr>
          <p:cNvPr id="11" name="Action Button: Go Home 10">
            <a:hlinkClick r:id="rId14" action="ppaction://hlinksldjump" highlightClick="1"/>
            <a:hlinkHover r:id="" action="ppaction://hlinkshowjump?jump=firstslide"/>
            <a:extLst>
              <a:ext uri="{FF2B5EF4-FFF2-40B4-BE49-F238E27FC236}">
                <a16:creationId xmlns:a16="http://schemas.microsoft.com/office/drawing/2014/main" id="{07164500-D682-194C-3FC4-07D16AF72096}"/>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929392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E6B7F8-87CC-3CC1-7EEC-750E8D17315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2541723-EA44-799C-484D-72102A703072}"/>
              </a:ext>
            </a:extLst>
          </p:cNvPr>
          <p:cNvSpPr txBox="1"/>
          <p:nvPr/>
        </p:nvSpPr>
        <p:spPr>
          <a:xfrm>
            <a:off x="763215" y="200455"/>
            <a:ext cx="4218218"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IIoT Toolkit </a:t>
            </a:r>
            <a:r>
              <a:rPr lang="en-GB" sz="2000" b="1" dirty="0">
                <a:solidFill>
                  <a:srgbClr val="0A597A"/>
                </a:solidFill>
                <a:latin typeface="AvenirNext LT Pro Bold" panose="020B0804020202020204"/>
                <a:ea typeface="+mj-ea"/>
                <a:cs typeface="+mj-cs"/>
              </a:rPr>
              <a:t>(kit #5)</a:t>
            </a:r>
          </a:p>
          <a:p>
            <a:pPr>
              <a:lnSpc>
                <a:spcPct val="107000"/>
              </a:lnSpc>
              <a:spcAft>
                <a:spcPts val="300"/>
              </a:spcAft>
            </a:pPr>
            <a:r>
              <a:rPr lang="en-GB" sz="1400" dirty="0">
                <a:solidFill>
                  <a:srgbClr val="0A597A"/>
                </a:solidFill>
                <a:latin typeface="AvenirNext LT Pro Bold" panose="020B0804020202020204"/>
                <a:ea typeface="+mj-ea"/>
                <a:cs typeface="+mj-cs"/>
              </a:rPr>
              <a:t>Highly flexible, scalable and quick to install</a:t>
            </a:r>
            <a:endParaRPr lang="en-IE" sz="1400" dirty="0">
              <a:solidFill>
                <a:srgbClr val="0A597A"/>
              </a:solidFill>
              <a:latin typeface="AvenirNext LT Pro Bold" panose="020B0804020202020204"/>
              <a:ea typeface="+mj-ea"/>
              <a:cs typeface="+mj-cs"/>
            </a:endParaRPr>
          </a:p>
        </p:txBody>
      </p:sp>
      <p:sp>
        <p:nvSpPr>
          <p:cNvPr id="24" name="TextBox 23">
            <a:extLst>
              <a:ext uri="{FF2B5EF4-FFF2-40B4-BE49-F238E27FC236}">
                <a16:creationId xmlns:a16="http://schemas.microsoft.com/office/drawing/2014/main" id="{3AF6974F-C505-1C9A-200B-452C4F991238}"/>
              </a:ext>
            </a:extLst>
          </p:cNvPr>
          <p:cNvSpPr txBox="1"/>
          <p:nvPr/>
        </p:nvSpPr>
        <p:spPr>
          <a:xfrm>
            <a:off x="4771103" y="2002601"/>
            <a:ext cx="1927970" cy="1004186"/>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LED Segment for </a:t>
            </a:r>
          </a:p>
          <a:p>
            <a:pPr>
              <a:lnSpc>
                <a:spcPct val="107000"/>
              </a:lnSpc>
            </a:pPr>
            <a:r>
              <a:rPr lang="en-IE" sz="1400" b="1" dirty="0">
                <a:solidFill>
                  <a:srgbClr val="0A597A"/>
                </a:solidFill>
                <a:latin typeface="AvenirNext LT Pro Bold" panose="020B0804020202020204"/>
                <a:ea typeface="+mj-ea"/>
                <a:cs typeface="+mj-cs"/>
              </a:rPr>
              <a:t>State</a:t>
            </a:r>
            <a:r>
              <a:rPr lang="en-IE" sz="1400" dirty="0">
                <a:solidFill>
                  <a:srgbClr val="0A597A"/>
                </a:solidFill>
                <a:latin typeface="AvenirNext LT Pro Bold" panose="020B0804020202020204"/>
                <a:ea typeface="+mj-ea"/>
                <a:cs typeface="+mj-cs"/>
              </a:rPr>
              <a:t> or </a:t>
            </a:r>
            <a:r>
              <a:rPr lang="en-IE" sz="1400" b="1" i="1" dirty="0">
                <a:solidFill>
                  <a:srgbClr val="0A597A"/>
                </a:solidFill>
                <a:latin typeface="AvenirNext LT Pro Bold" panose="020B0804020202020204"/>
                <a:ea typeface="+mj-ea"/>
                <a:cs typeface="+mj-cs"/>
              </a:rPr>
              <a:t>Call-for-Help</a:t>
            </a:r>
            <a:r>
              <a:rPr lang="en-IE" sz="1400" dirty="0">
                <a:solidFill>
                  <a:srgbClr val="0A597A"/>
                </a:solidFill>
                <a:latin typeface="AvenirNext LT Pro Bold" panose="020B0804020202020204"/>
                <a:ea typeface="+mj-ea"/>
                <a:cs typeface="+mj-cs"/>
              </a:rPr>
              <a:t> programmable with 14 colours</a:t>
            </a:r>
          </a:p>
        </p:txBody>
      </p:sp>
      <p:sp>
        <p:nvSpPr>
          <p:cNvPr id="26" name="TextBox 25">
            <a:extLst>
              <a:ext uri="{FF2B5EF4-FFF2-40B4-BE49-F238E27FC236}">
                <a16:creationId xmlns:a16="http://schemas.microsoft.com/office/drawing/2014/main" id="{9938B214-7E3F-59A0-508A-15BE5142E127}"/>
              </a:ext>
            </a:extLst>
          </p:cNvPr>
          <p:cNvSpPr txBox="1"/>
          <p:nvPr/>
        </p:nvSpPr>
        <p:spPr>
          <a:xfrm>
            <a:off x="4771103" y="3508505"/>
            <a:ext cx="1927970" cy="773673"/>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Wireless Node for State with high speed counter</a:t>
            </a:r>
          </a:p>
        </p:txBody>
      </p:sp>
      <p:sp>
        <p:nvSpPr>
          <p:cNvPr id="28" name="TextBox 27">
            <a:extLst>
              <a:ext uri="{FF2B5EF4-FFF2-40B4-BE49-F238E27FC236}">
                <a16:creationId xmlns:a16="http://schemas.microsoft.com/office/drawing/2014/main" id="{B904BAA5-2B9B-A7FB-A4E4-13E223B8A845}"/>
              </a:ext>
            </a:extLst>
          </p:cNvPr>
          <p:cNvSpPr txBox="1"/>
          <p:nvPr/>
        </p:nvSpPr>
        <p:spPr>
          <a:xfrm>
            <a:off x="4771103" y="7534430"/>
            <a:ext cx="2036250" cy="543162"/>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Wireless sensor for </a:t>
            </a:r>
            <a:r>
              <a:rPr lang="en-IE" sz="1400" b="1" i="1" dirty="0">
                <a:solidFill>
                  <a:srgbClr val="0A597A"/>
                </a:solidFill>
                <a:latin typeface="AvenirNext LT Pro Bold" panose="020B0804020202020204"/>
                <a:ea typeface="+mj-ea"/>
                <a:cs typeface="+mj-cs"/>
              </a:rPr>
              <a:t>Scrap </a:t>
            </a:r>
            <a:r>
              <a:rPr lang="en-IE" sz="1400" b="1" dirty="0">
                <a:solidFill>
                  <a:srgbClr val="0A597A"/>
                </a:solidFill>
                <a:latin typeface="AvenirNext LT Pro Bold" panose="020B0804020202020204"/>
                <a:ea typeface="+mj-ea"/>
                <a:cs typeface="+mj-cs"/>
              </a:rPr>
              <a:t>Count</a:t>
            </a:r>
            <a:r>
              <a:rPr lang="en-IE" sz="1400" dirty="0">
                <a:solidFill>
                  <a:srgbClr val="0A597A"/>
                </a:solidFill>
                <a:latin typeface="AvenirNext LT Pro Bold" panose="020B0804020202020204"/>
                <a:ea typeface="+mj-ea"/>
                <a:cs typeface="+mj-cs"/>
              </a:rPr>
              <a:t> </a:t>
            </a:r>
          </a:p>
        </p:txBody>
      </p:sp>
      <p:sp>
        <p:nvSpPr>
          <p:cNvPr id="30" name="TextBox 29">
            <a:extLst>
              <a:ext uri="{FF2B5EF4-FFF2-40B4-BE49-F238E27FC236}">
                <a16:creationId xmlns:a16="http://schemas.microsoft.com/office/drawing/2014/main" id="{E459D565-E30A-2FE5-2394-DD1DCE0104BD}"/>
              </a:ext>
            </a:extLst>
          </p:cNvPr>
          <p:cNvSpPr txBox="1"/>
          <p:nvPr/>
        </p:nvSpPr>
        <p:spPr>
          <a:xfrm>
            <a:off x="4771103" y="5332036"/>
            <a:ext cx="1964065" cy="773673"/>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Product/Cycle Counter</a:t>
            </a:r>
            <a:br>
              <a:rPr lang="en-IE" sz="1400" dirty="0">
                <a:solidFill>
                  <a:srgbClr val="0A597A"/>
                </a:solidFill>
                <a:latin typeface="AvenirNext LT Pro Bold" panose="020B0804020202020204"/>
                <a:ea typeface="+mj-ea"/>
                <a:cs typeface="+mj-cs"/>
              </a:rPr>
            </a:br>
            <a:r>
              <a:rPr lang="en-IE" sz="1400" dirty="0">
                <a:solidFill>
                  <a:srgbClr val="0A597A"/>
                </a:solidFill>
                <a:latin typeface="AvenirNext LT Pro Bold" panose="020B0804020202020204"/>
                <a:ea typeface="+mj-ea"/>
                <a:cs typeface="+mj-cs"/>
              </a:rPr>
              <a:t>(required)</a:t>
            </a:r>
          </a:p>
          <a:p>
            <a:pPr>
              <a:lnSpc>
                <a:spcPct val="107000"/>
              </a:lnSpc>
            </a:pPr>
            <a:r>
              <a:rPr lang="en-IE" sz="1400" dirty="0">
                <a:solidFill>
                  <a:srgbClr val="0A597A"/>
                </a:solidFill>
                <a:latin typeface="AvenirNext LT Pro Bold" panose="020B0804020202020204"/>
                <a:ea typeface="+mj-ea"/>
                <a:cs typeface="+mj-cs"/>
              </a:rPr>
              <a:t>Derived </a:t>
            </a:r>
            <a:r>
              <a:rPr lang="en-IE" sz="1400" b="1" dirty="0">
                <a:solidFill>
                  <a:srgbClr val="0A597A"/>
                </a:solidFill>
                <a:latin typeface="AvenirNext LT Pro Bold" panose="020B0804020202020204"/>
                <a:ea typeface="+mj-ea"/>
                <a:cs typeface="+mj-cs"/>
              </a:rPr>
              <a:t>State</a:t>
            </a:r>
            <a:r>
              <a:rPr lang="en-IE" sz="1400" dirty="0">
                <a:solidFill>
                  <a:srgbClr val="0A597A"/>
                </a:solidFill>
                <a:latin typeface="AvenirNext LT Pro Bold" panose="020B0804020202020204"/>
                <a:ea typeface="+mj-ea"/>
                <a:cs typeface="+mj-cs"/>
              </a:rPr>
              <a:t> (optional)</a:t>
            </a:r>
          </a:p>
        </p:txBody>
      </p:sp>
      <p:sp>
        <p:nvSpPr>
          <p:cNvPr id="31" name="TextBox 30">
            <a:extLst>
              <a:ext uri="{FF2B5EF4-FFF2-40B4-BE49-F238E27FC236}">
                <a16:creationId xmlns:a16="http://schemas.microsoft.com/office/drawing/2014/main" id="{375C26BD-A9BE-8F83-3E1B-DA6D73DE4D81}"/>
              </a:ext>
            </a:extLst>
          </p:cNvPr>
          <p:cNvSpPr txBox="1"/>
          <p:nvPr/>
        </p:nvSpPr>
        <p:spPr>
          <a:xfrm>
            <a:off x="4771103" y="4697222"/>
            <a:ext cx="1927970" cy="312650"/>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Stainless Steel bracket </a:t>
            </a:r>
          </a:p>
        </p:txBody>
      </p:sp>
      <p:sp>
        <p:nvSpPr>
          <p:cNvPr id="32" name="TextBox 31">
            <a:extLst>
              <a:ext uri="{FF2B5EF4-FFF2-40B4-BE49-F238E27FC236}">
                <a16:creationId xmlns:a16="http://schemas.microsoft.com/office/drawing/2014/main" id="{2BE723CA-A0C4-AF15-60A6-B0A24ADE3940}"/>
              </a:ext>
            </a:extLst>
          </p:cNvPr>
          <p:cNvSpPr txBox="1"/>
          <p:nvPr/>
        </p:nvSpPr>
        <p:spPr>
          <a:xfrm>
            <a:off x="4771103" y="8582710"/>
            <a:ext cx="1896400" cy="773673"/>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Single 8-pin M12 quick disconnect cable (required)</a:t>
            </a:r>
          </a:p>
        </p:txBody>
      </p:sp>
      <p:sp>
        <p:nvSpPr>
          <p:cNvPr id="37" name="TextBox 36">
            <a:extLst>
              <a:ext uri="{FF2B5EF4-FFF2-40B4-BE49-F238E27FC236}">
                <a16:creationId xmlns:a16="http://schemas.microsoft.com/office/drawing/2014/main" id="{F3332855-9331-06E9-96AD-B75C6237078F}"/>
              </a:ext>
            </a:extLst>
          </p:cNvPr>
          <p:cNvSpPr txBox="1"/>
          <p:nvPr/>
        </p:nvSpPr>
        <p:spPr>
          <a:xfrm>
            <a:off x="4771103" y="6394637"/>
            <a:ext cx="1896400" cy="773673"/>
          </a:xfrm>
          <a:prstGeom prst="rect">
            <a:avLst/>
          </a:prstGeom>
          <a:noFill/>
        </p:spPr>
        <p:txBody>
          <a:bodyPr wrap="square">
            <a:spAutoFit/>
          </a:bodyPr>
          <a:lstStyle/>
          <a:p>
            <a:pPr>
              <a:lnSpc>
                <a:spcPct val="107000"/>
              </a:lnSpc>
            </a:pPr>
            <a:r>
              <a:rPr lang="en-IE" sz="1400" i="1" dirty="0">
                <a:solidFill>
                  <a:srgbClr val="0A597A"/>
                </a:solidFill>
                <a:latin typeface="AvenirNext LT Pro Bold" panose="020B0804020202020204"/>
                <a:ea typeface="+mj-ea"/>
                <a:cs typeface="+mj-cs"/>
              </a:rPr>
              <a:t>Call-for-Help</a:t>
            </a:r>
            <a:r>
              <a:rPr lang="en-IE" sz="1400" dirty="0">
                <a:solidFill>
                  <a:srgbClr val="0A597A"/>
                </a:solidFill>
                <a:latin typeface="AvenirNext LT Pro Bold" panose="020B0804020202020204"/>
                <a:ea typeface="+mj-ea"/>
                <a:cs typeface="+mj-cs"/>
              </a:rPr>
              <a:t> button</a:t>
            </a:r>
          </a:p>
          <a:p>
            <a:pPr>
              <a:lnSpc>
                <a:spcPct val="107000"/>
              </a:lnSpc>
            </a:pPr>
            <a:r>
              <a:rPr lang="en-IE" sz="1400" i="1" dirty="0">
                <a:solidFill>
                  <a:srgbClr val="0A597A"/>
                </a:solidFill>
                <a:latin typeface="AvenirNext LT Pro Bold" panose="020B0804020202020204"/>
                <a:ea typeface="+mj-ea"/>
                <a:cs typeface="+mj-cs"/>
              </a:rPr>
              <a:t>Set-up Mode</a:t>
            </a:r>
            <a:r>
              <a:rPr lang="en-IE" sz="1400" dirty="0">
                <a:solidFill>
                  <a:srgbClr val="0A597A"/>
                </a:solidFill>
                <a:latin typeface="AvenirNext LT Pro Bold" panose="020B0804020202020204"/>
                <a:ea typeface="+mj-ea"/>
                <a:cs typeface="+mj-cs"/>
              </a:rPr>
              <a:t> selector switch</a:t>
            </a:r>
          </a:p>
        </p:txBody>
      </p:sp>
      <p:grpSp>
        <p:nvGrpSpPr>
          <p:cNvPr id="12" name="Group 11">
            <a:extLst>
              <a:ext uri="{FF2B5EF4-FFF2-40B4-BE49-F238E27FC236}">
                <a16:creationId xmlns:a16="http://schemas.microsoft.com/office/drawing/2014/main" id="{62834F0F-8EB6-724D-0083-15D71E049125}"/>
              </a:ext>
            </a:extLst>
          </p:cNvPr>
          <p:cNvGrpSpPr/>
          <p:nvPr/>
        </p:nvGrpSpPr>
        <p:grpSpPr>
          <a:xfrm>
            <a:off x="281057" y="1948399"/>
            <a:ext cx="4342363" cy="7302104"/>
            <a:chOff x="281057" y="1948399"/>
            <a:chExt cx="4342363" cy="7302104"/>
          </a:xfrm>
        </p:grpSpPr>
        <p:pic>
          <p:nvPicPr>
            <p:cNvPr id="25" name="Picture 24" descr="A picture containing metalware, opener&#10;&#10;Description automatically generated">
              <a:extLst>
                <a:ext uri="{FF2B5EF4-FFF2-40B4-BE49-F238E27FC236}">
                  <a16:creationId xmlns:a16="http://schemas.microsoft.com/office/drawing/2014/main" id="{93DB9821-13FA-2A49-2BCC-F75B47C085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057" y="4388233"/>
              <a:ext cx="1260000" cy="1260000"/>
            </a:xfrm>
            <a:prstGeom prst="rect">
              <a:avLst/>
            </a:prstGeom>
          </p:spPr>
        </p:pic>
        <p:pic>
          <p:nvPicPr>
            <p:cNvPr id="5" name="Picture 4" descr="A picture containing gear&#10;&#10;Description automatically generated">
              <a:extLst>
                <a:ext uri="{FF2B5EF4-FFF2-40B4-BE49-F238E27FC236}">
                  <a16:creationId xmlns:a16="http://schemas.microsoft.com/office/drawing/2014/main" id="{D4D9104A-1546-ECD3-4E96-DA3BE6DB9CE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9291" t="22904" r="36850" b="30895"/>
            <a:stretch/>
          </p:blipFill>
          <p:spPr>
            <a:xfrm>
              <a:off x="512435" y="3208926"/>
              <a:ext cx="1201254" cy="1307247"/>
            </a:xfrm>
            <a:prstGeom prst="rect">
              <a:avLst/>
            </a:prstGeom>
          </p:spPr>
        </p:pic>
        <p:pic>
          <p:nvPicPr>
            <p:cNvPr id="19" name="Picture 18" descr="A picture containing light, gear&#10;&#10;Description automatically generated">
              <a:extLst>
                <a:ext uri="{FF2B5EF4-FFF2-40B4-BE49-F238E27FC236}">
                  <a16:creationId xmlns:a16="http://schemas.microsoft.com/office/drawing/2014/main" id="{5E5CEBB6-8ADD-9AD8-8755-43BF123B2B9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7334" t="20164" r="14431" b="22730"/>
            <a:stretch/>
          </p:blipFill>
          <p:spPr>
            <a:xfrm rot="16200000" flipH="1">
              <a:off x="714243" y="7601930"/>
              <a:ext cx="887814" cy="504000"/>
            </a:xfrm>
            <a:prstGeom prst="rect">
              <a:avLst/>
            </a:prstGeom>
          </p:spPr>
        </p:pic>
        <p:pic>
          <p:nvPicPr>
            <p:cNvPr id="21" name="Picture 20" descr="A picture containing light, gear&#10;&#10;Description automatically generated">
              <a:extLst>
                <a:ext uri="{FF2B5EF4-FFF2-40B4-BE49-F238E27FC236}">
                  <a16:creationId xmlns:a16="http://schemas.microsoft.com/office/drawing/2014/main" id="{DD6E74F8-754F-BD40-2871-8C6288347B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7334" t="20164" r="14431" b="22730"/>
            <a:stretch/>
          </p:blipFill>
          <p:spPr>
            <a:xfrm rot="16200000" flipH="1">
              <a:off x="714245" y="5406216"/>
              <a:ext cx="887813" cy="504000"/>
            </a:xfrm>
            <a:prstGeom prst="rect">
              <a:avLst/>
            </a:prstGeom>
          </p:spPr>
        </p:pic>
        <p:pic>
          <p:nvPicPr>
            <p:cNvPr id="29" name="Picture 28" descr="A picture containing chart&#10;&#10;Description automatically generated">
              <a:extLst>
                <a:ext uri="{FF2B5EF4-FFF2-40B4-BE49-F238E27FC236}">
                  <a16:creationId xmlns:a16="http://schemas.microsoft.com/office/drawing/2014/main" id="{1229260A-48B8-58C0-9F33-BDAD45CCDD0A}"/>
                </a:ext>
              </a:extLst>
            </p:cNvPr>
            <p:cNvPicPr>
              <a:picLocks noChangeAspect="1"/>
            </p:cNvPicPr>
            <p:nvPr/>
          </p:nvPicPr>
          <p:blipFill rotWithShape="1">
            <a:blip r:embed="rId5">
              <a:extLst>
                <a:ext uri="{28A0092B-C50C-407E-A947-70E740481C1C}">
                  <a14:useLocalDpi xmlns:a14="http://schemas.microsoft.com/office/drawing/2010/main" val="0"/>
                </a:ext>
              </a:extLst>
            </a:blip>
            <a:srcRect l="20962" t="19447" r="20430" b="19023"/>
            <a:stretch/>
          </p:blipFill>
          <p:spPr>
            <a:xfrm>
              <a:off x="540083" y="1948399"/>
              <a:ext cx="1200551" cy="1260402"/>
            </a:xfrm>
            <a:prstGeom prst="rect">
              <a:avLst/>
            </a:prstGeom>
          </p:spPr>
        </p:pic>
        <p:pic>
          <p:nvPicPr>
            <p:cNvPr id="6" name="Picture 5" descr="Shape, circle&#10;&#10;Description automatically generated">
              <a:extLst>
                <a:ext uri="{FF2B5EF4-FFF2-40B4-BE49-F238E27FC236}">
                  <a16:creationId xmlns:a16="http://schemas.microsoft.com/office/drawing/2014/main" id="{8DB1B054-50EC-41BE-FA85-300F4D68E7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76542" y="2193366"/>
              <a:ext cx="823150" cy="770468"/>
            </a:xfrm>
            <a:prstGeom prst="rect">
              <a:avLst/>
            </a:prstGeom>
          </p:spPr>
        </p:pic>
        <p:pic>
          <p:nvPicPr>
            <p:cNvPr id="10" name="Picture 9" descr="A picture containing microphone&#10;&#10;Description automatically generated">
              <a:extLst>
                <a:ext uri="{FF2B5EF4-FFF2-40B4-BE49-F238E27FC236}">
                  <a16:creationId xmlns:a16="http://schemas.microsoft.com/office/drawing/2014/main" id="{6E43E72C-5A9B-C2C8-78EE-8C10F5A3287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1339" t="14832" r="22642"/>
            <a:stretch/>
          </p:blipFill>
          <p:spPr>
            <a:xfrm rot="16200000" flipH="1">
              <a:off x="2019581" y="5097359"/>
              <a:ext cx="248626" cy="1008000"/>
            </a:xfrm>
            <a:prstGeom prst="rect">
              <a:avLst/>
            </a:prstGeom>
          </p:spPr>
        </p:pic>
        <p:pic>
          <p:nvPicPr>
            <p:cNvPr id="20" name="Picture 19" descr="A picture containing microphone&#10;&#10;Description automatically generated">
              <a:extLst>
                <a:ext uri="{FF2B5EF4-FFF2-40B4-BE49-F238E27FC236}">
                  <a16:creationId xmlns:a16="http://schemas.microsoft.com/office/drawing/2014/main" id="{F503A28D-A3EA-CF78-1AE5-D3103F595197}"/>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1339" t="14832" r="22642"/>
            <a:stretch/>
          </p:blipFill>
          <p:spPr>
            <a:xfrm rot="16200000" flipH="1">
              <a:off x="2019581" y="7299049"/>
              <a:ext cx="248626" cy="1008000"/>
            </a:xfrm>
            <a:prstGeom prst="rect">
              <a:avLst/>
            </a:prstGeom>
          </p:spPr>
        </p:pic>
        <p:pic>
          <p:nvPicPr>
            <p:cNvPr id="35" name="Picture 34" descr="A picture containing light, gear&#10;&#10;Description automatically generated">
              <a:extLst>
                <a:ext uri="{FF2B5EF4-FFF2-40B4-BE49-F238E27FC236}">
                  <a16:creationId xmlns:a16="http://schemas.microsoft.com/office/drawing/2014/main" id="{DBE675D4-AFF3-5240-F213-FDBF21EFC36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7334" t="20164" r="14431" b="22730"/>
            <a:stretch/>
          </p:blipFill>
          <p:spPr>
            <a:xfrm rot="16200000" flipH="1">
              <a:off x="714243" y="6511673"/>
              <a:ext cx="887814" cy="504000"/>
            </a:xfrm>
            <a:prstGeom prst="rect">
              <a:avLst/>
            </a:prstGeom>
          </p:spPr>
        </p:pic>
        <p:pic>
          <p:nvPicPr>
            <p:cNvPr id="36" name="Picture 35" descr="A picture containing microphone&#10;&#10;Description automatically generated">
              <a:extLst>
                <a:ext uri="{FF2B5EF4-FFF2-40B4-BE49-F238E27FC236}">
                  <a16:creationId xmlns:a16="http://schemas.microsoft.com/office/drawing/2014/main" id="{7BB6FA64-FDF5-63B7-2C0B-51453E97E38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1339" t="14832" r="22642"/>
            <a:stretch/>
          </p:blipFill>
          <p:spPr>
            <a:xfrm rot="16200000" flipH="1">
              <a:off x="2019581" y="6202816"/>
              <a:ext cx="248626" cy="1008000"/>
            </a:xfrm>
            <a:prstGeom prst="rect">
              <a:avLst/>
            </a:prstGeom>
          </p:spPr>
        </p:pic>
        <p:pic>
          <p:nvPicPr>
            <p:cNvPr id="38" name="Picture 37">
              <a:extLst>
                <a:ext uri="{FF2B5EF4-FFF2-40B4-BE49-F238E27FC236}">
                  <a16:creationId xmlns:a16="http://schemas.microsoft.com/office/drawing/2014/main" id="{7AB126FD-13BF-DEF6-97FD-1C585D076660}"/>
                </a:ext>
              </a:extLst>
            </p:cNvPr>
            <p:cNvPicPr>
              <a:picLocks noChangeAspect="1"/>
            </p:cNvPicPr>
            <p:nvPr/>
          </p:nvPicPr>
          <p:blipFill rotWithShape="1">
            <a:blip r:embed="rId8"/>
            <a:srcRect r="50529"/>
            <a:stretch/>
          </p:blipFill>
          <p:spPr>
            <a:xfrm>
              <a:off x="3555009" y="5259344"/>
              <a:ext cx="390580" cy="864000"/>
            </a:xfrm>
            <a:prstGeom prst="rect">
              <a:avLst/>
            </a:prstGeom>
          </p:spPr>
        </p:pic>
        <p:grpSp>
          <p:nvGrpSpPr>
            <p:cNvPr id="15" name="Group 14">
              <a:extLst>
                <a:ext uri="{FF2B5EF4-FFF2-40B4-BE49-F238E27FC236}">
                  <a16:creationId xmlns:a16="http://schemas.microsoft.com/office/drawing/2014/main" id="{88B3942D-CCA4-C827-BB1C-A8B9D4623D2A}"/>
                </a:ext>
              </a:extLst>
            </p:cNvPr>
            <p:cNvGrpSpPr/>
            <p:nvPr/>
          </p:nvGrpSpPr>
          <p:grpSpPr>
            <a:xfrm>
              <a:off x="1685627" y="8648823"/>
              <a:ext cx="1210916" cy="525048"/>
              <a:chOff x="1924493" y="8896902"/>
              <a:chExt cx="1210916" cy="525048"/>
            </a:xfrm>
          </p:grpSpPr>
          <p:cxnSp>
            <p:nvCxnSpPr>
              <p:cNvPr id="14" name="Straight Connector 13">
                <a:extLst>
                  <a:ext uri="{FF2B5EF4-FFF2-40B4-BE49-F238E27FC236}">
                    <a16:creationId xmlns:a16="http://schemas.microsoft.com/office/drawing/2014/main" id="{D4E93B0A-09B5-71AE-0DC3-85EAED9F681C}"/>
                  </a:ext>
                </a:extLst>
              </p:cNvPr>
              <p:cNvCxnSpPr/>
              <p:nvPr/>
            </p:nvCxnSpPr>
            <p:spPr>
              <a:xfrm>
                <a:off x="1924493" y="9080325"/>
                <a:ext cx="669851" cy="0"/>
              </a:xfrm>
              <a:prstGeom prst="line">
                <a:avLst/>
              </a:prstGeom>
              <a:ln w="381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51A324F-C2C1-DE25-B039-7081582F2C57}"/>
                  </a:ext>
                </a:extLst>
              </p:cNvPr>
              <p:cNvCxnSpPr/>
              <p:nvPr/>
            </p:nvCxnSpPr>
            <p:spPr>
              <a:xfrm>
                <a:off x="1924493" y="9275401"/>
                <a:ext cx="66985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061F1A9-9D07-BAF6-7EAA-E0F1FFEB082F}"/>
                  </a:ext>
                </a:extLst>
              </p:cNvPr>
              <p:cNvSpPr txBox="1"/>
              <p:nvPr/>
            </p:nvSpPr>
            <p:spPr>
              <a:xfrm>
                <a:off x="2634462" y="8896902"/>
                <a:ext cx="320879" cy="312650"/>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a:t>
                </a:r>
              </a:p>
            </p:txBody>
          </p:sp>
          <p:sp>
            <p:nvSpPr>
              <p:cNvPr id="41" name="TextBox 40">
                <a:extLst>
                  <a:ext uri="{FF2B5EF4-FFF2-40B4-BE49-F238E27FC236}">
                    <a16:creationId xmlns:a16="http://schemas.microsoft.com/office/drawing/2014/main" id="{4C6426F7-62F8-A40F-427D-55F3CF7A7F92}"/>
                  </a:ext>
                </a:extLst>
              </p:cNvPr>
              <p:cNvSpPr txBox="1"/>
              <p:nvPr/>
            </p:nvSpPr>
            <p:spPr>
              <a:xfrm>
                <a:off x="2634462" y="9109300"/>
                <a:ext cx="320879" cy="312650"/>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a:t>
                </a:r>
              </a:p>
            </p:txBody>
          </p:sp>
          <p:sp>
            <p:nvSpPr>
              <p:cNvPr id="42" name="TextBox 41">
                <a:extLst>
                  <a:ext uri="{FF2B5EF4-FFF2-40B4-BE49-F238E27FC236}">
                    <a16:creationId xmlns:a16="http://schemas.microsoft.com/office/drawing/2014/main" id="{7A392313-8534-9CF3-6B3A-ED4E31A41FA9}"/>
                  </a:ext>
                </a:extLst>
              </p:cNvPr>
              <p:cNvSpPr txBox="1"/>
              <p:nvPr/>
            </p:nvSpPr>
            <p:spPr>
              <a:xfrm>
                <a:off x="2515911" y="9075307"/>
                <a:ext cx="619498" cy="218265"/>
              </a:xfrm>
              <a:prstGeom prst="rect">
                <a:avLst/>
              </a:prstGeom>
              <a:noFill/>
            </p:spPr>
            <p:txBody>
              <a:bodyPr wrap="square">
                <a:spAutoFit/>
              </a:bodyPr>
              <a:lstStyle/>
              <a:p>
                <a:pPr>
                  <a:lnSpc>
                    <a:spcPct val="107000"/>
                  </a:lnSpc>
                </a:pPr>
                <a:r>
                  <a:rPr lang="en-IE" sz="800" dirty="0">
                    <a:solidFill>
                      <a:schemeClr val="bg1">
                        <a:lumMod val="65000"/>
                      </a:schemeClr>
                    </a:solidFill>
                    <a:latin typeface="AvenirNext LT Pro Bold" panose="020B0804020202020204"/>
                    <a:ea typeface="+mj-ea"/>
                    <a:cs typeface="+mj-cs"/>
                  </a:rPr>
                  <a:t>10-30v dc</a:t>
                </a:r>
              </a:p>
            </p:txBody>
          </p:sp>
        </p:grpSp>
        <p:pic>
          <p:nvPicPr>
            <p:cNvPr id="43" name="Picture 42">
              <a:extLst>
                <a:ext uri="{FF2B5EF4-FFF2-40B4-BE49-F238E27FC236}">
                  <a16:creationId xmlns:a16="http://schemas.microsoft.com/office/drawing/2014/main" id="{2B2D0873-D677-95A7-87C5-9FA982FC6BE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rot="5400000">
              <a:off x="2913033" y="3626341"/>
              <a:ext cx="550169" cy="550169"/>
            </a:xfrm>
            <a:prstGeom prst="rect">
              <a:avLst/>
            </a:prstGeom>
          </p:spPr>
        </p:pic>
        <p:pic>
          <p:nvPicPr>
            <p:cNvPr id="3" name="Picture 2">
              <a:extLst>
                <a:ext uri="{FF2B5EF4-FFF2-40B4-BE49-F238E27FC236}">
                  <a16:creationId xmlns:a16="http://schemas.microsoft.com/office/drawing/2014/main" id="{EA523E71-59E8-1AD3-23A8-D31DD67FD7EE}"/>
                </a:ext>
              </a:extLst>
            </p:cNvPr>
            <p:cNvPicPr>
              <a:picLocks noChangeAspect="1"/>
            </p:cNvPicPr>
            <p:nvPr/>
          </p:nvPicPr>
          <p:blipFill>
            <a:blip r:embed="rId10"/>
            <a:stretch>
              <a:fillRect/>
            </a:stretch>
          </p:blipFill>
          <p:spPr>
            <a:xfrm flipH="1">
              <a:off x="2913033" y="6370420"/>
              <a:ext cx="702313" cy="689544"/>
            </a:xfrm>
            <a:prstGeom prst="rect">
              <a:avLst/>
            </a:prstGeom>
          </p:spPr>
        </p:pic>
        <p:pic>
          <p:nvPicPr>
            <p:cNvPr id="17" name="Picture 16">
              <a:extLst>
                <a:ext uri="{FF2B5EF4-FFF2-40B4-BE49-F238E27FC236}">
                  <a16:creationId xmlns:a16="http://schemas.microsoft.com/office/drawing/2014/main" id="{7A1FA934-4B74-647F-94D2-01990F1390A4}"/>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28855" t="14485" r="28321" b="19315"/>
            <a:stretch/>
          </p:blipFill>
          <p:spPr>
            <a:xfrm>
              <a:off x="922426" y="8494503"/>
              <a:ext cx="256691" cy="756000"/>
            </a:xfrm>
            <a:prstGeom prst="rect">
              <a:avLst/>
            </a:prstGeom>
          </p:spPr>
        </p:pic>
        <p:grpSp>
          <p:nvGrpSpPr>
            <p:cNvPr id="7" name="Group 6">
              <a:extLst>
                <a:ext uri="{FF2B5EF4-FFF2-40B4-BE49-F238E27FC236}">
                  <a16:creationId xmlns:a16="http://schemas.microsoft.com/office/drawing/2014/main" id="{6062EB86-DE36-F923-8C04-C546731FAFAD}"/>
                </a:ext>
              </a:extLst>
            </p:cNvPr>
            <p:cNvGrpSpPr/>
            <p:nvPr/>
          </p:nvGrpSpPr>
          <p:grpSpPr>
            <a:xfrm>
              <a:off x="3827863" y="6336254"/>
              <a:ext cx="795557" cy="733812"/>
              <a:chOff x="3827863" y="6336254"/>
              <a:chExt cx="795557" cy="733812"/>
            </a:xfrm>
          </p:grpSpPr>
          <p:pic>
            <p:nvPicPr>
              <p:cNvPr id="23" name="Picture 22" descr="A picture containing electronics&#10;&#10;Description automatically generated">
                <a:extLst>
                  <a:ext uri="{FF2B5EF4-FFF2-40B4-BE49-F238E27FC236}">
                    <a16:creationId xmlns:a16="http://schemas.microsoft.com/office/drawing/2014/main" id="{2F7ADD6E-6E8B-E141-F590-D3D22223B72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827863" y="6336254"/>
                <a:ext cx="795557" cy="733812"/>
              </a:xfrm>
              <a:prstGeom prst="rect">
                <a:avLst/>
              </a:prstGeom>
            </p:spPr>
          </p:pic>
          <p:sp>
            <p:nvSpPr>
              <p:cNvPr id="4" name="Oval 3">
                <a:extLst>
                  <a:ext uri="{FF2B5EF4-FFF2-40B4-BE49-F238E27FC236}">
                    <a16:creationId xmlns:a16="http://schemas.microsoft.com/office/drawing/2014/main" id="{1AD0E44B-2684-6C2C-FDB3-60E7726D4081}"/>
                  </a:ext>
                </a:extLst>
              </p:cNvPr>
              <p:cNvSpPr/>
              <p:nvPr/>
            </p:nvSpPr>
            <p:spPr>
              <a:xfrm>
                <a:off x="4135331" y="6421443"/>
                <a:ext cx="204345" cy="119347"/>
              </a:xfrm>
              <a:prstGeom prst="ellipse">
                <a:avLst/>
              </a:prstGeom>
              <a:solidFill>
                <a:srgbClr val="007D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sp>
        <p:nvSpPr>
          <p:cNvPr id="2" name="TextBox 1">
            <a:extLst>
              <a:ext uri="{FF2B5EF4-FFF2-40B4-BE49-F238E27FC236}">
                <a16:creationId xmlns:a16="http://schemas.microsoft.com/office/drawing/2014/main" id="{8F036AF6-74B5-D6DE-E4A5-1D0E0751852C}"/>
              </a:ext>
            </a:extLst>
          </p:cNvPr>
          <p:cNvSpPr txBox="1"/>
          <p:nvPr/>
        </p:nvSpPr>
        <p:spPr>
          <a:xfrm>
            <a:off x="763214" y="1100425"/>
            <a:ext cx="5855483" cy="523220"/>
          </a:xfrm>
          <a:prstGeom prst="rect">
            <a:avLst/>
          </a:prstGeom>
          <a:noFill/>
        </p:spPr>
        <p:txBody>
          <a:bodyPr wrap="square">
            <a:spAutoFit/>
          </a:bodyPr>
          <a:lstStyle/>
          <a:p>
            <a:r>
              <a:rPr lang="en-IE" sz="1400" b="1" dirty="0">
                <a:solidFill>
                  <a:srgbClr val="0A597A"/>
                </a:solidFill>
                <a:latin typeface="AvenirNext LT Pro Bold" panose="020B0804020202020204"/>
                <a:ea typeface="+mj-ea"/>
                <a:cs typeface="+mj-cs"/>
              </a:rPr>
              <a:t>Complete solution to wirelessly capture real-time production output and state, from any manual workstation or automated production unit</a:t>
            </a:r>
            <a:endParaRPr lang="en-GB" sz="1400" b="1" dirty="0">
              <a:solidFill>
                <a:srgbClr val="0A597A"/>
              </a:solidFill>
              <a:latin typeface="AvenirNext LT Pro Bold" panose="020B0804020202020204"/>
              <a:ea typeface="+mj-ea"/>
              <a:cs typeface="+mj-cs"/>
            </a:endParaRPr>
          </a:p>
        </p:txBody>
      </p:sp>
      <p:sp>
        <p:nvSpPr>
          <p:cNvPr id="11" name="Action Button: Go Home 10">
            <a:hlinkClick r:id="rId13" action="ppaction://hlinksldjump" highlightClick="1"/>
            <a:hlinkHover r:id="" action="ppaction://hlinkshowjump?jump=firstslide"/>
            <a:extLst>
              <a:ext uri="{FF2B5EF4-FFF2-40B4-BE49-F238E27FC236}">
                <a16:creationId xmlns:a16="http://schemas.microsoft.com/office/drawing/2014/main" id="{10563B52-2169-648A-951C-AE7C75A8B8BC}"/>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3" name="Picture 12">
            <a:extLst>
              <a:ext uri="{FF2B5EF4-FFF2-40B4-BE49-F238E27FC236}">
                <a16:creationId xmlns:a16="http://schemas.microsoft.com/office/drawing/2014/main" id="{76F161C7-C9EF-7B55-AAA3-0E6527E880D8}"/>
              </a:ext>
            </a:extLst>
          </p:cNvPr>
          <p:cNvPicPr>
            <a:picLocks noChangeAspect="1"/>
          </p:cNvPicPr>
          <p:nvPr/>
        </p:nvPicPr>
        <p:blipFill rotWithShape="1">
          <a:blip r:embed="rId8"/>
          <a:srcRect r="50529"/>
          <a:stretch/>
        </p:blipFill>
        <p:spPr>
          <a:xfrm>
            <a:off x="3533359" y="7421930"/>
            <a:ext cx="390580" cy="864000"/>
          </a:xfrm>
          <a:prstGeom prst="rect">
            <a:avLst/>
          </a:prstGeom>
        </p:spPr>
      </p:pic>
      <p:sp>
        <p:nvSpPr>
          <p:cNvPr id="16" name="Rectangle 15">
            <a:extLst>
              <a:ext uri="{FF2B5EF4-FFF2-40B4-BE49-F238E27FC236}">
                <a16:creationId xmlns:a16="http://schemas.microsoft.com/office/drawing/2014/main" id="{B86C4919-5D74-8E8D-C61C-EB395CE0F25D}"/>
              </a:ext>
            </a:extLst>
          </p:cNvPr>
          <p:cNvSpPr/>
          <p:nvPr/>
        </p:nvSpPr>
        <p:spPr>
          <a:xfrm>
            <a:off x="675565" y="7249784"/>
            <a:ext cx="3664111" cy="1158545"/>
          </a:xfrm>
          <a:prstGeom prst="rect">
            <a:avLst/>
          </a:prstGeom>
          <a:noFill/>
          <a:ln w="28575">
            <a:solidFill>
              <a:srgbClr val="ED134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762616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F2FBAC1-F109-47D9-BB40-C89515C4310A}"/>
              </a:ext>
            </a:extLst>
          </p:cNvPr>
          <p:cNvSpPr txBox="1"/>
          <p:nvPr/>
        </p:nvSpPr>
        <p:spPr>
          <a:xfrm>
            <a:off x="763214" y="200455"/>
            <a:ext cx="5684940" cy="1509259"/>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Sensor Solutions for Manual</a:t>
            </a:r>
            <a:br>
              <a:rPr lang="en-IE" sz="2000" b="1" dirty="0">
                <a:solidFill>
                  <a:srgbClr val="0A597A"/>
                </a:solidFill>
                <a:latin typeface="AvenirNext LT Pro Bold" panose="020B0804020202020204"/>
                <a:ea typeface="+mj-ea"/>
                <a:cs typeface="+mj-cs"/>
              </a:rPr>
            </a:br>
            <a:r>
              <a:rPr lang="en-IE" sz="2000" b="1" dirty="0">
                <a:solidFill>
                  <a:srgbClr val="0A597A"/>
                </a:solidFill>
                <a:latin typeface="AvenirNext LT Pro Bold" panose="020B0804020202020204"/>
                <a:ea typeface="+mj-ea"/>
                <a:cs typeface="+mj-cs"/>
              </a:rPr>
              <a:t>Assembly</a:t>
            </a:r>
          </a:p>
          <a:p>
            <a:pPr marL="0" marR="0" lvl="0" indent="0" algn="l" defTabSz="457200" rtl="0" eaLnBrk="1" fontAlgn="auto" latinLnBrk="0" hangingPunct="1">
              <a:lnSpc>
                <a:spcPct val="107000"/>
              </a:lnSpc>
              <a:spcBef>
                <a:spcPts val="0"/>
              </a:spcBef>
              <a:spcAft>
                <a:spcPts val="300"/>
              </a:spcAft>
              <a:buClrTx/>
              <a:buSzTx/>
              <a:buFontTx/>
              <a:buNone/>
              <a:tabLst/>
              <a:defRPr/>
            </a:pPr>
            <a:r>
              <a:rPr kumimoji="0" lang="en-IE" sz="1400" b="1" i="0" u="none" strike="noStrike" kern="1200" cap="none" spc="0" normalizeH="0" baseline="0" noProof="0" dirty="0">
                <a:ln>
                  <a:noFill/>
                </a:ln>
                <a:solidFill>
                  <a:srgbClr val="0A597A"/>
                </a:solidFill>
                <a:effectLst/>
                <a:uLnTx/>
                <a:uFillTx/>
                <a:latin typeface="AvenirNext LT Pro Bold" panose="020B0804020202020204"/>
                <a:ea typeface="+mn-ea"/>
                <a:cs typeface="+mn-cs"/>
              </a:rPr>
              <a:t>Make Every Manual Task Measurable</a:t>
            </a:r>
          </a:p>
          <a:p>
            <a:pPr marL="0" marR="0" lvl="0" indent="0" algn="l" defTabSz="457200" rtl="0" eaLnBrk="1" fontAlgn="auto" latinLnBrk="0" hangingPunct="1">
              <a:lnSpc>
                <a:spcPct val="107000"/>
              </a:lnSpc>
              <a:spcBef>
                <a:spcPts val="0"/>
              </a:spcBef>
              <a:spcAft>
                <a:spcPts val="300"/>
              </a:spcAft>
              <a:buClrTx/>
              <a:buSzTx/>
              <a:buFontTx/>
              <a:buNone/>
              <a:tabLst/>
              <a:defRPr/>
            </a:pP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Capture cycle time, operator actions, or part placement using smart wired sensors connected to wireless nodes.</a:t>
            </a:r>
          </a:p>
        </p:txBody>
      </p:sp>
      <p:sp>
        <p:nvSpPr>
          <p:cNvPr id="22" name="TextBox 21">
            <a:extLst>
              <a:ext uri="{FF2B5EF4-FFF2-40B4-BE49-F238E27FC236}">
                <a16:creationId xmlns:a16="http://schemas.microsoft.com/office/drawing/2014/main" id="{28238F65-CC97-4E07-831D-5815C489D668}"/>
              </a:ext>
            </a:extLst>
          </p:cNvPr>
          <p:cNvSpPr txBox="1"/>
          <p:nvPr/>
        </p:nvSpPr>
        <p:spPr>
          <a:xfrm>
            <a:off x="3035299" y="1945352"/>
            <a:ext cx="3525567" cy="773673"/>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Manual Activation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Touch button </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Foot switch</a:t>
            </a:r>
          </a:p>
        </p:txBody>
      </p:sp>
      <p:sp>
        <p:nvSpPr>
          <p:cNvPr id="2" name="Action Button: Go Home 1">
            <a:hlinkClick r:id="rId3" action="ppaction://hlinksldjump" highlightClick="1"/>
            <a:hlinkHover r:id="" action="ppaction://hlinkshowjump?jump=firstslide"/>
            <a:extLst>
              <a:ext uri="{FF2B5EF4-FFF2-40B4-BE49-F238E27FC236}">
                <a16:creationId xmlns:a16="http://schemas.microsoft.com/office/drawing/2014/main" id="{32B39AC8-BD52-6EC5-FB41-17DFBC2A25B2}"/>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a:extLst>
              <a:ext uri="{FF2B5EF4-FFF2-40B4-BE49-F238E27FC236}">
                <a16:creationId xmlns:a16="http://schemas.microsoft.com/office/drawing/2014/main" id="{33ABA53C-81A1-1C41-245A-49BC8B38FC3F}"/>
              </a:ext>
            </a:extLst>
          </p:cNvPr>
          <p:cNvPicPr>
            <a:picLocks noChangeAspect="1"/>
          </p:cNvPicPr>
          <p:nvPr>
            <p:custDataLst>
              <p:custData r:id="rId1"/>
            </p:custDataLst>
          </p:nvPr>
        </p:nvPicPr>
        <p:blipFill>
          <a:blip r:embed="rId4" cstate="print">
            <a:extLst>
              <a:ext uri="{28A0092B-C50C-407E-A947-70E740481C1C}">
                <a14:useLocalDpi xmlns:a14="http://schemas.microsoft.com/office/drawing/2010/main" val="0"/>
              </a:ext>
            </a:extLst>
          </a:blip>
          <a:stretch>
            <a:fillRect/>
          </a:stretch>
        </p:blipFill>
        <p:spPr>
          <a:xfrm>
            <a:off x="762578" y="1921981"/>
            <a:ext cx="717875" cy="717875"/>
          </a:xfrm>
          <a:prstGeom prst="rect">
            <a:avLst/>
          </a:prstGeom>
        </p:spPr>
      </p:pic>
      <p:pic>
        <p:nvPicPr>
          <p:cNvPr id="4" name="Picture 3" descr="A close up of a device&#10;&#10;Description automatically generated">
            <a:extLst>
              <a:ext uri="{FF2B5EF4-FFF2-40B4-BE49-F238E27FC236}">
                <a16:creationId xmlns:a16="http://schemas.microsoft.com/office/drawing/2014/main" id="{18C2E2E2-1C98-45CA-95D7-D38752AB11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3800" y="1947381"/>
            <a:ext cx="901794" cy="605584"/>
          </a:xfrm>
          <a:prstGeom prst="rect">
            <a:avLst/>
          </a:prstGeom>
        </p:spPr>
      </p:pic>
      <p:sp>
        <p:nvSpPr>
          <p:cNvPr id="7" name="TextBox 6">
            <a:extLst>
              <a:ext uri="{FF2B5EF4-FFF2-40B4-BE49-F238E27FC236}">
                <a16:creationId xmlns:a16="http://schemas.microsoft.com/office/drawing/2014/main" id="{F5AB3388-DB7C-4394-6E4A-307C471A9157}"/>
              </a:ext>
            </a:extLst>
          </p:cNvPr>
          <p:cNvSpPr txBox="1"/>
          <p:nvPr/>
        </p:nvSpPr>
        <p:spPr>
          <a:xfrm>
            <a:off x="3035298" y="3301180"/>
            <a:ext cx="3525567" cy="1234697"/>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Part Placement or Machine Cycle</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Photo-optic sensor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Inductive sensor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Fibre-optic sensor</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sp>
        <p:nvSpPr>
          <p:cNvPr id="13" name="TextBox 12">
            <a:extLst>
              <a:ext uri="{FF2B5EF4-FFF2-40B4-BE49-F238E27FC236}">
                <a16:creationId xmlns:a16="http://schemas.microsoft.com/office/drawing/2014/main" id="{EE000055-EF26-22D8-C0EC-0F8DBED07AB7}"/>
              </a:ext>
            </a:extLst>
          </p:cNvPr>
          <p:cNvSpPr txBox="1"/>
          <p:nvPr/>
        </p:nvSpPr>
        <p:spPr>
          <a:xfrm>
            <a:off x="3035298" y="5117028"/>
            <a:ext cx="3525567" cy="773673"/>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Machine Cycle</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Pressure-switch</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Current relay</a:t>
            </a:r>
          </a:p>
        </p:txBody>
      </p:sp>
      <p:grpSp>
        <p:nvGrpSpPr>
          <p:cNvPr id="19" name="Group 18">
            <a:extLst>
              <a:ext uri="{FF2B5EF4-FFF2-40B4-BE49-F238E27FC236}">
                <a16:creationId xmlns:a16="http://schemas.microsoft.com/office/drawing/2014/main" id="{11648073-CBE2-0A3F-67DF-828E4FB64B53}"/>
              </a:ext>
            </a:extLst>
          </p:cNvPr>
          <p:cNvGrpSpPr/>
          <p:nvPr/>
        </p:nvGrpSpPr>
        <p:grpSpPr>
          <a:xfrm>
            <a:off x="875823" y="5028861"/>
            <a:ext cx="1675953" cy="1003313"/>
            <a:chOff x="-260022" y="6169642"/>
            <a:chExt cx="1675953" cy="1003313"/>
          </a:xfrm>
        </p:grpSpPr>
        <p:pic>
          <p:nvPicPr>
            <p:cNvPr id="15" name="Picture 14">
              <a:extLst>
                <a:ext uri="{FF2B5EF4-FFF2-40B4-BE49-F238E27FC236}">
                  <a16:creationId xmlns:a16="http://schemas.microsoft.com/office/drawing/2014/main" id="{48835A3F-E621-EB97-16F2-E6DE0F9C0FE2}"/>
                </a:ext>
              </a:extLst>
            </p:cNvPr>
            <p:cNvPicPr>
              <a:picLocks noChangeAspect="1"/>
            </p:cNvPicPr>
            <p:nvPr/>
          </p:nvPicPr>
          <p:blipFill>
            <a:blip r:embed="rId6"/>
            <a:stretch>
              <a:fillRect/>
            </a:stretch>
          </p:blipFill>
          <p:spPr>
            <a:xfrm>
              <a:off x="839176" y="6169642"/>
              <a:ext cx="576755" cy="1003313"/>
            </a:xfrm>
            <a:prstGeom prst="rect">
              <a:avLst/>
            </a:prstGeom>
          </p:spPr>
        </p:pic>
        <p:pic>
          <p:nvPicPr>
            <p:cNvPr id="17" name="Picture 16">
              <a:extLst>
                <a:ext uri="{FF2B5EF4-FFF2-40B4-BE49-F238E27FC236}">
                  <a16:creationId xmlns:a16="http://schemas.microsoft.com/office/drawing/2014/main" id="{B1C556E5-92BA-625F-FF74-D175C21C60E9}"/>
                </a:ext>
              </a:extLst>
            </p:cNvPr>
            <p:cNvPicPr>
              <a:picLocks noChangeAspect="1"/>
            </p:cNvPicPr>
            <p:nvPr/>
          </p:nvPicPr>
          <p:blipFill>
            <a:blip r:embed="rId7"/>
            <a:stretch>
              <a:fillRect/>
            </a:stretch>
          </p:blipFill>
          <p:spPr>
            <a:xfrm>
              <a:off x="-260022" y="6389781"/>
              <a:ext cx="669978" cy="713202"/>
            </a:xfrm>
            <a:prstGeom prst="rect">
              <a:avLst/>
            </a:prstGeom>
          </p:spPr>
        </p:pic>
      </p:grpSp>
      <p:grpSp>
        <p:nvGrpSpPr>
          <p:cNvPr id="18" name="Group 17">
            <a:extLst>
              <a:ext uri="{FF2B5EF4-FFF2-40B4-BE49-F238E27FC236}">
                <a16:creationId xmlns:a16="http://schemas.microsoft.com/office/drawing/2014/main" id="{5AF391ED-0FF7-BF4A-B93E-1F5832FE65BC}"/>
              </a:ext>
            </a:extLst>
          </p:cNvPr>
          <p:cNvGrpSpPr/>
          <p:nvPr/>
        </p:nvGrpSpPr>
        <p:grpSpPr>
          <a:xfrm>
            <a:off x="777165" y="3009080"/>
            <a:ext cx="1901227" cy="1752924"/>
            <a:chOff x="777165" y="3009080"/>
            <a:chExt cx="1901227" cy="1752924"/>
          </a:xfrm>
        </p:grpSpPr>
        <p:pic>
          <p:nvPicPr>
            <p:cNvPr id="12" name="Picture 11">
              <a:extLst>
                <a:ext uri="{FF2B5EF4-FFF2-40B4-BE49-F238E27FC236}">
                  <a16:creationId xmlns:a16="http://schemas.microsoft.com/office/drawing/2014/main" id="{50102ED6-2773-12D7-DE68-2C16364651A5}"/>
                </a:ext>
              </a:extLst>
            </p:cNvPr>
            <p:cNvPicPr>
              <a:picLocks noChangeAspect="1"/>
            </p:cNvPicPr>
            <p:nvPr/>
          </p:nvPicPr>
          <p:blipFill>
            <a:blip r:embed="rId8"/>
            <a:stretch>
              <a:fillRect/>
            </a:stretch>
          </p:blipFill>
          <p:spPr>
            <a:xfrm>
              <a:off x="902214" y="3813475"/>
              <a:ext cx="1725378" cy="948529"/>
            </a:xfrm>
            <a:prstGeom prst="rect">
              <a:avLst/>
            </a:prstGeom>
          </p:spPr>
        </p:pic>
        <p:pic>
          <p:nvPicPr>
            <p:cNvPr id="5" name="Picture 4">
              <a:extLst>
                <a:ext uri="{FF2B5EF4-FFF2-40B4-BE49-F238E27FC236}">
                  <a16:creationId xmlns:a16="http://schemas.microsoft.com/office/drawing/2014/main" id="{E28961D5-AED8-D654-1D65-AF817D1A49FD}"/>
                </a:ext>
              </a:extLst>
            </p:cNvPr>
            <p:cNvPicPr>
              <a:picLocks noChangeAspect="1"/>
            </p:cNvPicPr>
            <p:nvPr/>
          </p:nvPicPr>
          <p:blipFill>
            <a:blip r:embed="rId9"/>
            <a:stretch>
              <a:fillRect/>
            </a:stretch>
          </p:blipFill>
          <p:spPr>
            <a:xfrm>
              <a:off x="2082657" y="3148679"/>
              <a:ext cx="595735" cy="547245"/>
            </a:xfrm>
            <a:prstGeom prst="rect">
              <a:avLst/>
            </a:prstGeom>
          </p:spPr>
        </p:pic>
        <p:pic>
          <p:nvPicPr>
            <p:cNvPr id="10" name="Picture 9">
              <a:extLst>
                <a:ext uri="{FF2B5EF4-FFF2-40B4-BE49-F238E27FC236}">
                  <a16:creationId xmlns:a16="http://schemas.microsoft.com/office/drawing/2014/main" id="{40FF2A13-D7E8-6EF7-A386-C5A29DE3238D}"/>
                </a:ext>
              </a:extLst>
            </p:cNvPr>
            <p:cNvPicPr>
              <a:picLocks noChangeAspect="1"/>
            </p:cNvPicPr>
            <p:nvPr/>
          </p:nvPicPr>
          <p:blipFill>
            <a:blip r:embed="rId10"/>
            <a:stretch>
              <a:fillRect/>
            </a:stretch>
          </p:blipFill>
          <p:spPr>
            <a:xfrm>
              <a:off x="777165" y="3009080"/>
              <a:ext cx="1082775" cy="1046683"/>
            </a:xfrm>
            <a:prstGeom prst="rect">
              <a:avLst/>
            </a:prstGeom>
          </p:spPr>
        </p:pic>
      </p:grpSp>
      <p:pic>
        <p:nvPicPr>
          <p:cNvPr id="24" name="Picture 23" descr="A blue text on a white background&#10;&#10;Description automatically generated">
            <a:extLst>
              <a:ext uri="{FF2B5EF4-FFF2-40B4-BE49-F238E27FC236}">
                <a16:creationId xmlns:a16="http://schemas.microsoft.com/office/drawing/2014/main" id="{4F1CA092-058F-09AF-8784-BC2B9D65BCC5}"/>
              </a:ext>
            </a:extLst>
          </p:cNvPr>
          <p:cNvPicPr>
            <a:picLocks noChangeAspect="1"/>
          </p:cNvPicPr>
          <p:nvPr/>
        </p:nvPicPr>
        <p:blipFill rotWithShape="1">
          <a:blip r:embed="rId11">
            <a:extLst>
              <a:ext uri="{28A0092B-C50C-407E-A947-70E740481C1C}">
                <a14:useLocalDpi xmlns:a14="http://schemas.microsoft.com/office/drawing/2010/main" val="0"/>
              </a:ext>
            </a:extLst>
          </a:blip>
          <a:srcRect t="34779" b="34779"/>
          <a:stretch/>
        </p:blipFill>
        <p:spPr>
          <a:xfrm>
            <a:off x="4671081" y="8819702"/>
            <a:ext cx="1777073" cy="360000"/>
          </a:xfrm>
          <a:prstGeom prst="rect">
            <a:avLst/>
          </a:prstGeom>
        </p:spPr>
      </p:pic>
      <p:pic>
        <p:nvPicPr>
          <p:cNvPr id="26" name="Picture 25" descr="A blue and grey logo&#10;&#10;Description automatically generated">
            <a:extLst>
              <a:ext uri="{FF2B5EF4-FFF2-40B4-BE49-F238E27FC236}">
                <a16:creationId xmlns:a16="http://schemas.microsoft.com/office/drawing/2014/main" id="{5258EB8B-CFCC-C274-C226-760B3D11A6D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979706" y="8871587"/>
            <a:ext cx="1173879" cy="478247"/>
          </a:xfrm>
          <a:prstGeom prst="rect">
            <a:avLst/>
          </a:prstGeom>
        </p:spPr>
      </p:pic>
      <p:sp>
        <p:nvSpPr>
          <p:cNvPr id="38" name="TextBox 37">
            <a:extLst>
              <a:ext uri="{FF2B5EF4-FFF2-40B4-BE49-F238E27FC236}">
                <a16:creationId xmlns:a16="http://schemas.microsoft.com/office/drawing/2014/main" id="{D9DE5173-2A75-13CE-E94E-14BF01E0839B}"/>
              </a:ext>
            </a:extLst>
          </p:cNvPr>
          <p:cNvSpPr txBox="1"/>
          <p:nvPr/>
        </p:nvSpPr>
        <p:spPr>
          <a:xfrm>
            <a:off x="669386" y="6244888"/>
            <a:ext cx="5800531" cy="461665"/>
          </a:xfrm>
          <a:prstGeom prst="rect">
            <a:avLst/>
          </a:prstGeom>
          <a:noFill/>
        </p:spPr>
        <p:txBody>
          <a:bodyPr wrap="square" rtlCol="0">
            <a:spAutoFit/>
          </a:bodyPr>
          <a:lstStyle/>
          <a:p>
            <a:r>
              <a:rPr lang="en-GB" sz="1200" dirty="0">
                <a:solidFill>
                  <a:srgbClr val="0D496B"/>
                </a:solidFill>
                <a:cs typeface="Calibri"/>
              </a:rPr>
              <a:t>To avoid double counts or missed counts on </a:t>
            </a:r>
            <a:r>
              <a:rPr lang="en-GB" sz="1200" b="1" dirty="0">
                <a:solidFill>
                  <a:srgbClr val="0D496B"/>
                </a:solidFill>
                <a:cs typeface="Calibri"/>
              </a:rPr>
              <a:t>manual stations</a:t>
            </a:r>
            <a:r>
              <a:rPr lang="en-GB" sz="1200" dirty="0">
                <a:solidFill>
                  <a:srgbClr val="0D496B"/>
                </a:solidFill>
                <a:cs typeface="Calibri"/>
              </a:rPr>
              <a:t>, the signal from the part-counting sensor, can be “conditioned” (anti-bounce, anti-miss)</a:t>
            </a:r>
          </a:p>
        </p:txBody>
      </p:sp>
      <p:pic>
        <p:nvPicPr>
          <p:cNvPr id="40" name="Picture 39">
            <a:extLst>
              <a:ext uri="{FF2B5EF4-FFF2-40B4-BE49-F238E27FC236}">
                <a16:creationId xmlns:a16="http://schemas.microsoft.com/office/drawing/2014/main" id="{BBF1BA1E-6B2F-7050-8652-7BCBA3A40CD7}"/>
              </a:ext>
            </a:extLst>
          </p:cNvPr>
          <p:cNvPicPr>
            <a:picLocks noChangeAspect="1"/>
          </p:cNvPicPr>
          <p:nvPr/>
        </p:nvPicPr>
        <p:blipFill rotWithShape="1">
          <a:blip r:embed="rId13"/>
          <a:srcRect r="29386"/>
          <a:stretch/>
        </p:blipFill>
        <p:spPr>
          <a:xfrm>
            <a:off x="1137922" y="6842898"/>
            <a:ext cx="3533159" cy="1777128"/>
          </a:xfrm>
          <a:prstGeom prst="rect">
            <a:avLst/>
          </a:prstGeom>
        </p:spPr>
      </p:pic>
      <p:pic>
        <p:nvPicPr>
          <p:cNvPr id="44" name="Picture 43" descr="A black and white logo&#10;&#10;Description automatically generated">
            <a:extLst>
              <a:ext uri="{FF2B5EF4-FFF2-40B4-BE49-F238E27FC236}">
                <a16:creationId xmlns:a16="http://schemas.microsoft.com/office/drawing/2014/main" id="{88C0DCAB-84D5-BF82-F643-CF48B57847C2}"/>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35124" y="8807678"/>
            <a:ext cx="1757832" cy="377716"/>
          </a:xfrm>
          <a:prstGeom prst="rect">
            <a:avLst/>
          </a:prstGeom>
        </p:spPr>
      </p:pic>
      <p:sp>
        <p:nvSpPr>
          <p:cNvPr id="45" name="TextBox 44">
            <a:extLst>
              <a:ext uri="{FF2B5EF4-FFF2-40B4-BE49-F238E27FC236}">
                <a16:creationId xmlns:a16="http://schemas.microsoft.com/office/drawing/2014/main" id="{81CE6CB4-643E-7F94-4BEC-C48349442E00}"/>
              </a:ext>
            </a:extLst>
          </p:cNvPr>
          <p:cNvSpPr txBox="1"/>
          <p:nvPr/>
        </p:nvSpPr>
        <p:spPr>
          <a:xfrm>
            <a:off x="4775186" y="7319731"/>
            <a:ext cx="1889784" cy="559961"/>
          </a:xfrm>
          <a:prstGeom prst="rect">
            <a:avLst/>
          </a:prstGeom>
          <a:noFill/>
        </p:spPr>
        <p:txBody>
          <a:bodyPr wrap="square" rtlCol="0">
            <a:spAutoFit/>
          </a:bodyPr>
          <a:lstStyle/>
          <a:p>
            <a:r>
              <a:rPr lang="en-GB" sz="1013" dirty="0">
                <a:solidFill>
                  <a:srgbClr val="0D496B"/>
                </a:solidFill>
                <a:latin typeface="Avenir Next LT Pro" panose="020B0504020202020204" pitchFamily="34" charset="0"/>
              </a:rPr>
              <a:t>Sample Rate is the scan time of all nodes in the network: 62.5ms (fastest possible)</a:t>
            </a:r>
          </a:p>
        </p:txBody>
      </p:sp>
    </p:spTree>
    <p:extLst>
      <p:ext uri="{BB962C8B-B14F-4D97-AF65-F5344CB8AC3E}">
        <p14:creationId xmlns:p14="http://schemas.microsoft.com/office/powerpoint/2010/main" val="1476466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DD041-C7BE-6F23-2981-5A5D9256045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F5BCC9E-A616-DDB9-7A75-DEEADC8E5EE3}"/>
              </a:ext>
            </a:extLst>
          </p:cNvPr>
          <p:cNvSpPr txBox="1"/>
          <p:nvPr/>
        </p:nvSpPr>
        <p:spPr>
          <a:xfrm>
            <a:off x="763214" y="274597"/>
            <a:ext cx="4982678"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See the unseen</a:t>
            </a:r>
          </a:p>
          <a:p>
            <a:pPr marL="0" marR="0" lvl="0" indent="0" algn="l" defTabSz="457200" rtl="0" eaLnBrk="1" fontAlgn="auto" latinLnBrk="0" hangingPunct="1">
              <a:lnSpc>
                <a:spcPct val="107000"/>
              </a:lnSpc>
              <a:spcBef>
                <a:spcPts val="0"/>
              </a:spcBef>
              <a:spcAft>
                <a:spcPts val="300"/>
              </a:spcAft>
              <a:buClrTx/>
              <a:buSzTx/>
              <a:buFontTx/>
              <a:buNone/>
              <a:tabLst/>
              <a:defRPr/>
            </a:pP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Revolutionise downtime analysis with visual root-cause insights</a:t>
            </a:r>
            <a:endParaRPr lang="en-IE" sz="2000" b="1" dirty="0">
              <a:solidFill>
                <a:srgbClr val="0A597A"/>
              </a:solidFill>
              <a:latin typeface="AvenirNext LT Pro Bold" panose="020B0804020202020204"/>
              <a:ea typeface="+mj-ea"/>
              <a:cs typeface="+mj-cs"/>
            </a:endParaRPr>
          </a:p>
        </p:txBody>
      </p:sp>
      <p:sp>
        <p:nvSpPr>
          <p:cNvPr id="2" name="Action Button: Go Home 1">
            <a:hlinkClick r:id="rId2" action="ppaction://hlinksldjump" highlightClick="1"/>
            <a:hlinkHover r:id="" action="ppaction://hlinkshowjump?jump=firstslide"/>
            <a:extLst>
              <a:ext uri="{FF2B5EF4-FFF2-40B4-BE49-F238E27FC236}">
                <a16:creationId xmlns:a16="http://schemas.microsoft.com/office/drawing/2014/main" id="{D97C2BC7-B8C2-9289-7F49-4717D1DC73B4}"/>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0D942D82-9547-C4B2-2B55-D20173AFEAF2}"/>
              </a:ext>
            </a:extLst>
          </p:cNvPr>
          <p:cNvSpPr txBox="1"/>
          <p:nvPr/>
        </p:nvSpPr>
        <p:spPr>
          <a:xfrm>
            <a:off x="2803359" y="4284095"/>
            <a:ext cx="3899724" cy="2848280"/>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Event recording hardware</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Event recording (up to 40s before/after trigger)</a:t>
            </a:r>
          </a:p>
          <a:p>
            <a:pPr marL="742950" lvl="1" indent="-285750">
              <a:lnSpc>
                <a:spcPct val="107000"/>
              </a:lnSpc>
              <a:buFont typeface="Courier New" panose="02070309020205020404" pitchFamily="49" charset="0"/>
              <a:buChar char="o"/>
            </a:pPr>
            <a:r>
              <a:rPr lang="en-IE" sz="1400" dirty="0">
                <a:solidFill>
                  <a:srgbClr val="0A597A"/>
                </a:solidFill>
                <a:latin typeface="AvenirNext LT Pro Bold" panose="020B0804020202020204"/>
                <a:ea typeface="+mj-ea"/>
                <a:cs typeface="+mj-cs"/>
              </a:rPr>
              <a:t>Full integration into </a:t>
            </a:r>
            <a:r>
              <a:rPr lang="en-IE" sz="1400" i="1" dirty="0">
                <a:solidFill>
                  <a:srgbClr val="0A597A"/>
                </a:solidFill>
                <a:latin typeface="AvenirNext LT Pro Bold" panose="020B0804020202020204"/>
                <a:ea typeface="+mj-ea"/>
                <a:cs typeface="+mj-cs"/>
              </a:rPr>
              <a:t>Downtime Viewer </a:t>
            </a:r>
            <a:r>
              <a:rPr lang="en-IE" sz="1400" dirty="0">
                <a:solidFill>
                  <a:srgbClr val="0A597A"/>
                </a:solidFill>
                <a:latin typeface="AvenirNext LT Pro Bold" panose="020B0804020202020204"/>
                <a:ea typeface="+mj-ea"/>
                <a:cs typeface="+mj-cs"/>
              </a:rPr>
              <a:t>Software</a:t>
            </a:r>
          </a:p>
          <a:p>
            <a:pPr marL="742950" lvl="1" indent="-285750">
              <a:lnSpc>
                <a:spcPct val="107000"/>
              </a:lnSpc>
              <a:buFont typeface="Courier New" panose="02070309020205020404" pitchFamily="49" charset="0"/>
              <a:buChar char="o"/>
            </a:pPr>
            <a:r>
              <a:rPr lang="en-IE" sz="1400" dirty="0">
                <a:solidFill>
                  <a:srgbClr val="0A597A"/>
                </a:solidFill>
                <a:latin typeface="AvenirNext LT Pro Bold" panose="020B0804020202020204"/>
                <a:ea typeface="+mj-ea"/>
                <a:cs typeface="+mj-cs"/>
              </a:rPr>
              <a:t>Can be triggered by wireless sensor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Streaming/Remote monitoring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Snapshot/Quality documentation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Industrial rugged design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Miniature size</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RTSP or MJPEG stream</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6GB storage</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20" name="Picture 19" descr="A blue and grey logo&#10;&#10;Description automatically generated">
            <a:extLst>
              <a:ext uri="{FF2B5EF4-FFF2-40B4-BE49-F238E27FC236}">
                <a16:creationId xmlns:a16="http://schemas.microsoft.com/office/drawing/2014/main" id="{2E827ECA-EA4D-B788-9638-85D77F714F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9706" y="8884287"/>
            <a:ext cx="1173879" cy="478247"/>
          </a:xfrm>
          <a:prstGeom prst="rect">
            <a:avLst/>
          </a:prstGeom>
        </p:spPr>
      </p:pic>
      <p:sp>
        <p:nvSpPr>
          <p:cNvPr id="22" name="TextBox 21">
            <a:extLst>
              <a:ext uri="{FF2B5EF4-FFF2-40B4-BE49-F238E27FC236}">
                <a16:creationId xmlns:a16="http://schemas.microsoft.com/office/drawing/2014/main" id="{C7B3049B-085D-669D-652F-315CB7518F66}"/>
              </a:ext>
            </a:extLst>
          </p:cNvPr>
          <p:cNvSpPr txBox="1"/>
          <p:nvPr/>
        </p:nvSpPr>
        <p:spPr>
          <a:xfrm>
            <a:off x="1485604" y="6763043"/>
            <a:ext cx="1075307" cy="369332"/>
          </a:xfrm>
          <a:prstGeom prst="rect">
            <a:avLst/>
          </a:prstGeom>
          <a:noFill/>
          <a:scene3d>
            <a:camera prst="perspectiveContrastingRightFacing">
              <a:rot lat="577259" lon="19571133" rev="319057"/>
            </a:camera>
            <a:lightRig rig="threePt" dir="t"/>
          </a:scene3d>
        </p:spPr>
        <p:txBody>
          <a:bodyPr wrap="square" rtlCol="0">
            <a:spAutoFit/>
          </a:bodyPr>
          <a:lstStyle/>
          <a:p>
            <a:r>
              <a:rPr lang="en-IE" dirty="0">
                <a:solidFill>
                  <a:schemeClr val="tx2"/>
                </a:solidFill>
              </a:rPr>
              <a:t>58mm</a:t>
            </a:r>
          </a:p>
        </p:txBody>
      </p:sp>
      <p:pic>
        <p:nvPicPr>
          <p:cNvPr id="29" name="Picture 28">
            <a:extLst>
              <a:ext uri="{FF2B5EF4-FFF2-40B4-BE49-F238E27FC236}">
                <a16:creationId xmlns:a16="http://schemas.microsoft.com/office/drawing/2014/main" id="{0AC2983B-A93B-1F4C-199A-EB51EECD8AB8}"/>
              </a:ext>
            </a:extLst>
          </p:cNvPr>
          <p:cNvPicPr>
            <a:picLocks noChangeAspect="1"/>
          </p:cNvPicPr>
          <p:nvPr/>
        </p:nvPicPr>
        <p:blipFill>
          <a:blip r:embed="rId4"/>
          <a:stretch>
            <a:fillRect/>
          </a:stretch>
        </p:blipFill>
        <p:spPr>
          <a:xfrm>
            <a:off x="638943" y="1125732"/>
            <a:ext cx="5562691" cy="2880286"/>
          </a:xfrm>
          <a:prstGeom prst="rect">
            <a:avLst/>
          </a:prstGeom>
        </p:spPr>
      </p:pic>
      <p:sp>
        <p:nvSpPr>
          <p:cNvPr id="32" name="TextBox 31">
            <a:extLst>
              <a:ext uri="{FF2B5EF4-FFF2-40B4-BE49-F238E27FC236}">
                <a16:creationId xmlns:a16="http://schemas.microsoft.com/office/drawing/2014/main" id="{935943ED-B788-44B0-BCDF-DD0C6E35304E}"/>
              </a:ext>
            </a:extLst>
          </p:cNvPr>
          <p:cNvSpPr txBox="1"/>
          <p:nvPr/>
        </p:nvSpPr>
        <p:spPr>
          <a:xfrm>
            <a:off x="3429000" y="7479545"/>
            <a:ext cx="2682664" cy="905376"/>
          </a:xfrm>
          <a:prstGeom prst="rect">
            <a:avLst/>
          </a:prstGeom>
          <a:noFill/>
        </p:spPr>
        <p:txBody>
          <a:bodyPr wrap="square">
            <a:spAutoFit/>
          </a:bodyPr>
          <a:lstStyle/>
          <a:p>
            <a:pPr>
              <a:lnSpc>
                <a:spcPct val="107000"/>
              </a:lnSpc>
            </a:pPr>
            <a:r>
              <a:rPr lang="en-IE" b="1" i="1" dirty="0">
                <a:solidFill>
                  <a:srgbClr val="3EC4FF"/>
                </a:solidFill>
                <a:latin typeface="AvenirNext LT Pro Bold" panose="020B0804020202020204"/>
                <a:ea typeface="+mj-ea"/>
                <a:cs typeface="+mj-cs"/>
                <a:hlinkClick r:id="rId5">
                  <a:extLst>
                    <a:ext uri="{A12FA001-AC4F-418D-AE19-62706E023703}">
                      <ahyp:hlinkClr xmlns:ahyp="http://schemas.microsoft.com/office/drawing/2018/hyperlinkcolor" val="tx"/>
                    </a:ext>
                  </a:extLst>
                </a:hlinkClick>
              </a:rPr>
              <a:t>Link to </a:t>
            </a:r>
            <a:r>
              <a:rPr lang="en-IE" b="1" i="1" dirty="0">
                <a:solidFill>
                  <a:srgbClr val="3EC4FF"/>
                </a:solidFill>
                <a:latin typeface="AvenirNext LT Pro Bold" panose="020B0804020202020204"/>
                <a:ea typeface="+mj-ea"/>
                <a:cs typeface="+mj-cs"/>
                <a:hlinkClick r:id="rId6">
                  <a:extLst>
                    <a:ext uri="{A12FA001-AC4F-418D-AE19-62706E023703}">
                      <ahyp:hlinkClr xmlns:ahyp="http://schemas.microsoft.com/office/drawing/2018/hyperlinkcolor" val="tx"/>
                    </a:ext>
                  </a:extLst>
                </a:hlinkClick>
              </a:rPr>
              <a:t>sensingCam</a:t>
            </a:r>
            <a:r>
              <a:rPr lang="en-IE" b="1" i="1" dirty="0">
                <a:solidFill>
                  <a:srgbClr val="3EC4FF"/>
                </a:solidFill>
                <a:latin typeface="AvenirNext LT Pro Bold" panose="020B0804020202020204"/>
                <a:ea typeface="+mj-ea"/>
                <a:cs typeface="+mj-cs"/>
                <a:hlinkClick r:id="rId5">
                  <a:extLst>
                    <a:ext uri="{A12FA001-AC4F-418D-AE19-62706E023703}">
                      <ahyp:hlinkClr xmlns:ahyp="http://schemas.microsoft.com/office/drawing/2018/hyperlinkcolor" val="tx"/>
                    </a:ext>
                  </a:extLst>
                </a:hlinkClick>
              </a:rPr>
              <a:t> Video</a:t>
            </a:r>
            <a:endParaRPr lang="en-IE" b="1" i="1" dirty="0">
              <a:solidFill>
                <a:srgbClr val="3EC4FF"/>
              </a:solidFill>
              <a:latin typeface="AvenirNext LT Pro Bold" panose="020B0804020202020204"/>
              <a:ea typeface="+mj-ea"/>
              <a:cs typeface="+mj-cs"/>
            </a:endParaRPr>
          </a:p>
          <a:p>
            <a:pPr>
              <a:lnSpc>
                <a:spcPct val="107000"/>
              </a:lnSpc>
            </a:pPr>
            <a:r>
              <a:rPr lang="en-IE" b="1" i="1" dirty="0">
                <a:solidFill>
                  <a:srgbClr val="3EC4FF"/>
                </a:solidFill>
                <a:latin typeface="AvenirNext LT Pro Bold" panose="020B0804020202020204"/>
                <a:ea typeface="+mj-ea"/>
                <a:cs typeface="+mj-cs"/>
                <a:hlinkClick r:id="rId7"/>
              </a:rPr>
              <a:t>Datasheet</a:t>
            </a:r>
            <a:endParaRPr lang="en-IE" i="1" dirty="0">
              <a:solidFill>
                <a:srgbClr val="3EC4FF"/>
              </a:solidFill>
              <a:latin typeface="AvenirNext LT Pro Bold" panose="020B0804020202020204"/>
              <a:ea typeface="+mj-ea"/>
              <a:cs typeface="+mj-cs"/>
            </a:endParaRP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34" name="Picture 33" descr="A blue camera with a black circle&#10;&#10;AI-generated content may be incorrect.">
            <a:extLst>
              <a:ext uri="{FF2B5EF4-FFF2-40B4-BE49-F238E27FC236}">
                <a16:creationId xmlns:a16="http://schemas.microsoft.com/office/drawing/2014/main" id="{90440933-E0F4-9E73-2AD7-317C78FEC9B4}"/>
              </a:ext>
            </a:extLst>
          </p:cNvPr>
          <p:cNvPicPr>
            <a:picLocks noChangeAspect="1"/>
          </p:cNvPicPr>
          <p:nvPr/>
        </p:nvPicPr>
        <p:blipFill>
          <a:blip r:embed="rId8" cstate="print">
            <a:extLst>
              <a:ext uri="{28A0092B-C50C-407E-A947-70E740481C1C}">
                <a14:useLocalDpi xmlns:a14="http://schemas.microsoft.com/office/drawing/2010/main" val="0"/>
              </a:ext>
            </a:extLst>
          </a:blip>
          <a:srcRect l="31228" t="31533" r="31579" b="30669"/>
          <a:stretch/>
        </p:blipFill>
        <p:spPr>
          <a:xfrm>
            <a:off x="443934" y="4710016"/>
            <a:ext cx="2232218" cy="2147983"/>
          </a:xfrm>
          <a:prstGeom prst="rect">
            <a:avLst/>
          </a:prstGeom>
        </p:spPr>
      </p:pic>
      <p:cxnSp>
        <p:nvCxnSpPr>
          <p:cNvPr id="13" name="Straight Arrow Connector 12">
            <a:extLst>
              <a:ext uri="{FF2B5EF4-FFF2-40B4-BE49-F238E27FC236}">
                <a16:creationId xmlns:a16="http://schemas.microsoft.com/office/drawing/2014/main" id="{91B0B81F-838C-3112-4C14-AFC1CE537597}"/>
              </a:ext>
            </a:extLst>
          </p:cNvPr>
          <p:cNvCxnSpPr>
            <a:cxnSpLocks/>
          </p:cNvCxnSpPr>
          <p:nvPr/>
        </p:nvCxnSpPr>
        <p:spPr>
          <a:xfrm flipV="1">
            <a:off x="1034715" y="6677525"/>
            <a:ext cx="1526196" cy="283149"/>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6BC49881-183D-FC73-446D-C98BC4117336}"/>
              </a:ext>
            </a:extLst>
          </p:cNvPr>
          <p:cNvPicPr>
            <a:picLocks noChangeAspect="1"/>
          </p:cNvPicPr>
          <p:nvPr/>
        </p:nvPicPr>
        <p:blipFill>
          <a:blip r:embed="rId9"/>
          <a:stretch>
            <a:fillRect/>
          </a:stretch>
        </p:blipFill>
        <p:spPr>
          <a:xfrm>
            <a:off x="565707" y="7626866"/>
            <a:ext cx="1839793" cy="1301317"/>
          </a:xfrm>
          <a:prstGeom prst="rect">
            <a:avLst/>
          </a:prstGeom>
          <a:effectLst>
            <a:softEdge rad="165100"/>
          </a:effectLst>
        </p:spPr>
      </p:pic>
      <p:pic>
        <p:nvPicPr>
          <p:cNvPr id="5" name="Picture 4">
            <a:extLst>
              <a:ext uri="{FF2B5EF4-FFF2-40B4-BE49-F238E27FC236}">
                <a16:creationId xmlns:a16="http://schemas.microsoft.com/office/drawing/2014/main" id="{97618B6F-7498-7874-E059-D6235EDED768}"/>
              </a:ext>
            </a:extLst>
          </p:cNvPr>
          <p:cNvPicPr>
            <a:picLocks noChangeAspect="1"/>
          </p:cNvPicPr>
          <p:nvPr/>
        </p:nvPicPr>
        <p:blipFill>
          <a:blip r:embed="rId10"/>
          <a:stretch>
            <a:fillRect/>
          </a:stretch>
        </p:blipFill>
        <p:spPr>
          <a:xfrm>
            <a:off x="1787315" y="1666310"/>
            <a:ext cx="3262094" cy="2059952"/>
          </a:xfrm>
          <a:prstGeom prst="rect">
            <a:avLst/>
          </a:prstGeom>
        </p:spPr>
      </p:pic>
    </p:spTree>
    <p:extLst>
      <p:ext uri="{BB962C8B-B14F-4D97-AF65-F5344CB8AC3E}">
        <p14:creationId xmlns:p14="http://schemas.microsoft.com/office/powerpoint/2010/main" val="3991393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D743A-D66C-8592-BECA-3B7F5E56BAF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C129BE3-8A2E-721A-91F5-D0189DA3CE1B}"/>
              </a:ext>
            </a:extLst>
          </p:cNvPr>
          <p:cNvSpPr txBox="1"/>
          <p:nvPr/>
        </p:nvSpPr>
        <p:spPr>
          <a:xfrm>
            <a:off x="577864" y="618936"/>
            <a:ext cx="4218218"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Energy and Utility Monitoring</a:t>
            </a:r>
            <a:endParaRPr lang="en-GB" sz="2000" b="1" dirty="0">
              <a:solidFill>
                <a:srgbClr val="0A597A"/>
              </a:solidFill>
              <a:latin typeface="AvenirNext LT Pro Bold" panose="020B0804020202020204"/>
              <a:ea typeface="+mj-ea"/>
              <a:cs typeface="+mj-cs"/>
            </a:endParaRPr>
          </a:p>
          <a:p>
            <a:pPr>
              <a:lnSpc>
                <a:spcPct val="107000"/>
              </a:lnSpc>
              <a:spcAft>
                <a:spcPts val="300"/>
              </a:spcAft>
            </a:pPr>
            <a:r>
              <a:rPr lang="en-IE" sz="1400" dirty="0">
                <a:solidFill>
                  <a:srgbClr val="0A597A"/>
                </a:solidFill>
                <a:latin typeface="AvenirNext LT Pro Bold" panose="020B0804020202020204"/>
                <a:ea typeface="+mj-ea"/>
                <a:cs typeface="+mj-cs"/>
              </a:rPr>
              <a:t>See Every Kilowatt. Track Every Drop.</a:t>
            </a:r>
          </a:p>
        </p:txBody>
      </p:sp>
      <p:sp>
        <p:nvSpPr>
          <p:cNvPr id="2" name="TextBox 1">
            <a:extLst>
              <a:ext uri="{FF2B5EF4-FFF2-40B4-BE49-F238E27FC236}">
                <a16:creationId xmlns:a16="http://schemas.microsoft.com/office/drawing/2014/main" id="{187062C6-D12E-8B14-9BA1-92F8F312883E}"/>
              </a:ext>
            </a:extLst>
          </p:cNvPr>
          <p:cNvSpPr txBox="1"/>
          <p:nvPr/>
        </p:nvSpPr>
        <p:spPr>
          <a:xfrm>
            <a:off x="577864" y="1462865"/>
            <a:ext cx="5855483" cy="5693866"/>
          </a:xfrm>
          <a:prstGeom prst="rect">
            <a:avLst/>
          </a:prstGeom>
          <a:noFill/>
        </p:spPr>
        <p:txBody>
          <a:bodyPr wrap="square">
            <a:spAutoFit/>
          </a:bodyPr>
          <a:lstStyle/>
          <a:p>
            <a:r>
              <a:rPr lang="en-IE" sz="1400" dirty="0">
                <a:solidFill>
                  <a:srgbClr val="0A597A"/>
                </a:solidFill>
                <a:latin typeface="AvenirNext LT Pro Bold" panose="020B0804020202020204"/>
                <a:ea typeface="+mj-ea"/>
                <a:cs typeface="+mj-cs"/>
              </a:rPr>
              <a:t>SmartFactory’s energy monitoring solutions give you the ability to easily and precisely measure, log, and analyse energy usage across your facility enabling better decisions, faster diagnostics, and measurable sustainability improvements.</a:t>
            </a:r>
          </a:p>
          <a:p>
            <a:endParaRPr lang="en-IE" sz="1400" dirty="0">
              <a:solidFill>
                <a:srgbClr val="0A597A"/>
              </a:solidFill>
              <a:latin typeface="AvenirNext LT Pro Bold" panose="020B0804020202020204"/>
              <a:ea typeface="+mj-ea"/>
              <a:cs typeface="+mj-cs"/>
            </a:endParaRPr>
          </a:p>
          <a:p>
            <a:r>
              <a:rPr lang="en-IE" sz="1400" dirty="0">
                <a:solidFill>
                  <a:srgbClr val="0A597A"/>
                </a:solidFill>
                <a:latin typeface="AvenirNext LT Pro Bold" panose="020B0804020202020204"/>
                <a:ea typeface="+mj-ea"/>
                <a:cs typeface="+mj-cs"/>
              </a:rPr>
              <a:t>Monitor power consumption at the plant, line, or machine level. Choose from DIN-rail, panel-mount, or self-powered energy meters with Modbus integration.</a:t>
            </a:r>
          </a:p>
          <a:p>
            <a:endParaRPr lang="en-IE" sz="1400" dirty="0">
              <a:solidFill>
                <a:srgbClr val="0A597A"/>
              </a:solidFill>
              <a:latin typeface="AvenirNext LT Pro Bold" panose="020B0804020202020204"/>
              <a:ea typeface="+mj-ea"/>
              <a:cs typeface="+mj-cs"/>
            </a:endParaRPr>
          </a:p>
          <a:p>
            <a:r>
              <a:rPr lang="en-IE" sz="1400" dirty="0">
                <a:solidFill>
                  <a:srgbClr val="0A597A"/>
                </a:solidFill>
                <a:latin typeface="AvenirNext LT Pro Bold" panose="020B0804020202020204"/>
                <a:ea typeface="+mj-ea"/>
                <a:cs typeface="+mj-cs"/>
              </a:rPr>
              <a:t>A broad range of CTs lets you monitor current draw from almost any machine or panel, with minimal installation effort.</a:t>
            </a:r>
          </a:p>
          <a:p>
            <a:endParaRPr lang="en-IE" sz="1400" dirty="0">
              <a:solidFill>
                <a:srgbClr val="0A597A"/>
              </a:solidFill>
              <a:latin typeface="AvenirNext LT Pro Bold" panose="020B0804020202020204"/>
              <a:ea typeface="+mj-ea"/>
              <a:cs typeface="+mj-cs"/>
            </a:endParaRPr>
          </a:p>
          <a:p>
            <a:endParaRPr lang="en-IE" sz="1400"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Liquid Insight Without the Hassle</a:t>
            </a:r>
          </a:p>
          <a:p>
            <a:r>
              <a:rPr lang="en-IE" sz="1400" dirty="0">
                <a:solidFill>
                  <a:srgbClr val="0A597A"/>
                </a:solidFill>
                <a:latin typeface="AvenirNext LT Pro Bold" panose="020B0804020202020204"/>
                <a:ea typeface="+mj-ea"/>
                <a:cs typeface="+mj-cs"/>
              </a:rPr>
              <a:t>Measure usage of water and other conductive liquids with pulse-based sensors that integrate easily and quickly with wireless sensors. The optional clamp-on meters can be easily retrofitted to existing pipework, without cutting pipes or production downtime.</a:t>
            </a:r>
          </a:p>
          <a:p>
            <a:endParaRPr lang="en-IE" sz="1400" dirty="0">
              <a:solidFill>
                <a:srgbClr val="0A597A"/>
              </a:solidFill>
              <a:latin typeface="AvenirNext LT Pro Bold" panose="020B0804020202020204"/>
              <a:ea typeface="+mj-ea"/>
              <a:cs typeface="+mj-cs"/>
            </a:endParaRPr>
          </a:p>
          <a:p>
            <a:endParaRPr lang="en-IE" sz="1400"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Stop Guessing Your Air Consumption</a:t>
            </a:r>
          </a:p>
          <a:p>
            <a:r>
              <a:rPr lang="en-IE" sz="1400" dirty="0">
                <a:solidFill>
                  <a:srgbClr val="0A597A"/>
                </a:solidFill>
                <a:latin typeface="AvenirNext LT Pro Bold" panose="020B0804020202020204"/>
                <a:ea typeface="+mj-ea"/>
                <a:cs typeface="+mj-cs"/>
              </a:rPr>
              <a:t>Compressed air is expensive — this solution helps you detect overuse, leaks or inefficient systems by monitoring localised usage in real time. The optional clamp-on meters can be easily retrofitted to existing pipework, without cutting pipes or production downtime.</a:t>
            </a:r>
          </a:p>
          <a:p>
            <a:endParaRPr lang="en-GB" sz="1400" dirty="0">
              <a:solidFill>
                <a:srgbClr val="0A597A"/>
              </a:solidFill>
              <a:highlight>
                <a:srgbClr val="FFFF00"/>
              </a:highlight>
              <a:latin typeface="AvenirNext LT Pro Bold" panose="020B0804020202020204"/>
              <a:ea typeface="+mj-ea"/>
              <a:cs typeface="+mj-cs"/>
            </a:endParaRPr>
          </a:p>
        </p:txBody>
      </p:sp>
      <p:sp>
        <p:nvSpPr>
          <p:cNvPr id="11" name="Action Button: Go Home 10">
            <a:hlinkClick r:id="rId2" action="ppaction://hlinksldjump" highlightClick="1"/>
            <a:hlinkHover r:id="" action="ppaction://hlinkshowjump?jump=firstslide"/>
            <a:extLst>
              <a:ext uri="{FF2B5EF4-FFF2-40B4-BE49-F238E27FC236}">
                <a16:creationId xmlns:a16="http://schemas.microsoft.com/office/drawing/2014/main" id="{7C10016A-CFD8-1637-82D6-78F086059E1A}"/>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02663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F2FBAC1-F109-47D9-BB40-C89515C4310A}"/>
              </a:ext>
            </a:extLst>
          </p:cNvPr>
          <p:cNvSpPr txBox="1"/>
          <p:nvPr/>
        </p:nvSpPr>
        <p:spPr>
          <a:xfrm>
            <a:off x="763214" y="200455"/>
            <a:ext cx="4621586"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Energy Monitoring</a:t>
            </a:r>
          </a:p>
          <a:p>
            <a:pPr>
              <a:lnSpc>
                <a:spcPct val="107000"/>
              </a:lnSpc>
              <a:spcAft>
                <a:spcPts val="300"/>
              </a:spcAft>
            </a:pP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Pioneering solutions for energy monitoring</a:t>
            </a:r>
            <a:endParaRPr lang="en-IE" sz="2000" b="1" dirty="0">
              <a:solidFill>
                <a:srgbClr val="0A597A"/>
              </a:solidFill>
              <a:latin typeface="AvenirNext LT Pro Bold" panose="020B0804020202020204"/>
              <a:ea typeface="+mj-ea"/>
              <a:cs typeface="+mj-cs"/>
            </a:endParaRPr>
          </a:p>
        </p:txBody>
      </p:sp>
      <p:sp>
        <p:nvSpPr>
          <p:cNvPr id="2" name="Action Button: Go Home 1">
            <a:hlinkClick r:id="rId2" action="ppaction://hlinksldjump" highlightClick="1"/>
            <a:hlinkHover r:id="" action="ppaction://hlinkshowjump?jump=firstslide"/>
            <a:extLst>
              <a:ext uri="{FF2B5EF4-FFF2-40B4-BE49-F238E27FC236}">
                <a16:creationId xmlns:a16="http://schemas.microsoft.com/office/drawing/2014/main" id="{32B39AC8-BD52-6EC5-FB41-17DFBC2A25B2}"/>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5" name="Picture 14">
            <a:extLst>
              <a:ext uri="{FF2B5EF4-FFF2-40B4-BE49-F238E27FC236}">
                <a16:creationId xmlns:a16="http://schemas.microsoft.com/office/drawing/2014/main" id="{A6F90677-45BA-30AF-0D50-165C5C80CD29}"/>
              </a:ext>
            </a:extLst>
          </p:cNvPr>
          <p:cNvPicPr>
            <a:picLocks noChangeAspect="1"/>
          </p:cNvPicPr>
          <p:nvPr/>
        </p:nvPicPr>
        <p:blipFill>
          <a:blip r:embed="rId3"/>
          <a:stretch>
            <a:fillRect/>
          </a:stretch>
        </p:blipFill>
        <p:spPr>
          <a:xfrm>
            <a:off x="5095215" y="9026179"/>
            <a:ext cx="1372208" cy="257519"/>
          </a:xfrm>
          <a:prstGeom prst="rect">
            <a:avLst/>
          </a:prstGeom>
        </p:spPr>
      </p:pic>
      <p:pic>
        <p:nvPicPr>
          <p:cNvPr id="4" name="Picture 3">
            <a:hlinkClick r:id="rId4"/>
            <a:extLst>
              <a:ext uri="{FF2B5EF4-FFF2-40B4-BE49-F238E27FC236}">
                <a16:creationId xmlns:a16="http://schemas.microsoft.com/office/drawing/2014/main" id="{00000000-0008-0000-0300-0000F0010000}"/>
              </a:ext>
            </a:extLst>
          </p:cNvPr>
          <p:cNvPicPr>
            <a:picLocks noChangeAspect="1"/>
          </p:cNvPicPr>
          <p:nvPr/>
        </p:nvPicPr>
        <p:blipFill>
          <a:blip r:embed="rId5"/>
          <a:stretch>
            <a:fillRect/>
          </a:stretch>
        </p:blipFill>
        <p:spPr>
          <a:xfrm>
            <a:off x="734375" y="6554450"/>
            <a:ext cx="1244599" cy="1161565"/>
          </a:xfrm>
          <a:prstGeom prst="rect">
            <a:avLst/>
          </a:prstGeom>
        </p:spPr>
      </p:pic>
      <p:pic>
        <p:nvPicPr>
          <p:cNvPr id="5" name="Picture 4">
            <a:extLst>
              <a:ext uri="{FF2B5EF4-FFF2-40B4-BE49-F238E27FC236}">
                <a16:creationId xmlns:a16="http://schemas.microsoft.com/office/drawing/2014/main" id="{5D22AE67-27C4-8127-4FB5-4F5E7DBB9970}"/>
              </a:ext>
            </a:extLst>
          </p:cNvPr>
          <p:cNvPicPr>
            <a:picLocks noChangeAspect="1"/>
          </p:cNvPicPr>
          <p:nvPr/>
        </p:nvPicPr>
        <p:blipFill>
          <a:blip r:embed="rId6"/>
          <a:stretch>
            <a:fillRect/>
          </a:stretch>
        </p:blipFill>
        <p:spPr>
          <a:xfrm>
            <a:off x="618383" y="4820980"/>
            <a:ext cx="1476581" cy="1476581"/>
          </a:xfrm>
          <a:prstGeom prst="rect">
            <a:avLst/>
          </a:prstGeom>
        </p:spPr>
      </p:pic>
      <p:pic>
        <p:nvPicPr>
          <p:cNvPr id="6" name="Picture 5">
            <a:hlinkClick r:id="rId7"/>
            <a:extLst>
              <a:ext uri="{FF2B5EF4-FFF2-40B4-BE49-F238E27FC236}">
                <a16:creationId xmlns:a16="http://schemas.microsoft.com/office/drawing/2014/main" id="{158F552B-D958-4233-92A1-031EB7500E3B}"/>
              </a:ext>
            </a:extLst>
          </p:cNvPr>
          <p:cNvPicPr>
            <a:picLocks noChangeAspect="1"/>
          </p:cNvPicPr>
          <p:nvPr/>
        </p:nvPicPr>
        <p:blipFill>
          <a:blip r:embed="rId8"/>
          <a:stretch>
            <a:fillRect/>
          </a:stretch>
        </p:blipFill>
        <p:spPr>
          <a:xfrm>
            <a:off x="1820391" y="8229225"/>
            <a:ext cx="629649" cy="743255"/>
          </a:xfrm>
          <a:prstGeom prst="rect">
            <a:avLst/>
          </a:prstGeom>
        </p:spPr>
      </p:pic>
      <p:pic>
        <p:nvPicPr>
          <p:cNvPr id="9" name="Picture 8">
            <a:extLst>
              <a:ext uri="{FF2B5EF4-FFF2-40B4-BE49-F238E27FC236}">
                <a16:creationId xmlns:a16="http://schemas.microsoft.com/office/drawing/2014/main" id="{A9DFB0BA-64B2-DFF8-B72C-43719D9A9BE0}"/>
              </a:ext>
            </a:extLst>
          </p:cNvPr>
          <p:cNvPicPr>
            <a:picLocks noChangeAspect="1"/>
          </p:cNvPicPr>
          <p:nvPr/>
        </p:nvPicPr>
        <p:blipFill>
          <a:blip r:embed="rId9"/>
          <a:stretch>
            <a:fillRect/>
          </a:stretch>
        </p:blipFill>
        <p:spPr>
          <a:xfrm>
            <a:off x="190139" y="973323"/>
            <a:ext cx="6467423" cy="3498699"/>
          </a:xfrm>
          <a:prstGeom prst="rect">
            <a:avLst/>
          </a:prstGeom>
        </p:spPr>
      </p:pic>
      <p:sp>
        <p:nvSpPr>
          <p:cNvPr id="10" name="TextBox 9">
            <a:extLst>
              <a:ext uri="{FF2B5EF4-FFF2-40B4-BE49-F238E27FC236}">
                <a16:creationId xmlns:a16="http://schemas.microsoft.com/office/drawing/2014/main" id="{65E6FF6F-7F7D-4430-B33C-FCA833D07768}"/>
              </a:ext>
            </a:extLst>
          </p:cNvPr>
          <p:cNvSpPr txBox="1"/>
          <p:nvPr/>
        </p:nvSpPr>
        <p:spPr>
          <a:xfrm>
            <a:off x="3000254" y="5063313"/>
            <a:ext cx="3525567" cy="2617768"/>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Range of energy monitoring hardware (including)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1-phase and 3-phase meters with CE/MID Certification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DIN rail and panel mounting options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Optional, self-powered inductive meters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Modbus TCP/IP</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Modbus RTU</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Digital inputs/outputs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Measurement in-line or with CT’s</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sp>
        <p:nvSpPr>
          <p:cNvPr id="11" name="TextBox 10">
            <a:extLst>
              <a:ext uri="{FF2B5EF4-FFF2-40B4-BE49-F238E27FC236}">
                <a16:creationId xmlns:a16="http://schemas.microsoft.com/office/drawing/2014/main" id="{880A0CA2-B03A-3934-BBD9-2F22533DB348}"/>
              </a:ext>
            </a:extLst>
          </p:cNvPr>
          <p:cNvSpPr txBox="1"/>
          <p:nvPr/>
        </p:nvSpPr>
        <p:spPr>
          <a:xfrm>
            <a:off x="3000254" y="7660633"/>
            <a:ext cx="3525567" cy="1004186"/>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Current Transformers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Input Current: 50A up to 3000A</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Output Current: 5A</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Optional split CT’s for quick installation</a:t>
            </a:r>
          </a:p>
        </p:txBody>
      </p:sp>
      <p:pic>
        <p:nvPicPr>
          <p:cNvPr id="7" name="Picture 6">
            <a:hlinkClick r:id="rId10"/>
            <a:extLst>
              <a:ext uri="{FF2B5EF4-FFF2-40B4-BE49-F238E27FC236}">
                <a16:creationId xmlns:a16="http://schemas.microsoft.com/office/drawing/2014/main" id="{B00B0C62-5090-7A8B-D008-C41A68CBD08E}"/>
              </a:ext>
            </a:extLst>
          </p:cNvPr>
          <p:cNvPicPr>
            <a:picLocks noChangeAspect="1"/>
          </p:cNvPicPr>
          <p:nvPr/>
        </p:nvPicPr>
        <p:blipFill>
          <a:blip r:embed="rId11"/>
          <a:stretch>
            <a:fillRect/>
          </a:stretch>
        </p:blipFill>
        <p:spPr>
          <a:xfrm>
            <a:off x="298419" y="8019569"/>
            <a:ext cx="971758" cy="928197"/>
          </a:xfrm>
          <a:prstGeom prst="rect">
            <a:avLst/>
          </a:prstGeom>
          <a:effectLst>
            <a:softEdge rad="25400"/>
          </a:effectLst>
        </p:spPr>
      </p:pic>
      <p:pic>
        <p:nvPicPr>
          <p:cNvPr id="13" name="Picture 12">
            <a:extLst>
              <a:ext uri="{FF2B5EF4-FFF2-40B4-BE49-F238E27FC236}">
                <a16:creationId xmlns:a16="http://schemas.microsoft.com/office/drawing/2014/main" id="{DB0B8C56-8179-FB11-5B12-B16762513CC2}"/>
              </a:ext>
            </a:extLst>
          </p:cNvPr>
          <p:cNvPicPr>
            <a:picLocks noChangeAspect="1"/>
          </p:cNvPicPr>
          <p:nvPr/>
        </p:nvPicPr>
        <p:blipFill>
          <a:blip r:embed="rId12"/>
          <a:stretch>
            <a:fillRect/>
          </a:stretch>
        </p:blipFill>
        <p:spPr>
          <a:xfrm>
            <a:off x="3423850" y="8916585"/>
            <a:ext cx="1229005" cy="476705"/>
          </a:xfrm>
          <a:prstGeom prst="rect">
            <a:avLst/>
          </a:prstGeom>
        </p:spPr>
      </p:pic>
    </p:spTree>
    <p:extLst>
      <p:ext uri="{BB962C8B-B14F-4D97-AF65-F5344CB8AC3E}">
        <p14:creationId xmlns:p14="http://schemas.microsoft.com/office/powerpoint/2010/main" val="2749391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0AA0D-CFC2-8D41-D9E4-D77E206A807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775FC3-7B22-4486-3F1D-309F455F4B1B}"/>
              </a:ext>
            </a:extLst>
          </p:cNvPr>
          <p:cNvSpPr txBox="1"/>
          <p:nvPr/>
        </p:nvSpPr>
        <p:spPr>
          <a:xfrm>
            <a:off x="763214" y="200455"/>
            <a:ext cx="4621586"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Utility Monitoring</a:t>
            </a:r>
          </a:p>
          <a:p>
            <a:pPr>
              <a:lnSpc>
                <a:spcPct val="107000"/>
              </a:lnSpc>
              <a:spcAft>
                <a:spcPts val="300"/>
              </a:spcAft>
            </a:pPr>
            <a:r>
              <a:rPr lang="en-IE" sz="1400" dirty="0">
                <a:solidFill>
                  <a:srgbClr val="0A597A"/>
                </a:solidFill>
                <a:latin typeface="AvenirNext LT Pro Bold" panose="020B0804020202020204"/>
              </a:rPr>
              <a:t>Cost-effective</a:t>
            </a: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 solutions for </a:t>
            </a:r>
            <a:r>
              <a:rPr lang="en-IE" sz="1400" dirty="0">
                <a:solidFill>
                  <a:srgbClr val="0A597A"/>
                </a:solidFill>
                <a:latin typeface="AvenirNext LT Pro Bold" panose="020B0804020202020204"/>
              </a:rPr>
              <a:t>liquid and gas</a:t>
            </a: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 monitoring</a:t>
            </a:r>
            <a:endParaRPr lang="en-IE" sz="2000" b="1" dirty="0">
              <a:solidFill>
                <a:srgbClr val="0A597A"/>
              </a:solidFill>
              <a:latin typeface="AvenirNext LT Pro Bold" panose="020B0804020202020204"/>
              <a:ea typeface="+mj-ea"/>
              <a:cs typeface="+mj-cs"/>
            </a:endParaRPr>
          </a:p>
        </p:txBody>
      </p:sp>
      <p:sp>
        <p:nvSpPr>
          <p:cNvPr id="5" name="TextBox 4">
            <a:extLst>
              <a:ext uri="{FF2B5EF4-FFF2-40B4-BE49-F238E27FC236}">
                <a16:creationId xmlns:a16="http://schemas.microsoft.com/office/drawing/2014/main" id="{730F6AA5-FC7D-0644-E456-E89D8EEE5CD6}"/>
              </a:ext>
            </a:extLst>
          </p:cNvPr>
          <p:cNvSpPr txBox="1"/>
          <p:nvPr/>
        </p:nvSpPr>
        <p:spPr>
          <a:xfrm>
            <a:off x="2649799" y="3746138"/>
            <a:ext cx="3785999" cy="2848280"/>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Solution to measure usage of liquids: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Compact design for point-of-use measurement</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Configurable flow threshold with indication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Up to 100L/min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Up to ¾” NPT</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0 to 12 bar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Up to 90</a:t>
            </a:r>
            <a:r>
              <a:rPr lang="en-IE" sz="1400" baseline="30000" dirty="0">
                <a:solidFill>
                  <a:srgbClr val="0A597A"/>
                </a:solidFill>
                <a:latin typeface="AvenirNext LT Pro Bold" panose="020B0804020202020204"/>
                <a:ea typeface="+mj-ea"/>
                <a:cs typeface="+mj-cs"/>
              </a:rPr>
              <a:t>o</a:t>
            </a:r>
            <a:r>
              <a:rPr lang="en-IE" sz="1400" dirty="0">
                <a:solidFill>
                  <a:srgbClr val="0A597A"/>
                </a:solidFill>
                <a:latin typeface="AvenirNext LT Pro Bold" panose="020B0804020202020204"/>
                <a:ea typeface="+mj-ea"/>
                <a:cs typeface="+mj-cs"/>
              </a:rPr>
              <a:t>C medium temperature</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Accuracy ±2% (FS)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Volumetric and totalised flow</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Compatible with wireless technology</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6" name="Picture 5">
            <a:extLst>
              <a:ext uri="{FF2B5EF4-FFF2-40B4-BE49-F238E27FC236}">
                <a16:creationId xmlns:a16="http://schemas.microsoft.com/office/drawing/2014/main" id="{836C7309-E635-4ABC-F0B7-5F2DFDA7EAD7}"/>
              </a:ext>
            </a:extLst>
          </p:cNvPr>
          <p:cNvPicPr>
            <a:picLocks noChangeAspect="1"/>
          </p:cNvPicPr>
          <p:nvPr/>
        </p:nvPicPr>
        <p:blipFill>
          <a:blip r:embed="rId2"/>
          <a:stretch>
            <a:fillRect/>
          </a:stretch>
        </p:blipFill>
        <p:spPr>
          <a:xfrm>
            <a:off x="712432" y="3894422"/>
            <a:ext cx="1348875" cy="1805604"/>
          </a:xfrm>
          <a:prstGeom prst="rect">
            <a:avLst/>
          </a:prstGeom>
        </p:spPr>
      </p:pic>
      <p:pic>
        <p:nvPicPr>
          <p:cNvPr id="7" name="Picture 6" descr="A black and white logo&#10;&#10;Description automatically generated">
            <a:extLst>
              <a:ext uri="{FF2B5EF4-FFF2-40B4-BE49-F238E27FC236}">
                <a16:creationId xmlns:a16="http://schemas.microsoft.com/office/drawing/2014/main" id="{FF94642A-42BC-23EE-1038-D06F05A3B422}"/>
              </a:ext>
            </a:extLst>
          </p:cNvPr>
          <p:cNvPicPr>
            <a:picLocks noChangeAspect="1"/>
          </p:cNvPicPr>
          <p:nvPr/>
        </p:nvPicPr>
        <p:blipFill>
          <a:blip r:embed="rId3">
            <a:extLst>
              <a:ext uri="{28A0092B-C50C-407E-A947-70E740481C1C}">
                <a14:useLocalDpi xmlns:a14="http://schemas.microsoft.com/office/drawing/2010/main" val="0"/>
              </a:ext>
            </a:extLst>
          </a:blip>
          <a:srcRect t="36630" b="36688"/>
          <a:stretch/>
        </p:blipFill>
        <p:spPr>
          <a:xfrm>
            <a:off x="324264" y="3334456"/>
            <a:ext cx="956377" cy="255181"/>
          </a:xfrm>
          <a:prstGeom prst="rect">
            <a:avLst/>
          </a:prstGeom>
        </p:spPr>
      </p:pic>
      <p:pic>
        <p:nvPicPr>
          <p:cNvPr id="8" name="Picture 7" descr="A black and white logo&#10;&#10;Description automatically generated">
            <a:extLst>
              <a:ext uri="{FF2B5EF4-FFF2-40B4-BE49-F238E27FC236}">
                <a16:creationId xmlns:a16="http://schemas.microsoft.com/office/drawing/2014/main" id="{746F9237-58AF-F6FC-FC11-CA808DD8EB9F}"/>
              </a:ext>
            </a:extLst>
          </p:cNvPr>
          <p:cNvPicPr>
            <a:picLocks noChangeAspect="1"/>
          </p:cNvPicPr>
          <p:nvPr/>
        </p:nvPicPr>
        <p:blipFill>
          <a:blip r:embed="rId3">
            <a:extLst>
              <a:ext uri="{28A0092B-C50C-407E-A947-70E740481C1C}">
                <a14:useLocalDpi xmlns:a14="http://schemas.microsoft.com/office/drawing/2010/main" val="0"/>
              </a:ext>
            </a:extLst>
          </a:blip>
          <a:srcRect t="36630" b="36688"/>
          <a:stretch/>
        </p:blipFill>
        <p:spPr>
          <a:xfrm>
            <a:off x="324264" y="5843498"/>
            <a:ext cx="956377" cy="255181"/>
          </a:xfrm>
          <a:prstGeom prst="rect">
            <a:avLst/>
          </a:prstGeom>
        </p:spPr>
      </p:pic>
      <p:pic>
        <p:nvPicPr>
          <p:cNvPr id="9" name="Picture 8">
            <a:extLst>
              <a:ext uri="{FF2B5EF4-FFF2-40B4-BE49-F238E27FC236}">
                <a16:creationId xmlns:a16="http://schemas.microsoft.com/office/drawing/2014/main" id="{D318D305-683F-8B55-F0A5-24BE19EEAD5C}"/>
              </a:ext>
            </a:extLst>
          </p:cNvPr>
          <p:cNvPicPr>
            <a:picLocks noChangeAspect="1"/>
          </p:cNvPicPr>
          <p:nvPr/>
        </p:nvPicPr>
        <p:blipFill>
          <a:blip r:embed="rId4"/>
          <a:stretch>
            <a:fillRect/>
          </a:stretch>
        </p:blipFill>
        <p:spPr>
          <a:xfrm>
            <a:off x="774208" y="1539750"/>
            <a:ext cx="1225322" cy="1566585"/>
          </a:xfrm>
          <a:prstGeom prst="rect">
            <a:avLst/>
          </a:prstGeom>
        </p:spPr>
      </p:pic>
      <p:pic>
        <p:nvPicPr>
          <p:cNvPr id="12" name="Picture 11">
            <a:extLst>
              <a:ext uri="{FF2B5EF4-FFF2-40B4-BE49-F238E27FC236}">
                <a16:creationId xmlns:a16="http://schemas.microsoft.com/office/drawing/2014/main" id="{743E367A-7B77-43D0-7EB1-1363F75E418F}"/>
              </a:ext>
            </a:extLst>
          </p:cNvPr>
          <p:cNvPicPr>
            <a:picLocks noChangeAspect="1"/>
          </p:cNvPicPr>
          <p:nvPr/>
        </p:nvPicPr>
        <p:blipFill>
          <a:blip r:embed="rId5"/>
          <a:stretch>
            <a:fillRect/>
          </a:stretch>
        </p:blipFill>
        <p:spPr>
          <a:xfrm rot="16200000">
            <a:off x="402579" y="6776810"/>
            <a:ext cx="1919153" cy="932756"/>
          </a:xfrm>
          <a:prstGeom prst="rect">
            <a:avLst/>
          </a:prstGeom>
        </p:spPr>
      </p:pic>
      <p:pic>
        <p:nvPicPr>
          <p:cNvPr id="13" name="Picture 12" descr="A black and white logo&#10;&#10;Description automatically generated">
            <a:extLst>
              <a:ext uri="{FF2B5EF4-FFF2-40B4-BE49-F238E27FC236}">
                <a16:creationId xmlns:a16="http://schemas.microsoft.com/office/drawing/2014/main" id="{DB588073-DE8A-E1C6-F57D-37413677B232}"/>
              </a:ext>
            </a:extLst>
          </p:cNvPr>
          <p:cNvPicPr>
            <a:picLocks noChangeAspect="1"/>
          </p:cNvPicPr>
          <p:nvPr/>
        </p:nvPicPr>
        <p:blipFill>
          <a:blip r:embed="rId3">
            <a:extLst>
              <a:ext uri="{28A0092B-C50C-407E-A947-70E740481C1C}">
                <a14:useLocalDpi xmlns:a14="http://schemas.microsoft.com/office/drawing/2010/main" val="0"/>
              </a:ext>
            </a:extLst>
          </a:blip>
          <a:srcRect t="36630" b="36688"/>
          <a:stretch/>
        </p:blipFill>
        <p:spPr>
          <a:xfrm>
            <a:off x="324264" y="8235815"/>
            <a:ext cx="956377" cy="255181"/>
          </a:xfrm>
          <a:prstGeom prst="rect">
            <a:avLst/>
          </a:prstGeom>
        </p:spPr>
      </p:pic>
      <p:sp>
        <p:nvSpPr>
          <p:cNvPr id="22" name="TextBox 21">
            <a:extLst>
              <a:ext uri="{FF2B5EF4-FFF2-40B4-BE49-F238E27FC236}">
                <a16:creationId xmlns:a16="http://schemas.microsoft.com/office/drawing/2014/main" id="{7EC34973-B841-85C6-95A1-28C132CC83AA}"/>
              </a:ext>
            </a:extLst>
          </p:cNvPr>
          <p:cNvSpPr txBox="1"/>
          <p:nvPr/>
        </p:nvSpPr>
        <p:spPr>
          <a:xfrm>
            <a:off x="2649799" y="1170420"/>
            <a:ext cx="3525567" cy="2617768"/>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Solution to measure usage of compressed air, nitrogen, carbon dioxide, argon, etc.:</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Compact design for point-of-use measurement</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Up to 200L/min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4mm to 8mm tubing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-0.9 to 10 bar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Accuracy ±2% (o.m.v.)</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Volumetric and totalised flow</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Compatible with wireless technology</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sp>
        <p:nvSpPr>
          <p:cNvPr id="23" name="TextBox 22">
            <a:extLst>
              <a:ext uri="{FF2B5EF4-FFF2-40B4-BE49-F238E27FC236}">
                <a16:creationId xmlns:a16="http://schemas.microsoft.com/office/drawing/2014/main" id="{F57D55AD-811A-C060-A057-675FA1925042}"/>
              </a:ext>
            </a:extLst>
          </p:cNvPr>
          <p:cNvSpPr txBox="1"/>
          <p:nvPr/>
        </p:nvSpPr>
        <p:spPr>
          <a:xfrm>
            <a:off x="2649799" y="6612458"/>
            <a:ext cx="3525567" cy="1465209"/>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Vortex flow meter to measure usage of liquids (including):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Deionised Water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Glycol solutions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Coolants</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2" name="Picture 1" descr="A blue text on a white background&#10;&#10;Description automatically generated">
            <a:extLst>
              <a:ext uri="{FF2B5EF4-FFF2-40B4-BE49-F238E27FC236}">
                <a16:creationId xmlns:a16="http://schemas.microsoft.com/office/drawing/2014/main" id="{D829A491-0EC2-3A5B-F6C4-C3CC158FACE3}"/>
              </a:ext>
            </a:extLst>
          </p:cNvPr>
          <p:cNvPicPr>
            <a:picLocks noChangeAspect="1"/>
          </p:cNvPicPr>
          <p:nvPr/>
        </p:nvPicPr>
        <p:blipFill rotWithShape="1">
          <a:blip r:embed="rId6">
            <a:extLst>
              <a:ext uri="{28A0092B-C50C-407E-A947-70E740481C1C}">
                <a14:useLocalDpi xmlns:a14="http://schemas.microsoft.com/office/drawing/2010/main" val="0"/>
              </a:ext>
            </a:extLst>
          </a:blip>
          <a:srcRect t="34779" b="34779"/>
          <a:stretch/>
        </p:blipFill>
        <p:spPr>
          <a:xfrm>
            <a:off x="3413252" y="8879546"/>
            <a:ext cx="1777073" cy="360000"/>
          </a:xfrm>
          <a:prstGeom prst="rect">
            <a:avLst/>
          </a:prstGeom>
        </p:spPr>
      </p:pic>
      <p:pic>
        <p:nvPicPr>
          <p:cNvPr id="11" name="Graphic 10">
            <a:extLst>
              <a:ext uri="{FF2B5EF4-FFF2-40B4-BE49-F238E27FC236}">
                <a16:creationId xmlns:a16="http://schemas.microsoft.com/office/drawing/2014/main" id="{E78E8B8E-81F1-1769-A84F-1B57D48DDC4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28534" y="8786352"/>
            <a:ext cx="546389" cy="546389"/>
          </a:xfrm>
          <a:prstGeom prst="rect">
            <a:avLst/>
          </a:prstGeom>
        </p:spPr>
      </p:pic>
      <p:sp>
        <p:nvSpPr>
          <p:cNvPr id="3" name="Action Button: Go Home 2">
            <a:hlinkClick r:id="rId8" action="ppaction://hlinksldjump" highlightClick="1"/>
            <a:hlinkHover r:id="" action="ppaction://hlinkshowjump?jump=firstslide"/>
            <a:extLst>
              <a:ext uri="{FF2B5EF4-FFF2-40B4-BE49-F238E27FC236}">
                <a16:creationId xmlns:a16="http://schemas.microsoft.com/office/drawing/2014/main" id="{66DC3D8D-E8B3-FE83-D4A6-D23D92BF7B4A}"/>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71862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8C162-C344-B04F-FA4C-1C1DB5F3B89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3EB50B-BECD-19EB-C5F5-3EB1744039E0}"/>
              </a:ext>
            </a:extLst>
          </p:cNvPr>
          <p:cNvSpPr txBox="1"/>
          <p:nvPr/>
        </p:nvSpPr>
        <p:spPr>
          <a:xfrm>
            <a:off x="763214" y="200455"/>
            <a:ext cx="4621586"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Clamp-on Solution</a:t>
            </a:r>
          </a:p>
          <a:p>
            <a:pPr>
              <a:lnSpc>
                <a:spcPct val="107000"/>
              </a:lnSpc>
              <a:spcAft>
                <a:spcPts val="300"/>
              </a:spcAft>
            </a:pPr>
            <a:r>
              <a:rPr lang="en-IE" sz="1400" dirty="0">
                <a:solidFill>
                  <a:srgbClr val="0A597A"/>
                </a:solidFill>
                <a:latin typeface="AvenirNext LT Pro Bold" panose="020B0804020202020204"/>
              </a:rPr>
              <a:t>N</a:t>
            </a: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on-intrusive measurement of </a:t>
            </a:r>
            <a:r>
              <a:rPr lang="en-IE" sz="1400" dirty="0">
                <a:solidFill>
                  <a:srgbClr val="0A597A"/>
                </a:solidFill>
                <a:latin typeface="AvenirNext LT Pro Bold" panose="020B0804020202020204"/>
              </a:rPr>
              <a:t>compressed air</a:t>
            </a:r>
            <a:endParaRPr lang="en-IE" sz="2000" b="1" dirty="0">
              <a:solidFill>
                <a:srgbClr val="0A597A"/>
              </a:solidFill>
              <a:latin typeface="AvenirNext LT Pro Bold" panose="020B0804020202020204"/>
              <a:ea typeface="+mj-ea"/>
              <a:cs typeface="+mj-cs"/>
            </a:endParaRPr>
          </a:p>
        </p:txBody>
      </p:sp>
      <p:sp>
        <p:nvSpPr>
          <p:cNvPr id="22" name="TextBox 21">
            <a:extLst>
              <a:ext uri="{FF2B5EF4-FFF2-40B4-BE49-F238E27FC236}">
                <a16:creationId xmlns:a16="http://schemas.microsoft.com/office/drawing/2014/main" id="{50EF3139-1689-82D4-503E-94534A5BB9E5}"/>
              </a:ext>
            </a:extLst>
          </p:cNvPr>
          <p:cNvSpPr txBox="1"/>
          <p:nvPr/>
        </p:nvSpPr>
        <p:spPr>
          <a:xfrm>
            <a:off x="2940908" y="1200861"/>
            <a:ext cx="3525567" cy="2387257"/>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Specifications – Flow Sensor: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Pipe materials – pneumatic tubing (Polyurethane, Nylon, PFA)</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Tube sizes – 6mm </a:t>
            </a:r>
            <a:r>
              <a:rPr lang="en-IE" sz="1400">
                <a:solidFill>
                  <a:srgbClr val="0A597A"/>
                </a:solidFill>
                <a:latin typeface="AvenirNext LT Pro Bold" panose="020B0804020202020204"/>
                <a:ea typeface="+mj-ea"/>
                <a:cs typeface="+mj-cs"/>
              </a:rPr>
              <a:t>to 12mm (or ½”)</a:t>
            </a:r>
            <a:endParaRPr lang="en-IE" sz="1400" dirty="0">
              <a:solidFill>
                <a:srgbClr val="0A597A"/>
              </a:solidFill>
              <a:latin typeface="AvenirNext LT Pro Bold" panose="020B0804020202020204"/>
              <a:ea typeface="+mj-ea"/>
              <a:cs typeface="+mj-cs"/>
            </a:endParaRP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Accuracy – ±2%</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Range – up to 1750L/min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Parameters - Volumetric and totalised flow</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Rating – IP67</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Supported fluids – Air, Nitrogen, Argon</a:t>
            </a:r>
          </a:p>
        </p:txBody>
      </p:sp>
      <p:sp>
        <p:nvSpPr>
          <p:cNvPr id="23" name="TextBox 22">
            <a:extLst>
              <a:ext uri="{FF2B5EF4-FFF2-40B4-BE49-F238E27FC236}">
                <a16:creationId xmlns:a16="http://schemas.microsoft.com/office/drawing/2014/main" id="{7CBEB3FB-D2F1-DB07-C1F3-136D0A2B0901}"/>
              </a:ext>
            </a:extLst>
          </p:cNvPr>
          <p:cNvSpPr txBox="1"/>
          <p:nvPr/>
        </p:nvSpPr>
        <p:spPr>
          <a:xfrm>
            <a:off x="2831441" y="6513602"/>
            <a:ext cx="3525567" cy="1695721"/>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Benefits: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Compatible with wireless technology</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No moving parts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Maximum convenience and flexibility</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Low installation cost compared to traditional flow metering technologies</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16" name="Picture 15">
            <a:extLst>
              <a:ext uri="{FF2B5EF4-FFF2-40B4-BE49-F238E27FC236}">
                <a16:creationId xmlns:a16="http://schemas.microsoft.com/office/drawing/2014/main" id="{22A75DC0-FAA5-8D76-1D5C-110ADF1F1093}"/>
              </a:ext>
            </a:extLst>
          </p:cNvPr>
          <p:cNvPicPr>
            <a:picLocks noChangeAspect="1"/>
          </p:cNvPicPr>
          <p:nvPr/>
        </p:nvPicPr>
        <p:blipFill>
          <a:blip r:embed="rId2"/>
          <a:stretch>
            <a:fillRect/>
          </a:stretch>
        </p:blipFill>
        <p:spPr>
          <a:xfrm>
            <a:off x="711061" y="6255511"/>
            <a:ext cx="1285875" cy="1449761"/>
          </a:xfrm>
          <a:prstGeom prst="rect">
            <a:avLst/>
          </a:prstGeom>
        </p:spPr>
      </p:pic>
      <p:pic>
        <p:nvPicPr>
          <p:cNvPr id="17" name="Picture 16">
            <a:extLst>
              <a:ext uri="{FF2B5EF4-FFF2-40B4-BE49-F238E27FC236}">
                <a16:creationId xmlns:a16="http://schemas.microsoft.com/office/drawing/2014/main" id="{7FC0D775-CBCD-2415-8F5E-0358331F17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3941396">
            <a:off x="926592" y="6024658"/>
            <a:ext cx="452874" cy="452874"/>
          </a:xfrm>
          <a:prstGeom prst="rect">
            <a:avLst/>
          </a:prstGeom>
        </p:spPr>
      </p:pic>
      <p:pic>
        <p:nvPicPr>
          <p:cNvPr id="8" name="Picture 7">
            <a:extLst>
              <a:ext uri="{FF2B5EF4-FFF2-40B4-BE49-F238E27FC236}">
                <a16:creationId xmlns:a16="http://schemas.microsoft.com/office/drawing/2014/main" id="{D542D1EC-47BA-4DB8-2E28-2C327CE34CC1}"/>
              </a:ext>
            </a:extLst>
          </p:cNvPr>
          <p:cNvPicPr>
            <a:picLocks noChangeAspect="1"/>
          </p:cNvPicPr>
          <p:nvPr/>
        </p:nvPicPr>
        <p:blipFill>
          <a:blip r:embed="rId4"/>
          <a:stretch>
            <a:fillRect/>
          </a:stretch>
        </p:blipFill>
        <p:spPr>
          <a:xfrm>
            <a:off x="2546584" y="8806861"/>
            <a:ext cx="1764831" cy="418924"/>
          </a:xfrm>
          <a:prstGeom prst="rect">
            <a:avLst/>
          </a:prstGeom>
        </p:spPr>
      </p:pic>
      <p:grpSp>
        <p:nvGrpSpPr>
          <p:cNvPr id="10" name="Group 9">
            <a:extLst>
              <a:ext uri="{FF2B5EF4-FFF2-40B4-BE49-F238E27FC236}">
                <a16:creationId xmlns:a16="http://schemas.microsoft.com/office/drawing/2014/main" id="{ABC16A05-DE55-AFAA-0B51-0C45F23F0A15}"/>
              </a:ext>
            </a:extLst>
          </p:cNvPr>
          <p:cNvGrpSpPr/>
          <p:nvPr/>
        </p:nvGrpSpPr>
        <p:grpSpPr>
          <a:xfrm>
            <a:off x="377429" y="1276289"/>
            <a:ext cx="2563479" cy="1802238"/>
            <a:chOff x="711061" y="1225168"/>
            <a:chExt cx="2563479" cy="1802238"/>
          </a:xfrm>
        </p:grpSpPr>
        <p:pic>
          <p:nvPicPr>
            <p:cNvPr id="3" name="Picture 2">
              <a:hlinkClick r:id="rId5"/>
              <a:extLst>
                <a:ext uri="{FF2B5EF4-FFF2-40B4-BE49-F238E27FC236}">
                  <a16:creationId xmlns:a16="http://schemas.microsoft.com/office/drawing/2014/main" id="{34BDFFA1-7B88-F457-F729-E8B943EA0F26}"/>
                </a:ext>
              </a:extLst>
            </p:cNvPr>
            <p:cNvPicPr>
              <a:picLocks noChangeAspect="1"/>
            </p:cNvPicPr>
            <p:nvPr/>
          </p:nvPicPr>
          <p:blipFill>
            <a:blip r:embed="rId6"/>
            <a:stretch>
              <a:fillRect/>
            </a:stretch>
          </p:blipFill>
          <p:spPr>
            <a:xfrm>
              <a:off x="711061" y="1225168"/>
              <a:ext cx="2521050" cy="1802238"/>
            </a:xfrm>
            <a:prstGeom prst="rect">
              <a:avLst/>
            </a:prstGeom>
          </p:spPr>
        </p:pic>
        <p:sp>
          <p:nvSpPr>
            <p:cNvPr id="7" name="Rectangle 6">
              <a:extLst>
                <a:ext uri="{FF2B5EF4-FFF2-40B4-BE49-F238E27FC236}">
                  <a16:creationId xmlns:a16="http://schemas.microsoft.com/office/drawing/2014/main" id="{1287B4DB-DB1A-CD7B-5A83-8605B1A3A503}"/>
                </a:ext>
              </a:extLst>
            </p:cNvPr>
            <p:cNvSpPr/>
            <p:nvPr/>
          </p:nvSpPr>
          <p:spPr>
            <a:xfrm>
              <a:off x="1959865" y="2718486"/>
              <a:ext cx="1314675" cy="308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9" name="Rectangle 8">
              <a:extLst>
                <a:ext uri="{FF2B5EF4-FFF2-40B4-BE49-F238E27FC236}">
                  <a16:creationId xmlns:a16="http://schemas.microsoft.com/office/drawing/2014/main" id="{1E00531B-F903-B950-4B43-DEE61E1BBAFD}"/>
                </a:ext>
              </a:extLst>
            </p:cNvPr>
            <p:cNvSpPr/>
            <p:nvPr/>
          </p:nvSpPr>
          <p:spPr>
            <a:xfrm rot="19136697">
              <a:off x="2260528" y="2419420"/>
              <a:ext cx="313075" cy="308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grpSp>
      <p:pic>
        <p:nvPicPr>
          <p:cNvPr id="12" name="Picture 11">
            <a:extLst>
              <a:ext uri="{FF2B5EF4-FFF2-40B4-BE49-F238E27FC236}">
                <a16:creationId xmlns:a16="http://schemas.microsoft.com/office/drawing/2014/main" id="{701391D8-4E7B-109F-2B10-7A1A608006C7}"/>
              </a:ext>
            </a:extLst>
          </p:cNvPr>
          <p:cNvPicPr>
            <a:picLocks noChangeAspect="1"/>
          </p:cNvPicPr>
          <p:nvPr/>
        </p:nvPicPr>
        <p:blipFill>
          <a:blip r:embed="rId7"/>
          <a:stretch>
            <a:fillRect/>
          </a:stretch>
        </p:blipFill>
        <p:spPr>
          <a:xfrm>
            <a:off x="930811" y="3899017"/>
            <a:ext cx="1591466" cy="1449760"/>
          </a:xfrm>
          <a:prstGeom prst="rect">
            <a:avLst/>
          </a:prstGeom>
        </p:spPr>
      </p:pic>
      <p:sp>
        <p:nvSpPr>
          <p:cNvPr id="14" name="TextBox 13">
            <a:extLst>
              <a:ext uri="{FF2B5EF4-FFF2-40B4-BE49-F238E27FC236}">
                <a16:creationId xmlns:a16="http://schemas.microsoft.com/office/drawing/2014/main" id="{2B658F98-39A6-28CF-A02A-4D5A5CC6FEDD}"/>
              </a:ext>
            </a:extLst>
          </p:cNvPr>
          <p:cNvSpPr txBox="1"/>
          <p:nvPr/>
        </p:nvSpPr>
        <p:spPr>
          <a:xfrm>
            <a:off x="3074007" y="3857232"/>
            <a:ext cx="3525567" cy="1926233"/>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Specifications – Amplifier Unit:</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Digital Output - Instantaneous flow/integrated flow/alert output/pulse output</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Analogue Output – 0/4-20mA</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Connectivity – IO Link</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15" name="Picture 14" descr="A black and white logo&#10;&#10;Description automatically generated">
            <a:extLst>
              <a:ext uri="{FF2B5EF4-FFF2-40B4-BE49-F238E27FC236}">
                <a16:creationId xmlns:a16="http://schemas.microsoft.com/office/drawing/2014/main" id="{531A0955-1748-210A-B768-AB4DB024CA7A}"/>
              </a:ext>
            </a:extLst>
          </p:cNvPr>
          <p:cNvPicPr>
            <a:picLocks noChangeAspect="1"/>
          </p:cNvPicPr>
          <p:nvPr/>
        </p:nvPicPr>
        <p:blipFill>
          <a:blip r:embed="rId8">
            <a:extLst>
              <a:ext uri="{28A0092B-C50C-407E-A947-70E740481C1C}">
                <a14:useLocalDpi xmlns:a14="http://schemas.microsoft.com/office/drawing/2010/main" val="0"/>
              </a:ext>
            </a:extLst>
          </a:blip>
          <a:srcRect t="36630" b="36688"/>
          <a:stretch/>
        </p:blipFill>
        <p:spPr>
          <a:xfrm>
            <a:off x="196652" y="5514636"/>
            <a:ext cx="956377" cy="255181"/>
          </a:xfrm>
          <a:prstGeom prst="rect">
            <a:avLst/>
          </a:prstGeom>
        </p:spPr>
      </p:pic>
      <p:sp>
        <p:nvSpPr>
          <p:cNvPr id="2" name="Action Button: Go Home 1">
            <a:hlinkClick r:id="rId9" action="ppaction://hlinksldjump" highlightClick="1"/>
            <a:hlinkHover r:id="" action="ppaction://hlinkshowjump?jump=firstslide"/>
            <a:extLst>
              <a:ext uri="{FF2B5EF4-FFF2-40B4-BE49-F238E27FC236}">
                <a16:creationId xmlns:a16="http://schemas.microsoft.com/office/drawing/2014/main" id="{CD92AFCA-ED9C-3426-3C12-46F79BEB9918}"/>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124337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6C245-D295-DC3C-107A-8196BEA707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B88745-A579-8AAB-1B53-BED443418475}"/>
              </a:ext>
            </a:extLst>
          </p:cNvPr>
          <p:cNvSpPr txBox="1"/>
          <p:nvPr/>
        </p:nvSpPr>
        <p:spPr>
          <a:xfrm>
            <a:off x="763214" y="200455"/>
            <a:ext cx="4621586"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Clamp-on Solution</a:t>
            </a:r>
          </a:p>
          <a:p>
            <a:pPr>
              <a:lnSpc>
                <a:spcPct val="107000"/>
              </a:lnSpc>
              <a:spcAft>
                <a:spcPts val="300"/>
              </a:spcAft>
            </a:pPr>
            <a:r>
              <a:rPr lang="en-IE" sz="1400" dirty="0">
                <a:solidFill>
                  <a:srgbClr val="0A597A"/>
                </a:solidFill>
                <a:latin typeface="AvenirNext LT Pro Bold" panose="020B0804020202020204"/>
              </a:rPr>
              <a:t>N</a:t>
            </a: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on-intrusive measurement of virtually any liquid</a:t>
            </a:r>
            <a:endParaRPr lang="en-IE" sz="2000" b="1" dirty="0">
              <a:solidFill>
                <a:srgbClr val="0A597A"/>
              </a:solidFill>
              <a:latin typeface="AvenirNext LT Pro Bold" panose="020B0804020202020204"/>
              <a:ea typeface="+mj-ea"/>
              <a:cs typeface="+mj-cs"/>
            </a:endParaRPr>
          </a:p>
        </p:txBody>
      </p:sp>
      <p:sp>
        <p:nvSpPr>
          <p:cNvPr id="5" name="TextBox 4">
            <a:extLst>
              <a:ext uri="{FF2B5EF4-FFF2-40B4-BE49-F238E27FC236}">
                <a16:creationId xmlns:a16="http://schemas.microsoft.com/office/drawing/2014/main" id="{34823EDA-6A4C-D8D4-1E28-962F3FEA5BD1}"/>
              </a:ext>
            </a:extLst>
          </p:cNvPr>
          <p:cNvSpPr txBox="1"/>
          <p:nvPr/>
        </p:nvSpPr>
        <p:spPr>
          <a:xfrm>
            <a:off x="2831441" y="1356281"/>
            <a:ext cx="3525567" cy="1926233"/>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Clamp-on solution to measure usage of:</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Water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DI Water </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Chemicals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Coolants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Oils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High Viscosity Liquids</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sp>
        <p:nvSpPr>
          <p:cNvPr id="22" name="TextBox 21">
            <a:extLst>
              <a:ext uri="{FF2B5EF4-FFF2-40B4-BE49-F238E27FC236}">
                <a16:creationId xmlns:a16="http://schemas.microsoft.com/office/drawing/2014/main" id="{4230B583-9965-41BE-C2A3-9420BD50A168}"/>
              </a:ext>
            </a:extLst>
          </p:cNvPr>
          <p:cNvSpPr txBox="1"/>
          <p:nvPr/>
        </p:nvSpPr>
        <p:spPr>
          <a:xfrm>
            <a:off x="2831441" y="3473918"/>
            <a:ext cx="3525567" cy="2617768"/>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Specifications: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Pipe materials – most metals and plastics, tubing and high-pressure hoses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Pipe sizes – 13mm to 44mm</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Accuracy – ±3% (full pipe)</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Range – up to 300L/min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Parameters - Velocity, Volumetric and totalised flow</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Rating – IP67</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sp>
        <p:nvSpPr>
          <p:cNvPr id="23" name="TextBox 22">
            <a:extLst>
              <a:ext uri="{FF2B5EF4-FFF2-40B4-BE49-F238E27FC236}">
                <a16:creationId xmlns:a16="http://schemas.microsoft.com/office/drawing/2014/main" id="{C26E8859-879A-0E0D-D821-82F1B0C6819A}"/>
              </a:ext>
            </a:extLst>
          </p:cNvPr>
          <p:cNvSpPr txBox="1"/>
          <p:nvPr/>
        </p:nvSpPr>
        <p:spPr>
          <a:xfrm>
            <a:off x="2831441" y="6513602"/>
            <a:ext cx="3525567" cy="2156744"/>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Benefits: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Compatible with wireless technology</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No moving parts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Maximum convenience and flexibility</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Low installation cost compared to traditional flow metering technologies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Able to operate with liquids containing bubbles</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16" name="Picture 15">
            <a:extLst>
              <a:ext uri="{FF2B5EF4-FFF2-40B4-BE49-F238E27FC236}">
                <a16:creationId xmlns:a16="http://schemas.microsoft.com/office/drawing/2014/main" id="{7B78C656-10D2-94C9-B076-3AC1CBAFADCA}"/>
              </a:ext>
            </a:extLst>
          </p:cNvPr>
          <p:cNvPicPr>
            <a:picLocks noChangeAspect="1"/>
          </p:cNvPicPr>
          <p:nvPr/>
        </p:nvPicPr>
        <p:blipFill>
          <a:blip r:embed="rId2"/>
          <a:stretch>
            <a:fillRect/>
          </a:stretch>
        </p:blipFill>
        <p:spPr>
          <a:xfrm>
            <a:off x="711061" y="6255511"/>
            <a:ext cx="1285875" cy="1449761"/>
          </a:xfrm>
          <a:prstGeom prst="rect">
            <a:avLst/>
          </a:prstGeom>
        </p:spPr>
      </p:pic>
      <p:pic>
        <p:nvPicPr>
          <p:cNvPr id="17" name="Picture 16">
            <a:extLst>
              <a:ext uri="{FF2B5EF4-FFF2-40B4-BE49-F238E27FC236}">
                <a16:creationId xmlns:a16="http://schemas.microsoft.com/office/drawing/2014/main" id="{80B0A10C-A661-0B59-FD52-3AD23C0F82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3941396">
            <a:off x="926592" y="6024658"/>
            <a:ext cx="452874" cy="452874"/>
          </a:xfrm>
          <a:prstGeom prst="rect">
            <a:avLst/>
          </a:prstGeom>
        </p:spPr>
      </p:pic>
      <p:pic>
        <p:nvPicPr>
          <p:cNvPr id="6" name="Picture 5">
            <a:hlinkClick r:id="rId4"/>
            <a:extLst>
              <a:ext uri="{FF2B5EF4-FFF2-40B4-BE49-F238E27FC236}">
                <a16:creationId xmlns:a16="http://schemas.microsoft.com/office/drawing/2014/main" id="{39074F9A-9D59-73C9-8AC3-2D3D66A4F4AA}"/>
              </a:ext>
            </a:extLst>
          </p:cNvPr>
          <p:cNvPicPr>
            <a:picLocks noChangeAspect="1"/>
          </p:cNvPicPr>
          <p:nvPr/>
        </p:nvPicPr>
        <p:blipFill>
          <a:blip r:embed="rId5"/>
          <a:stretch>
            <a:fillRect/>
          </a:stretch>
        </p:blipFill>
        <p:spPr>
          <a:xfrm>
            <a:off x="271834" y="1396490"/>
            <a:ext cx="2327390" cy="1754494"/>
          </a:xfrm>
          <a:prstGeom prst="rect">
            <a:avLst/>
          </a:prstGeom>
          <a:effectLst>
            <a:softEdge rad="101600"/>
          </a:effectLst>
        </p:spPr>
      </p:pic>
      <p:pic>
        <p:nvPicPr>
          <p:cNvPr id="8" name="Picture 7">
            <a:extLst>
              <a:ext uri="{FF2B5EF4-FFF2-40B4-BE49-F238E27FC236}">
                <a16:creationId xmlns:a16="http://schemas.microsoft.com/office/drawing/2014/main" id="{D92CC1A8-CF5C-AE94-8947-F490408FA138}"/>
              </a:ext>
            </a:extLst>
          </p:cNvPr>
          <p:cNvPicPr>
            <a:picLocks noChangeAspect="1"/>
          </p:cNvPicPr>
          <p:nvPr/>
        </p:nvPicPr>
        <p:blipFill>
          <a:blip r:embed="rId6"/>
          <a:stretch>
            <a:fillRect/>
          </a:stretch>
        </p:blipFill>
        <p:spPr>
          <a:xfrm>
            <a:off x="2546584" y="8806861"/>
            <a:ext cx="1764831" cy="418924"/>
          </a:xfrm>
          <a:prstGeom prst="rect">
            <a:avLst/>
          </a:prstGeom>
        </p:spPr>
      </p:pic>
      <p:pic>
        <p:nvPicPr>
          <p:cNvPr id="13" name="Picture 12">
            <a:extLst>
              <a:ext uri="{FF2B5EF4-FFF2-40B4-BE49-F238E27FC236}">
                <a16:creationId xmlns:a16="http://schemas.microsoft.com/office/drawing/2014/main" id="{08EBA24C-2A56-CF54-A1AB-24663439F2FA}"/>
              </a:ext>
            </a:extLst>
          </p:cNvPr>
          <p:cNvPicPr>
            <a:picLocks noChangeAspect="1"/>
          </p:cNvPicPr>
          <p:nvPr/>
        </p:nvPicPr>
        <p:blipFill>
          <a:blip r:embed="rId7"/>
          <a:stretch>
            <a:fillRect/>
          </a:stretch>
        </p:blipFill>
        <p:spPr>
          <a:xfrm>
            <a:off x="271834" y="4019164"/>
            <a:ext cx="2284840" cy="1064172"/>
          </a:xfrm>
          <a:prstGeom prst="rect">
            <a:avLst/>
          </a:prstGeom>
          <a:effectLst>
            <a:softEdge rad="114300"/>
          </a:effectLst>
        </p:spPr>
      </p:pic>
      <p:sp>
        <p:nvSpPr>
          <p:cNvPr id="2" name="Action Button: Go Home 1">
            <a:hlinkClick r:id="rId8" action="ppaction://hlinksldjump" highlightClick="1"/>
            <a:hlinkHover r:id="" action="ppaction://hlinkshowjump?jump=firstslide"/>
            <a:extLst>
              <a:ext uri="{FF2B5EF4-FFF2-40B4-BE49-F238E27FC236}">
                <a16:creationId xmlns:a16="http://schemas.microsoft.com/office/drawing/2014/main" id="{FAA30ED7-F285-4683-BDCD-3F042A768FC7}"/>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634547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F6B250-822D-CE15-128C-EF6030003082}"/>
              </a:ext>
            </a:extLst>
          </p:cNvPr>
          <p:cNvSpPr txBox="1"/>
          <p:nvPr/>
        </p:nvSpPr>
        <p:spPr>
          <a:xfrm>
            <a:off x="763214" y="200455"/>
            <a:ext cx="4621586"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Water Monitoring</a:t>
            </a:r>
          </a:p>
          <a:p>
            <a:pPr>
              <a:lnSpc>
                <a:spcPct val="107000"/>
              </a:lnSpc>
              <a:spcAft>
                <a:spcPts val="300"/>
              </a:spcAft>
            </a:pP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Economical non-intrusive water measurement</a:t>
            </a:r>
            <a:endParaRPr lang="en-IE" sz="2000" b="1" dirty="0">
              <a:solidFill>
                <a:srgbClr val="0A597A"/>
              </a:solidFill>
              <a:latin typeface="AvenirNext LT Pro Bold" panose="020B0804020202020204"/>
              <a:ea typeface="+mj-ea"/>
              <a:cs typeface="+mj-cs"/>
            </a:endParaRPr>
          </a:p>
        </p:txBody>
      </p:sp>
      <p:sp>
        <p:nvSpPr>
          <p:cNvPr id="5" name="TextBox 4">
            <a:extLst>
              <a:ext uri="{FF2B5EF4-FFF2-40B4-BE49-F238E27FC236}">
                <a16:creationId xmlns:a16="http://schemas.microsoft.com/office/drawing/2014/main" id="{BA02C81D-589C-1BA9-1266-466271EB3FCE}"/>
              </a:ext>
            </a:extLst>
          </p:cNvPr>
          <p:cNvSpPr txBox="1"/>
          <p:nvPr/>
        </p:nvSpPr>
        <p:spPr>
          <a:xfrm>
            <a:off x="2831441" y="1356281"/>
            <a:ext cx="3525567" cy="1926233"/>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Clamp-on solution to measure usage of:</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Potable Water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Wastewater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Sewage</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Discharge water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Treated water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Cooling and heating water</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sp>
        <p:nvSpPr>
          <p:cNvPr id="22" name="TextBox 21">
            <a:extLst>
              <a:ext uri="{FF2B5EF4-FFF2-40B4-BE49-F238E27FC236}">
                <a16:creationId xmlns:a16="http://schemas.microsoft.com/office/drawing/2014/main" id="{63AE2B6E-C4EC-812C-DB96-B3311B51387E}"/>
              </a:ext>
            </a:extLst>
          </p:cNvPr>
          <p:cNvSpPr txBox="1"/>
          <p:nvPr/>
        </p:nvSpPr>
        <p:spPr>
          <a:xfrm>
            <a:off x="2831441" y="3473918"/>
            <a:ext cx="3525567" cy="2848280"/>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Specifications: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Pipe materials – all metals and most plastics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Pipe sizes – 15mm to 7600mm</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Accuracy – ±1% (full pipe)</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Repeatability – ±0.2%</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Range – up to 12m/s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Parameters - Velocity, Volumetric and totalised flow</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Rating – IP67</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sp>
        <p:nvSpPr>
          <p:cNvPr id="23" name="TextBox 22">
            <a:extLst>
              <a:ext uri="{FF2B5EF4-FFF2-40B4-BE49-F238E27FC236}">
                <a16:creationId xmlns:a16="http://schemas.microsoft.com/office/drawing/2014/main" id="{75556E7E-1B37-58A8-BE3D-EE5284696A1E}"/>
              </a:ext>
            </a:extLst>
          </p:cNvPr>
          <p:cNvSpPr txBox="1"/>
          <p:nvPr/>
        </p:nvSpPr>
        <p:spPr>
          <a:xfrm>
            <a:off x="2831441" y="6513602"/>
            <a:ext cx="3525567" cy="1695721"/>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Benefits: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Compatible with wireless technology</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No moving parts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Maximum convenience and flexibility</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Low installation cost compared to traditional flow metering technologies</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3" name="Picture 2">
            <a:extLst>
              <a:ext uri="{FF2B5EF4-FFF2-40B4-BE49-F238E27FC236}">
                <a16:creationId xmlns:a16="http://schemas.microsoft.com/office/drawing/2014/main" id="{B0EBBC47-C984-F983-4D7D-051E2CEE4713}"/>
              </a:ext>
            </a:extLst>
          </p:cNvPr>
          <p:cNvPicPr>
            <a:picLocks noChangeAspect="1"/>
          </p:cNvPicPr>
          <p:nvPr/>
        </p:nvPicPr>
        <p:blipFill>
          <a:blip r:embed="rId2"/>
          <a:stretch>
            <a:fillRect/>
          </a:stretch>
        </p:blipFill>
        <p:spPr>
          <a:xfrm>
            <a:off x="521078" y="1337546"/>
            <a:ext cx="2100294" cy="1858407"/>
          </a:xfrm>
          <a:prstGeom prst="rect">
            <a:avLst/>
          </a:prstGeom>
        </p:spPr>
      </p:pic>
      <p:pic>
        <p:nvPicPr>
          <p:cNvPr id="11" name="Picture 10">
            <a:extLst>
              <a:ext uri="{FF2B5EF4-FFF2-40B4-BE49-F238E27FC236}">
                <a16:creationId xmlns:a16="http://schemas.microsoft.com/office/drawing/2014/main" id="{38301507-9A8F-FB14-EDD0-D3ABFFDC307A}"/>
              </a:ext>
            </a:extLst>
          </p:cNvPr>
          <p:cNvPicPr>
            <a:picLocks noChangeAspect="1"/>
          </p:cNvPicPr>
          <p:nvPr/>
        </p:nvPicPr>
        <p:blipFill>
          <a:blip r:embed="rId3"/>
          <a:stretch>
            <a:fillRect/>
          </a:stretch>
        </p:blipFill>
        <p:spPr>
          <a:xfrm>
            <a:off x="2133343" y="8845387"/>
            <a:ext cx="2591314" cy="534088"/>
          </a:xfrm>
          <a:prstGeom prst="rect">
            <a:avLst/>
          </a:prstGeom>
        </p:spPr>
      </p:pic>
      <p:pic>
        <p:nvPicPr>
          <p:cNvPr id="15" name="Picture 14">
            <a:extLst>
              <a:ext uri="{FF2B5EF4-FFF2-40B4-BE49-F238E27FC236}">
                <a16:creationId xmlns:a16="http://schemas.microsoft.com/office/drawing/2014/main" id="{F2B7060A-0E76-80FE-A877-BF78D3D412DC}"/>
              </a:ext>
            </a:extLst>
          </p:cNvPr>
          <p:cNvPicPr>
            <a:picLocks noChangeAspect="1"/>
          </p:cNvPicPr>
          <p:nvPr/>
        </p:nvPicPr>
        <p:blipFill>
          <a:blip r:embed="rId4"/>
          <a:stretch>
            <a:fillRect/>
          </a:stretch>
        </p:blipFill>
        <p:spPr>
          <a:xfrm>
            <a:off x="314395" y="4148227"/>
            <a:ext cx="2128139" cy="926519"/>
          </a:xfrm>
          <a:prstGeom prst="rect">
            <a:avLst/>
          </a:prstGeom>
        </p:spPr>
      </p:pic>
      <p:pic>
        <p:nvPicPr>
          <p:cNvPr id="16" name="Picture 15">
            <a:extLst>
              <a:ext uri="{FF2B5EF4-FFF2-40B4-BE49-F238E27FC236}">
                <a16:creationId xmlns:a16="http://schemas.microsoft.com/office/drawing/2014/main" id="{41D35D1E-E5E6-3370-C887-D1EE5D918CA7}"/>
              </a:ext>
            </a:extLst>
          </p:cNvPr>
          <p:cNvPicPr>
            <a:picLocks noChangeAspect="1"/>
          </p:cNvPicPr>
          <p:nvPr/>
        </p:nvPicPr>
        <p:blipFill>
          <a:blip r:embed="rId5"/>
          <a:stretch>
            <a:fillRect/>
          </a:stretch>
        </p:blipFill>
        <p:spPr>
          <a:xfrm>
            <a:off x="711061" y="6255511"/>
            <a:ext cx="1285875" cy="1449761"/>
          </a:xfrm>
          <a:prstGeom prst="rect">
            <a:avLst/>
          </a:prstGeom>
        </p:spPr>
      </p:pic>
      <p:pic>
        <p:nvPicPr>
          <p:cNvPr id="17" name="Picture 16">
            <a:extLst>
              <a:ext uri="{FF2B5EF4-FFF2-40B4-BE49-F238E27FC236}">
                <a16:creationId xmlns:a16="http://schemas.microsoft.com/office/drawing/2014/main" id="{60C2F7B3-9CD8-D0D0-07CD-745DFD48B30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3941396">
            <a:off x="926592" y="6024658"/>
            <a:ext cx="452874" cy="452874"/>
          </a:xfrm>
          <a:prstGeom prst="rect">
            <a:avLst/>
          </a:prstGeom>
        </p:spPr>
      </p:pic>
    </p:spTree>
    <p:extLst>
      <p:ext uri="{BB962C8B-B14F-4D97-AF65-F5344CB8AC3E}">
        <p14:creationId xmlns:p14="http://schemas.microsoft.com/office/powerpoint/2010/main" val="2969373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EF984-1AA4-3E23-A932-127512B2B4D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79643D2-E5F5-D254-4687-B6B573F25C4E}"/>
              </a:ext>
            </a:extLst>
          </p:cNvPr>
          <p:cNvSpPr txBox="1"/>
          <p:nvPr/>
        </p:nvSpPr>
        <p:spPr>
          <a:xfrm>
            <a:off x="577864" y="618936"/>
            <a:ext cx="5106244"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Identification &amp; Real Time Locating Systems</a:t>
            </a:r>
            <a:endParaRPr lang="en-GB" sz="2000" b="1" dirty="0">
              <a:solidFill>
                <a:srgbClr val="0A597A"/>
              </a:solidFill>
              <a:latin typeface="AvenirNext LT Pro Bold" panose="020B0804020202020204"/>
              <a:ea typeface="+mj-ea"/>
              <a:cs typeface="+mj-cs"/>
            </a:endParaRPr>
          </a:p>
          <a:p>
            <a:pPr>
              <a:lnSpc>
                <a:spcPct val="107000"/>
              </a:lnSpc>
              <a:spcAft>
                <a:spcPts val="300"/>
              </a:spcAft>
            </a:pPr>
            <a:r>
              <a:rPr lang="en-IE" sz="1400" dirty="0">
                <a:solidFill>
                  <a:srgbClr val="0A597A"/>
                </a:solidFill>
                <a:latin typeface="AvenirNext LT Pro Bold" panose="020B0804020202020204"/>
                <a:ea typeface="+mj-ea"/>
                <a:cs typeface="+mj-cs"/>
              </a:rPr>
              <a:t>Know What’s Where – With Confidence</a:t>
            </a:r>
          </a:p>
        </p:txBody>
      </p:sp>
      <p:sp>
        <p:nvSpPr>
          <p:cNvPr id="2" name="TextBox 1">
            <a:extLst>
              <a:ext uri="{FF2B5EF4-FFF2-40B4-BE49-F238E27FC236}">
                <a16:creationId xmlns:a16="http://schemas.microsoft.com/office/drawing/2014/main" id="{F7AFEEE0-2B46-9FDD-45E0-BB585FEF9A7D}"/>
              </a:ext>
            </a:extLst>
          </p:cNvPr>
          <p:cNvSpPr txBox="1"/>
          <p:nvPr/>
        </p:nvSpPr>
        <p:spPr>
          <a:xfrm>
            <a:off x="577864" y="1467639"/>
            <a:ext cx="5855483" cy="5262979"/>
          </a:xfrm>
          <a:prstGeom prst="rect">
            <a:avLst/>
          </a:prstGeom>
          <a:noFill/>
        </p:spPr>
        <p:txBody>
          <a:bodyPr wrap="square">
            <a:spAutoFit/>
          </a:bodyPr>
          <a:lstStyle/>
          <a:p>
            <a:r>
              <a:rPr lang="en-IE" sz="1400" dirty="0">
                <a:solidFill>
                  <a:srgbClr val="0A597A"/>
                </a:solidFill>
                <a:latin typeface="AvenirNext LT Pro Bold" panose="020B0804020202020204"/>
                <a:ea typeface="+mj-ea"/>
                <a:cs typeface="+mj-cs"/>
              </a:rPr>
              <a:t>SmartFactory’s Identification &amp; RTLS solutions enable precise traceability, location awareness, and automated verification of products, tools, and materials. These flexible identification solutions include RFID, barcode scanning, and vision systems to help eliminate manual entry errors.</a:t>
            </a:r>
          </a:p>
          <a:p>
            <a:endParaRPr lang="en-IE" sz="1400"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Barcode Reading</a:t>
            </a:r>
          </a:p>
          <a:p>
            <a:r>
              <a:rPr lang="en-IE" sz="1400" dirty="0">
                <a:solidFill>
                  <a:srgbClr val="0A597A"/>
                </a:solidFill>
                <a:latin typeface="AvenirNext LT Pro Bold" panose="020B0804020202020204"/>
                <a:ea typeface="+mj-ea"/>
                <a:cs typeface="+mj-cs"/>
              </a:rPr>
              <a:t>Low-cost handheld or fixed-mount readers, with optional liquid lens technology, to trigger workflow steps. </a:t>
            </a:r>
          </a:p>
          <a:p>
            <a:r>
              <a:rPr lang="en-IE" sz="1400" dirty="0">
                <a:solidFill>
                  <a:srgbClr val="0A597A"/>
                </a:solidFill>
                <a:latin typeface="AvenirNext LT Pro Bold" panose="020B0804020202020204"/>
                <a:ea typeface="+mj-ea"/>
                <a:cs typeface="+mj-cs"/>
              </a:rPr>
              <a:t>Laser-etch 2D Data Matrix onto fixtures, for process verification.</a:t>
            </a:r>
          </a:p>
          <a:p>
            <a:r>
              <a:rPr lang="en-IE" sz="1400" dirty="0">
                <a:solidFill>
                  <a:srgbClr val="0A597A"/>
                </a:solidFill>
                <a:latin typeface="AvenirNext LT Pro Bold" panose="020B0804020202020204"/>
                <a:ea typeface="+mj-ea"/>
                <a:cs typeface="+mj-cs"/>
              </a:rPr>
              <a:t>Printing and verification of serialised labels.</a:t>
            </a:r>
          </a:p>
          <a:p>
            <a:endParaRPr lang="en-IE" sz="1400"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RFID Tags and Readers</a:t>
            </a:r>
          </a:p>
          <a:p>
            <a:r>
              <a:rPr lang="en-IE" sz="1400" dirty="0">
                <a:solidFill>
                  <a:srgbClr val="0A597A"/>
                </a:solidFill>
                <a:latin typeface="AvenirNext LT Pro Bold" panose="020B0804020202020204"/>
                <a:ea typeface="+mj-ea"/>
                <a:cs typeface="+mj-cs"/>
              </a:rPr>
              <a:t>Accurately track assets, materials, and products to improve inventory management, streamline workflows, and enhanced quality control.</a:t>
            </a:r>
          </a:p>
          <a:p>
            <a:endParaRPr lang="en-IE" sz="1400" b="1"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Vision Systems</a:t>
            </a:r>
          </a:p>
          <a:p>
            <a:r>
              <a:rPr lang="en-IE" sz="1400" dirty="0">
                <a:solidFill>
                  <a:srgbClr val="0A597A"/>
                </a:solidFill>
                <a:latin typeface="AvenirNext LT Pro Bold" panose="020B0804020202020204"/>
                <a:ea typeface="+mj-ea"/>
                <a:cs typeface="+mj-cs"/>
              </a:rPr>
              <a:t>Automate critical inspection and quality control processes to detect defects, verifying dimensions, and ensure accurate assembly.</a:t>
            </a:r>
          </a:p>
          <a:p>
            <a:endParaRPr lang="en-IE" sz="1400"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Real-Time Locating System (RTLS)</a:t>
            </a:r>
          </a:p>
          <a:p>
            <a:r>
              <a:rPr lang="en-IE" sz="1400" dirty="0">
                <a:solidFill>
                  <a:srgbClr val="0A597A"/>
                </a:solidFill>
                <a:latin typeface="AvenirNext LT Pro Bold" panose="020B0804020202020204"/>
                <a:ea typeface="+mj-ea"/>
                <a:cs typeface="+mj-cs"/>
              </a:rPr>
              <a:t>SmartFactory’s RTLS provides ultra-accurate indoor positioning — like GPS, but for your factory. Track assets, tools, WIP, or personnel in real time with full two-way communication and integration into ERP systems and other site-wide applications.</a:t>
            </a:r>
          </a:p>
        </p:txBody>
      </p:sp>
      <p:sp>
        <p:nvSpPr>
          <p:cNvPr id="11" name="Action Button: Go Home 10">
            <a:hlinkClick r:id="rId2" action="ppaction://hlinksldjump" highlightClick="1"/>
            <a:hlinkHover r:id="" action="ppaction://hlinkshowjump?jump=firstslide"/>
            <a:extLst>
              <a:ext uri="{FF2B5EF4-FFF2-40B4-BE49-F238E27FC236}">
                <a16:creationId xmlns:a16="http://schemas.microsoft.com/office/drawing/2014/main" id="{292DABBD-0337-BEC2-14EA-9C19DCFACEAA}"/>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445950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F2FBAC1-F109-47D9-BB40-C89515C4310A}"/>
              </a:ext>
            </a:extLst>
          </p:cNvPr>
          <p:cNvSpPr txBox="1"/>
          <p:nvPr/>
        </p:nvSpPr>
        <p:spPr>
          <a:xfrm>
            <a:off x="763214" y="200455"/>
            <a:ext cx="4177085" cy="1043812"/>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Identification and Vision Systems</a:t>
            </a:r>
          </a:p>
          <a:p>
            <a:pPr marL="0" marR="0" lvl="0" indent="0" algn="l" defTabSz="457200" rtl="0" eaLnBrk="1" fontAlgn="auto" latinLnBrk="0" hangingPunct="1">
              <a:lnSpc>
                <a:spcPct val="107000"/>
              </a:lnSpc>
              <a:spcBef>
                <a:spcPts val="0"/>
              </a:spcBef>
              <a:spcAft>
                <a:spcPts val="300"/>
              </a:spcAft>
              <a:buClrTx/>
              <a:buSzTx/>
              <a:buFontTx/>
              <a:buNone/>
              <a:tabLst/>
              <a:defRPr/>
            </a:pP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Vision Systems, industrial barcode readers and RFID</a:t>
            </a:r>
          </a:p>
          <a:p>
            <a:pPr>
              <a:lnSpc>
                <a:spcPct val="107000"/>
              </a:lnSpc>
              <a:spcAft>
                <a:spcPts val="300"/>
              </a:spcAft>
            </a:pPr>
            <a:endParaRPr lang="en-IE" sz="2000" b="1" dirty="0">
              <a:solidFill>
                <a:srgbClr val="0A597A"/>
              </a:solidFill>
              <a:latin typeface="AvenirNext LT Pro Bold" panose="020B0804020202020204"/>
              <a:ea typeface="+mj-ea"/>
              <a:cs typeface="+mj-cs"/>
            </a:endParaRPr>
          </a:p>
        </p:txBody>
      </p:sp>
      <p:sp>
        <p:nvSpPr>
          <p:cNvPr id="2" name="Action Button: Go Home 1">
            <a:hlinkClick r:id="rId2" action="ppaction://hlinksldjump" highlightClick="1"/>
            <a:hlinkHover r:id="" action="ppaction://hlinkshowjump?jump=firstslide"/>
            <a:extLst>
              <a:ext uri="{FF2B5EF4-FFF2-40B4-BE49-F238E27FC236}">
                <a16:creationId xmlns:a16="http://schemas.microsoft.com/office/drawing/2014/main" id="{32B39AC8-BD52-6EC5-FB41-17DFBC2A25B2}"/>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7CD3237B-6EBB-2555-608A-63C1D146352F}"/>
              </a:ext>
            </a:extLst>
          </p:cNvPr>
          <p:cNvSpPr txBox="1"/>
          <p:nvPr/>
        </p:nvSpPr>
        <p:spPr>
          <a:xfrm>
            <a:off x="3177515" y="4753995"/>
            <a:ext cx="3525567" cy="2387257"/>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Range of identification hardware (including)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Vision Systems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Industrial barcode readers, with optional </a:t>
            </a:r>
            <a:r>
              <a:rPr lang="en-IE" sz="1400" dirty="0">
                <a:solidFill>
                  <a:srgbClr val="0A597A"/>
                </a:solidFill>
                <a:latin typeface="AvenirNext LT Pro Bold" panose="020B0804020202020204"/>
                <a:ea typeface="+mj-ea"/>
                <a:cs typeface="+mj-cs"/>
                <a:hlinkClick r:id="rId3"/>
              </a:rPr>
              <a:t>liquid lens </a:t>
            </a:r>
            <a:r>
              <a:rPr lang="en-IE" sz="1400" dirty="0">
                <a:solidFill>
                  <a:srgbClr val="0A597A"/>
                </a:solidFill>
                <a:latin typeface="AvenirNext LT Pro Bold" panose="020B0804020202020204"/>
                <a:ea typeface="+mj-ea"/>
                <a:cs typeface="+mj-cs"/>
              </a:rPr>
              <a:t>technology</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RFID tags </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RFID readers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Software </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Full hardware and software integration with WAPS and customer databases</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grpSp>
        <p:nvGrpSpPr>
          <p:cNvPr id="4" name="Group 3">
            <a:extLst>
              <a:ext uri="{FF2B5EF4-FFF2-40B4-BE49-F238E27FC236}">
                <a16:creationId xmlns:a16="http://schemas.microsoft.com/office/drawing/2014/main" id="{66E4F5E2-F220-B832-F2B7-575F84791F91}"/>
              </a:ext>
            </a:extLst>
          </p:cNvPr>
          <p:cNvGrpSpPr>
            <a:grpSpLocks noChangeAspect="1"/>
          </p:cNvGrpSpPr>
          <p:nvPr/>
        </p:nvGrpSpPr>
        <p:grpSpPr>
          <a:xfrm>
            <a:off x="1116063" y="1209904"/>
            <a:ext cx="4625874" cy="2636657"/>
            <a:chOff x="5022029" y="1003604"/>
            <a:chExt cx="3900258" cy="2220734"/>
          </a:xfrm>
        </p:grpSpPr>
        <p:pic>
          <p:nvPicPr>
            <p:cNvPr id="7" name="Picture 6">
              <a:extLst>
                <a:ext uri="{FF2B5EF4-FFF2-40B4-BE49-F238E27FC236}">
                  <a16:creationId xmlns:a16="http://schemas.microsoft.com/office/drawing/2014/main" id="{475409EF-65C2-9D47-420A-AD96F8559CC5}"/>
                </a:ext>
              </a:extLst>
            </p:cNvPr>
            <p:cNvPicPr>
              <a:picLocks noChangeAspect="1"/>
            </p:cNvPicPr>
            <p:nvPr/>
          </p:nvPicPr>
          <p:blipFill>
            <a:blip r:embed="rId4"/>
            <a:stretch>
              <a:fillRect/>
            </a:stretch>
          </p:blipFill>
          <p:spPr>
            <a:xfrm>
              <a:off x="5022029" y="1003604"/>
              <a:ext cx="3900258" cy="2220734"/>
            </a:xfrm>
            <a:prstGeom prst="rect">
              <a:avLst/>
            </a:prstGeom>
          </p:spPr>
        </p:pic>
        <p:sp>
          <p:nvSpPr>
            <p:cNvPr id="9" name="Rectangle: Rounded Corners 8">
              <a:extLst>
                <a:ext uri="{FF2B5EF4-FFF2-40B4-BE49-F238E27FC236}">
                  <a16:creationId xmlns:a16="http://schemas.microsoft.com/office/drawing/2014/main" id="{A6EE5FE9-2557-7B31-3B0F-1101EA07E637}"/>
                </a:ext>
              </a:extLst>
            </p:cNvPr>
            <p:cNvSpPr/>
            <p:nvPr/>
          </p:nvSpPr>
          <p:spPr>
            <a:xfrm>
              <a:off x="8224830" y="1038618"/>
              <a:ext cx="501161" cy="61180"/>
            </a:xfrm>
            <a:prstGeom prst="roundRect">
              <a:avLst/>
            </a:prstGeom>
            <a:solidFill>
              <a:srgbClr val="6666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1" name="Picture 10">
            <a:extLst>
              <a:ext uri="{FF2B5EF4-FFF2-40B4-BE49-F238E27FC236}">
                <a16:creationId xmlns:a16="http://schemas.microsoft.com/office/drawing/2014/main" id="{84FE720C-AEB5-632F-1FC6-569648B4A5B2}"/>
              </a:ext>
            </a:extLst>
          </p:cNvPr>
          <p:cNvPicPr>
            <a:picLocks noChangeAspect="1"/>
          </p:cNvPicPr>
          <p:nvPr/>
        </p:nvPicPr>
        <p:blipFill>
          <a:blip r:embed="rId5"/>
          <a:stretch>
            <a:fillRect/>
          </a:stretch>
        </p:blipFill>
        <p:spPr>
          <a:xfrm>
            <a:off x="1207428" y="4334104"/>
            <a:ext cx="914964" cy="1043812"/>
          </a:xfrm>
          <a:prstGeom prst="rect">
            <a:avLst/>
          </a:prstGeom>
        </p:spPr>
      </p:pic>
      <p:pic>
        <p:nvPicPr>
          <p:cNvPr id="13" name="Picture 12">
            <a:extLst>
              <a:ext uri="{FF2B5EF4-FFF2-40B4-BE49-F238E27FC236}">
                <a16:creationId xmlns:a16="http://schemas.microsoft.com/office/drawing/2014/main" id="{00000000-0008-0000-0300-0000BD01000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21874" y="7438582"/>
            <a:ext cx="944136" cy="1043812"/>
          </a:xfrm>
          <a:prstGeom prst="rect">
            <a:avLst/>
          </a:prstGeom>
        </p:spPr>
      </p:pic>
      <p:sp>
        <p:nvSpPr>
          <p:cNvPr id="16" name="TextBox 15">
            <a:extLst>
              <a:ext uri="{FF2B5EF4-FFF2-40B4-BE49-F238E27FC236}">
                <a16:creationId xmlns:a16="http://schemas.microsoft.com/office/drawing/2014/main" id="{35C9B293-68CA-D053-03BA-EC202CABEC18}"/>
              </a:ext>
            </a:extLst>
          </p:cNvPr>
          <p:cNvSpPr txBox="1"/>
          <p:nvPr/>
        </p:nvSpPr>
        <p:spPr>
          <a:xfrm>
            <a:off x="3177515" y="7378714"/>
            <a:ext cx="3525567" cy="1004186"/>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RFID Transponders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RFID tags </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RFID Labels</a:t>
            </a:r>
          </a:p>
          <a:p>
            <a:pPr>
              <a:lnSpc>
                <a:spcPct val="107000"/>
              </a:lnSpc>
            </a:pPr>
            <a:endParaRPr lang="en-IE" sz="1400" dirty="0">
              <a:solidFill>
                <a:srgbClr val="0A597A"/>
              </a:solidFill>
              <a:latin typeface="AvenirNext LT Pro Bold" panose="020B0804020202020204"/>
              <a:ea typeface="+mj-ea"/>
              <a:cs typeface="+mj-cs"/>
            </a:endParaRPr>
          </a:p>
        </p:txBody>
      </p:sp>
      <p:pic>
        <p:nvPicPr>
          <p:cNvPr id="18" name="Picture 17">
            <a:extLst>
              <a:ext uri="{FF2B5EF4-FFF2-40B4-BE49-F238E27FC236}">
                <a16:creationId xmlns:a16="http://schemas.microsoft.com/office/drawing/2014/main" id="{3355EDE6-0EC5-0FE3-1B0A-61C20FA9FD7C}"/>
              </a:ext>
            </a:extLst>
          </p:cNvPr>
          <p:cNvPicPr>
            <a:picLocks noChangeAspect="1"/>
          </p:cNvPicPr>
          <p:nvPr/>
        </p:nvPicPr>
        <p:blipFill>
          <a:blip r:embed="rId7"/>
          <a:stretch>
            <a:fillRect/>
          </a:stretch>
        </p:blipFill>
        <p:spPr>
          <a:xfrm>
            <a:off x="3198097" y="8084873"/>
            <a:ext cx="2965777" cy="1205600"/>
          </a:xfrm>
          <a:prstGeom prst="rect">
            <a:avLst/>
          </a:prstGeom>
        </p:spPr>
      </p:pic>
      <p:grpSp>
        <p:nvGrpSpPr>
          <p:cNvPr id="5" name="Group 4">
            <a:extLst>
              <a:ext uri="{FF2B5EF4-FFF2-40B4-BE49-F238E27FC236}">
                <a16:creationId xmlns:a16="http://schemas.microsoft.com/office/drawing/2014/main" id="{373A58BA-6C8C-D185-D684-BC8F6813F4B6}"/>
              </a:ext>
            </a:extLst>
          </p:cNvPr>
          <p:cNvGrpSpPr/>
          <p:nvPr/>
        </p:nvGrpSpPr>
        <p:grpSpPr>
          <a:xfrm>
            <a:off x="588664" y="5881380"/>
            <a:ext cx="2345362" cy="1268030"/>
            <a:chOff x="242669" y="5881380"/>
            <a:chExt cx="2345362" cy="1268030"/>
          </a:xfrm>
        </p:grpSpPr>
        <p:grpSp>
          <p:nvGrpSpPr>
            <p:cNvPr id="25" name="Group 24">
              <a:extLst>
                <a:ext uri="{FF2B5EF4-FFF2-40B4-BE49-F238E27FC236}">
                  <a16:creationId xmlns:a16="http://schemas.microsoft.com/office/drawing/2014/main" id="{4F986A52-E875-A056-B19D-A9817CBEBD3A}"/>
                </a:ext>
              </a:extLst>
            </p:cNvPr>
            <p:cNvGrpSpPr/>
            <p:nvPr/>
          </p:nvGrpSpPr>
          <p:grpSpPr>
            <a:xfrm>
              <a:off x="975094" y="5958743"/>
              <a:ext cx="604299" cy="446030"/>
              <a:chOff x="617906" y="5372956"/>
              <a:chExt cx="604299" cy="446030"/>
            </a:xfrm>
          </p:grpSpPr>
          <p:sp>
            <p:nvSpPr>
              <p:cNvPr id="17" name="TextBox 16">
                <a:extLst>
                  <a:ext uri="{FF2B5EF4-FFF2-40B4-BE49-F238E27FC236}">
                    <a16:creationId xmlns:a16="http://schemas.microsoft.com/office/drawing/2014/main" id="{3816A615-8FCE-960D-C426-84E882B095F4}"/>
                  </a:ext>
                </a:extLst>
              </p:cNvPr>
              <p:cNvSpPr txBox="1"/>
              <p:nvPr/>
            </p:nvSpPr>
            <p:spPr>
              <a:xfrm>
                <a:off x="617906" y="5603542"/>
                <a:ext cx="604299" cy="215444"/>
              </a:xfrm>
              <a:prstGeom prst="rect">
                <a:avLst/>
              </a:prstGeom>
              <a:noFill/>
            </p:spPr>
            <p:txBody>
              <a:bodyPr wrap="square" rtlCol="0">
                <a:spAutoFit/>
              </a:bodyPr>
              <a:lstStyle/>
              <a:p>
                <a:pPr algn="ctr"/>
                <a:r>
                  <a:rPr lang="en-IE" sz="800" b="1" dirty="0">
                    <a:latin typeface="Aptos Narrow" panose="020B0004020202020204" pitchFamily="34" charset="0"/>
                  </a:rPr>
                  <a:t>BARCODE</a:t>
                </a:r>
              </a:p>
            </p:txBody>
          </p:sp>
          <p:grpSp>
            <p:nvGrpSpPr>
              <p:cNvPr id="24" name="Group 23">
                <a:extLst>
                  <a:ext uri="{FF2B5EF4-FFF2-40B4-BE49-F238E27FC236}">
                    <a16:creationId xmlns:a16="http://schemas.microsoft.com/office/drawing/2014/main" id="{64A8170D-1C6C-286A-C63B-0C97EC8F8211}"/>
                  </a:ext>
                </a:extLst>
              </p:cNvPr>
              <p:cNvGrpSpPr/>
              <p:nvPr/>
            </p:nvGrpSpPr>
            <p:grpSpPr>
              <a:xfrm>
                <a:off x="792835" y="5372956"/>
                <a:ext cx="254442" cy="254442"/>
                <a:chOff x="792835" y="5372956"/>
                <a:chExt cx="254442" cy="254442"/>
              </a:xfrm>
            </p:grpSpPr>
            <p:sp>
              <p:nvSpPr>
                <p:cNvPr id="15" name="Rectangle: Rounded Corners 14">
                  <a:extLst>
                    <a:ext uri="{FF2B5EF4-FFF2-40B4-BE49-F238E27FC236}">
                      <a16:creationId xmlns:a16="http://schemas.microsoft.com/office/drawing/2014/main" id="{86012C64-A3B8-8085-6CF0-812140E706B9}"/>
                    </a:ext>
                  </a:extLst>
                </p:cNvPr>
                <p:cNvSpPr/>
                <p:nvPr/>
              </p:nvSpPr>
              <p:spPr bwMode="auto">
                <a:xfrm>
                  <a:off x="792835" y="5372956"/>
                  <a:ext cx="254442" cy="254442"/>
                </a:xfrm>
                <a:prstGeom prst="roundRect">
                  <a:avLst/>
                </a:pr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E" sz="2400" b="0" i="0" u="none" strike="noStrike" cap="none" normalizeH="0" baseline="0">
                    <a:ln>
                      <a:noFill/>
                    </a:ln>
                    <a:solidFill>
                      <a:srgbClr val="000000"/>
                    </a:solidFill>
                    <a:effectLst/>
                    <a:latin typeface="Arial" charset="0"/>
                    <a:ea typeface="ＭＳ Ｐゴシック" charset="0"/>
                  </a:endParaRPr>
                </a:p>
              </p:txBody>
            </p:sp>
            <p:pic>
              <p:nvPicPr>
                <p:cNvPr id="19" name="Picture 18">
                  <a:extLst>
                    <a:ext uri="{FF2B5EF4-FFF2-40B4-BE49-F238E27FC236}">
                      <a16:creationId xmlns:a16="http://schemas.microsoft.com/office/drawing/2014/main" id="{93AE1795-0FDD-999B-EEE0-72E1C3406043}"/>
                    </a:ext>
                  </a:extLst>
                </p:cNvPr>
                <p:cNvPicPr>
                  <a:picLocks noChangeAspect="1"/>
                </p:cNvPicPr>
                <p:nvPr/>
              </p:nvPicPr>
              <p:blipFill>
                <a:blip r:embed="rId8"/>
                <a:stretch>
                  <a:fillRect/>
                </a:stretch>
              </p:blipFill>
              <p:spPr>
                <a:xfrm>
                  <a:off x="845754" y="5506380"/>
                  <a:ext cx="153814" cy="106186"/>
                </a:xfrm>
                <a:prstGeom prst="rect">
                  <a:avLst/>
                </a:prstGeom>
              </p:spPr>
            </p:pic>
            <p:pic>
              <p:nvPicPr>
                <p:cNvPr id="20" name="Picture 19">
                  <a:extLst>
                    <a:ext uri="{FF2B5EF4-FFF2-40B4-BE49-F238E27FC236}">
                      <a16:creationId xmlns:a16="http://schemas.microsoft.com/office/drawing/2014/main" id="{23BB8663-B6E8-75E0-ACEF-F60C51CA79E1}"/>
                    </a:ext>
                  </a:extLst>
                </p:cNvPr>
                <p:cNvPicPr>
                  <a:picLocks noChangeAspect="1"/>
                </p:cNvPicPr>
                <p:nvPr/>
              </p:nvPicPr>
              <p:blipFill>
                <a:blip r:embed="rId9"/>
                <a:stretch>
                  <a:fillRect/>
                </a:stretch>
              </p:blipFill>
              <p:spPr>
                <a:xfrm>
                  <a:off x="859663" y="5382346"/>
                  <a:ext cx="124003" cy="117975"/>
                </a:xfrm>
                <a:prstGeom prst="rect">
                  <a:avLst/>
                </a:prstGeom>
              </p:spPr>
            </p:pic>
          </p:grpSp>
        </p:grpSp>
        <p:grpSp>
          <p:nvGrpSpPr>
            <p:cNvPr id="21" name="Group 20">
              <a:extLst>
                <a:ext uri="{FF2B5EF4-FFF2-40B4-BE49-F238E27FC236}">
                  <a16:creationId xmlns:a16="http://schemas.microsoft.com/office/drawing/2014/main" id="{7617E518-A140-32F4-45A1-7720D79F83AC}"/>
                </a:ext>
              </a:extLst>
            </p:cNvPr>
            <p:cNvGrpSpPr/>
            <p:nvPr/>
          </p:nvGrpSpPr>
          <p:grpSpPr>
            <a:xfrm>
              <a:off x="898329" y="6432574"/>
              <a:ext cx="816238" cy="716836"/>
              <a:chOff x="8621962" y="3256789"/>
              <a:chExt cx="816238" cy="716836"/>
            </a:xfrm>
          </p:grpSpPr>
          <p:pic>
            <p:nvPicPr>
              <p:cNvPr id="22" name="Picture 21">
                <a:extLst>
                  <a:ext uri="{FF2B5EF4-FFF2-40B4-BE49-F238E27FC236}">
                    <a16:creationId xmlns:a16="http://schemas.microsoft.com/office/drawing/2014/main" id="{0C6C250F-1836-C940-3146-EE62C13FED77}"/>
                  </a:ext>
                </a:extLst>
              </p:cNvPr>
              <p:cNvPicPr>
                <a:picLocks noChangeAspect="1"/>
              </p:cNvPicPr>
              <p:nvPr/>
            </p:nvPicPr>
            <p:blipFill>
              <a:blip r:embed="rId10"/>
              <a:stretch>
                <a:fillRect/>
              </a:stretch>
            </p:blipFill>
            <p:spPr>
              <a:xfrm>
                <a:off x="8621962" y="3256789"/>
                <a:ext cx="816238" cy="415131"/>
              </a:xfrm>
              <a:prstGeom prst="rect">
                <a:avLst/>
              </a:prstGeom>
            </p:spPr>
          </p:pic>
          <p:sp>
            <p:nvSpPr>
              <p:cNvPr id="23" name="TextBox 22">
                <a:extLst>
                  <a:ext uri="{FF2B5EF4-FFF2-40B4-BE49-F238E27FC236}">
                    <a16:creationId xmlns:a16="http://schemas.microsoft.com/office/drawing/2014/main" id="{7DA45D7E-9223-2878-2FA7-FC64E3C7DFA8}"/>
                  </a:ext>
                </a:extLst>
              </p:cNvPr>
              <p:cNvSpPr txBox="1"/>
              <p:nvPr/>
            </p:nvSpPr>
            <p:spPr>
              <a:xfrm>
                <a:off x="8644394" y="3635071"/>
                <a:ext cx="722243" cy="338554"/>
              </a:xfrm>
              <a:prstGeom prst="rect">
                <a:avLst/>
              </a:prstGeom>
              <a:noFill/>
            </p:spPr>
            <p:txBody>
              <a:bodyPr wrap="square" rtlCol="0">
                <a:spAutoFit/>
              </a:bodyPr>
              <a:lstStyle/>
              <a:p>
                <a:pPr algn="ctr"/>
                <a:r>
                  <a:rPr lang="en-IE" sz="800" b="1" dirty="0">
                    <a:solidFill>
                      <a:schemeClr val="bg1">
                        <a:lumMod val="50000"/>
                      </a:schemeClr>
                    </a:solidFill>
                    <a:latin typeface="Aptos Narrow" panose="020B0004020202020204" pitchFamily="34" charset="0"/>
                  </a:rPr>
                  <a:t>Liquid Lens Technology</a:t>
                </a:r>
              </a:p>
            </p:txBody>
          </p:sp>
        </p:grpSp>
        <p:pic>
          <p:nvPicPr>
            <p:cNvPr id="27" name="Picture 26">
              <a:extLst>
                <a:ext uri="{FF2B5EF4-FFF2-40B4-BE49-F238E27FC236}">
                  <a16:creationId xmlns:a16="http://schemas.microsoft.com/office/drawing/2014/main" id="{64ED937A-9F15-651E-D615-2BFDAC9D604A}"/>
                </a:ext>
              </a:extLst>
            </p:cNvPr>
            <p:cNvPicPr>
              <a:picLocks noChangeAspect="1"/>
            </p:cNvPicPr>
            <p:nvPr/>
          </p:nvPicPr>
          <p:blipFill>
            <a:blip r:embed="rId11"/>
            <a:stretch>
              <a:fillRect/>
            </a:stretch>
          </p:blipFill>
          <p:spPr>
            <a:xfrm>
              <a:off x="242669" y="5881380"/>
              <a:ext cx="565805" cy="800408"/>
            </a:xfrm>
            <a:prstGeom prst="rect">
              <a:avLst/>
            </a:prstGeom>
          </p:spPr>
        </p:pic>
        <p:pic>
          <p:nvPicPr>
            <p:cNvPr id="31" name="Picture 30">
              <a:extLst>
                <a:ext uri="{FF2B5EF4-FFF2-40B4-BE49-F238E27FC236}">
                  <a16:creationId xmlns:a16="http://schemas.microsoft.com/office/drawing/2014/main" id="{D45CDFD8-6C6A-7A00-4206-64AB240ED516}"/>
                </a:ext>
              </a:extLst>
            </p:cNvPr>
            <p:cNvPicPr>
              <a:picLocks noChangeAspect="1"/>
            </p:cNvPicPr>
            <p:nvPr/>
          </p:nvPicPr>
          <p:blipFill>
            <a:blip r:embed="rId12"/>
            <a:stretch>
              <a:fillRect/>
            </a:stretch>
          </p:blipFill>
          <p:spPr>
            <a:xfrm>
              <a:off x="1933212" y="5900244"/>
              <a:ext cx="654819" cy="891082"/>
            </a:xfrm>
            <a:prstGeom prst="rect">
              <a:avLst/>
            </a:prstGeom>
          </p:spPr>
        </p:pic>
      </p:grpSp>
    </p:spTree>
    <p:extLst>
      <p:ext uri="{BB962C8B-B14F-4D97-AF65-F5344CB8AC3E}">
        <p14:creationId xmlns:p14="http://schemas.microsoft.com/office/powerpoint/2010/main" val="2421580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F2FBAC1-F109-47D9-BB40-C89515C4310A}"/>
              </a:ext>
            </a:extLst>
          </p:cNvPr>
          <p:cNvSpPr txBox="1"/>
          <p:nvPr/>
        </p:nvSpPr>
        <p:spPr>
          <a:xfrm>
            <a:off x="763214" y="200455"/>
            <a:ext cx="4621586"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Real Time Locating System (RTLS)</a:t>
            </a:r>
          </a:p>
          <a:p>
            <a:pPr>
              <a:lnSpc>
                <a:spcPct val="107000"/>
              </a:lnSpc>
              <a:spcAft>
                <a:spcPts val="300"/>
              </a:spcAft>
            </a:pP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Ultra-accurate, ultra-reliable, real-time location information</a:t>
            </a:r>
            <a:endParaRPr lang="en-IE" sz="2000" b="1" dirty="0">
              <a:solidFill>
                <a:srgbClr val="0A597A"/>
              </a:solidFill>
              <a:latin typeface="AvenirNext LT Pro Bold" panose="020B0804020202020204"/>
              <a:ea typeface="+mj-ea"/>
              <a:cs typeface="+mj-cs"/>
            </a:endParaRPr>
          </a:p>
        </p:txBody>
      </p:sp>
      <p:sp>
        <p:nvSpPr>
          <p:cNvPr id="2" name="Action Button: Go Home 1">
            <a:hlinkClick r:id="rId2" action="ppaction://hlinksldjump" highlightClick="1"/>
            <a:hlinkHover r:id="" action="ppaction://hlinkshowjump?jump=firstslide"/>
            <a:extLst>
              <a:ext uri="{FF2B5EF4-FFF2-40B4-BE49-F238E27FC236}">
                <a16:creationId xmlns:a16="http://schemas.microsoft.com/office/drawing/2014/main" id="{32B39AC8-BD52-6EC5-FB41-17DFBC2A25B2}"/>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7CD3237B-6EBB-2555-608A-63C1D146352F}"/>
              </a:ext>
            </a:extLst>
          </p:cNvPr>
          <p:cNvSpPr txBox="1"/>
          <p:nvPr/>
        </p:nvSpPr>
        <p:spPr>
          <a:xfrm>
            <a:off x="3332433" y="5559271"/>
            <a:ext cx="3335067" cy="1695721"/>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End-to-end solution (including)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Transponders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Wireless Gateways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Locating Software</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Full integration with WAPS and customer databases</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sp>
        <p:nvSpPr>
          <p:cNvPr id="5" name="TextBox 4">
            <a:hlinkClick r:id="rId3"/>
            <a:extLst>
              <a:ext uri="{FF2B5EF4-FFF2-40B4-BE49-F238E27FC236}">
                <a16:creationId xmlns:a16="http://schemas.microsoft.com/office/drawing/2014/main" id="{F6C0EEEE-1DD4-5DB3-5707-A0090F563945}"/>
              </a:ext>
            </a:extLst>
          </p:cNvPr>
          <p:cNvSpPr txBox="1"/>
          <p:nvPr/>
        </p:nvSpPr>
        <p:spPr>
          <a:xfrm>
            <a:off x="3332432" y="5013201"/>
            <a:ext cx="3525567" cy="609013"/>
          </a:xfrm>
          <a:prstGeom prst="rect">
            <a:avLst/>
          </a:prstGeom>
          <a:noFill/>
        </p:spPr>
        <p:txBody>
          <a:bodyPr wrap="square">
            <a:spAutoFit/>
          </a:bodyPr>
          <a:lstStyle/>
          <a:p>
            <a:pPr>
              <a:lnSpc>
                <a:spcPct val="107000"/>
              </a:lnSpc>
            </a:pPr>
            <a:r>
              <a:rPr lang="en-IE" b="1" i="1" dirty="0">
                <a:solidFill>
                  <a:srgbClr val="3EC4FF"/>
                </a:solidFill>
                <a:latin typeface="AvenirNext LT Pro Bold" panose="020B0804020202020204"/>
                <a:ea typeface="+mj-ea"/>
                <a:cs typeface="+mj-cs"/>
                <a:hlinkClick r:id="rId4">
                  <a:extLst>
                    <a:ext uri="{A12FA001-AC4F-418D-AE19-62706E023703}">
                      <ahyp:hlinkClr xmlns:ahyp="http://schemas.microsoft.com/office/drawing/2018/hyperlinkcolor" val="tx"/>
                    </a:ext>
                  </a:extLst>
                </a:hlinkClick>
              </a:rPr>
              <a:t>Link to RTLS Video</a:t>
            </a:r>
            <a:endParaRPr lang="en-IE" i="1" dirty="0">
              <a:solidFill>
                <a:srgbClr val="3EC4FF"/>
              </a:solidFill>
              <a:latin typeface="AvenirNext LT Pro Bold" panose="020B0804020202020204"/>
              <a:ea typeface="+mj-ea"/>
              <a:cs typeface="+mj-cs"/>
            </a:endParaRP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6" name="Picture 2">
            <a:extLst>
              <a:ext uri="{FF2B5EF4-FFF2-40B4-BE49-F238E27FC236}">
                <a16:creationId xmlns:a16="http://schemas.microsoft.com/office/drawing/2014/main" id="{AAE373B3-A0AA-6A0D-63A4-0152991B66A9}"/>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928" t="1200" r="119" b="655"/>
          <a:stretch/>
        </p:blipFill>
        <p:spPr bwMode="auto">
          <a:xfrm>
            <a:off x="400632" y="1203832"/>
            <a:ext cx="6056736" cy="3413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Group 6">
            <a:extLst>
              <a:ext uri="{FF2B5EF4-FFF2-40B4-BE49-F238E27FC236}">
                <a16:creationId xmlns:a16="http://schemas.microsoft.com/office/drawing/2014/main" id="{8922C766-DA83-D5B0-80EA-DDB782927661}"/>
              </a:ext>
            </a:extLst>
          </p:cNvPr>
          <p:cNvGrpSpPr/>
          <p:nvPr/>
        </p:nvGrpSpPr>
        <p:grpSpPr>
          <a:xfrm>
            <a:off x="580913" y="4871581"/>
            <a:ext cx="2175395" cy="1679065"/>
            <a:chOff x="6753113" y="1068920"/>
            <a:chExt cx="2175395" cy="1679065"/>
          </a:xfrm>
        </p:grpSpPr>
        <p:pic>
          <p:nvPicPr>
            <p:cNvPr id="9" name="Picture 5">
              <a:extLst>
                <a:ext uri="{FF2B5EF4-FFF2-40B4-BE49-F238E27FC236}">
                  <a16:creationId xmlns:a16="http://schemas.microsoft.com/office/drawing/2014/main" id="{5591F8FE-C9BC-F9C4-330B-BB71B80D47A4}"/>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l="17778" t="19422" r="20892" b="17444"/>
            <a:stretch/>
          </p:blipFill>
          <p:spPr bwMode="auto">
            <a:xfrm>
              <a:off x="6753113" y="1319547"/>
              <a:ext cx="2175395" cy="1428438"/>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1">
              <a:extLst>
                <a:ext uri="{FF2B5EF4-FFF2-40B4-BE49-F238E27FC236}">
                  <a16:creationId xmlns:a16="http://schemas.microsoft.com/office/drawing/2014/main" id="{50D7C686-D070-110F-07E3-79E789705979}"/>
                </a:ext>
              </a:extLst>
            </p:cNvPr>
            <p:cNvSpPr txBox="1">
              <a:spLocks/>
            </p:cNvSpPr>
            <p:nvPr/>
          </p:nvSpPr>
          <p:spPr>
            <a:xfrm>
              <a:off x="6939940" y="1068920"/>
              <a:ext cx="1833733" cy="236616"/>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IE" sz="1200" b="1" i="1" dirty="0">
                  <a:solidFill>
                    <a:srgbClr val="0D496B"/>
                  </a:solidFill>
                  <a:latin typeface="AvenirNext LT Pro Bold"/>
                  <a:ea typeface="+mj-ea"/>
                  <a:cs typeface="+mj-cs"/>
                </a:rPr>
                <a:t>“Indoor GPS”</a:t>
              </a:r>
            </a:p>
            <a:p>
              <a:pPr marL="0" indent="0">
                <a:buNone/>
              </a:pPr>
              <a:endParaRPr lang="en-IE" sz="1600" dirty="0">
                <a:solidFill>
                  <a:srgbClr val="0D496B"/>
                </a:solidFill>
                <a:latin typeface="AvenirNext LT Pro Bold"/>
                <a:ea typeface="+mj-ea"/>
                <a:cs typeface="+mj-cs"/>
              </a:endParaRPr>
            </a:p>
            <a:p>
              <a:pPr marL="0" indent="0">
                <a:buNone/>
              </a:pPr>
              <a:endParaRPr lang="en-IE" sz="1600" dirty="0">
                <a:solidFill>
                  <a:srgbClr val="0D496B"/>
                </a:solidFill>
                <a:latin typeface="Baskerville Old Face" panose="02020602080505020303" pitchFamily="18" charset="0"/>
              </a:endParaRPr>
            </a:p>
            <a:p>
              <a:pPr marL="0" indent="0">
                <a:buNone/>
              </a:pPr>
              <a:endParaRPr lang="en-IE" sz="1600" dirty="0">
                <a:solidFill>
                  <a:srgbClr val="0D496B"/>
                </a:solidFill>
                <a:latin typeface="Baskerville Old Face" panose="02020602080505020303" pitchFamily="18" charset="0"/>
              </a:endParaRPr>
            </a:p>
            <a:p>
              <a:pPr marL="0" indent="0">
                <a:buNone/>
              </a:pPr>
              <a:endParaRPr lang="en-US" sz="1600" dirty="0">
                <a:solidFill>
                  <a:srgbClr val="0D496B"/>
                </a:solidFill>
                <a:latin typeface="Baskerville Old Face" panose="02020602080505020303" pitchFamily="18" charset="0"/>
              </a:endParaRPr>
            </a:p>
            <a:p>
              <a:pPr marL="0" indent="0">
                <a:buNone/>
              </a:pPr>
              <a:endParaRPr lang="en-US" sz="1600" dirty="0">
                <a:solidFill>
                  <a:srgbClr val="0D496B"/>
                </a:solidFill>
                <a:latin typeface="Baskerville Old Face" panose="02020602080505020303" pitchFamily="18" charset="0"/>
              </a:endParaRPr>
            </a:p>
            <a:p>
              <a:pPr marL="0" indent="0">
                <a:buNone/>
              </a:pPr>
              <a:endParaRPr lang="en-US" sz="2400" b="1" dirty="0"/>
            </a:p>
            <a:p>
              <a:pPr marL="0" indent="0">
                <a:buNone/>
              </a:pPr>
              <a:endParaRPr lang="en-US" sz="2000" dirty="0"/>
            </a:p>
          </p:txBody>
        </p:sp>
      </p:grpSp>
      <p:pic>
        <p:nvPicPr>
          <p:cNvPr id="11" name="Picture 3" descr="C:\Users\z003eeyj\Desktop\Bilder Markus - Saganer Str\RTLS_20180710-09_kompr..jpg">
            <a:extLst>
              <a:ext uri="{FF2B5EF4-FFF2-40B4-BE49-F238E27FC236}">
                <a16:creationId xmlns:a16="http://schemas.microsoft.com/office/drawing/2014/main" id="{AA32E892-761A-BD68-EB81-2A48F0F77B23}"/>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580913" y="7228749"/>
            <a:ext cx="2005715" cy="156249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3" descr="C:\Users\z003eeyj\Desktop\Bilder Markus - Saganer Str\RTLS_20180710-09_kompr..jpg">
            <a:extLst>
              <a:ext uri="{FF2B5EF4-FFF2-40B4-BE49-F238E27FC236}">
                <a16:creationId xmlns:a16="http://schemas.microsoft.com/office/drawing/2014/main" id="{1419F614-C414-F9D6-14C4-4B41FBEFE2F6}"/>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l="38026" t="36711" r="36225" b="36011"/>
          <a:stretch/>
        </p:blipFill>
        <p:spPr bwMode="auto">
          <a:xfrm>
            <a:off x="3429000" y="7500364"/>
            <a:ext cx="1048744" cy="865461"/>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1">
            <a:extLst>
              <a:ext uri="{FF2B5EF4-FFF2-40B4-BE49-F238E27FC236}">
                <a16:creationId xmlns:a16="http://schemas.microsoft.com/office/drawing/2014/main" id="{EB1B31F1-8138-74CA-D095-3ADDB1323526}"/>
              </a:ext>
            </a:extLst>
          </p:cNvPr>
          <p:cNvSpPr txBox="1">
            <a:spLocks/>
          </p:cNvSpPr>
          <p:nvPr/>
        </p:nvSpPr>
        <p:spPr>
          <a:xfrm>
            <a:off x="3094365" y="8486397"/>
            <a:ext cx="1833733" cy="36168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IE" sz="1000" dirty="0">
                <a:solidFill>
                  <a:srgbClr val="0D496B"/>
                </a:solidFill>
                <a:latin typeface="AvenirNext LT Pro Bold"/>
                <a:ea typeface="+mj-ea"/>
                <a:cs typeface="+mj-cs"/>
              </a:rPr>
              <a:t>RTLS Transponder with e-paper and 2-way communication</a:t>
            </a:r>
          </a:p>
          <a:p>
            <a:pPr marL="0" indent="0">
              <a:buNone/>
            </a:pPr>
            <a:endParaRPr lang="en-IE" sz="1600" dirty="0">
              <a:solidFill>
                <a:srgbClr val="0D496B"/>
              </a:solidFill>
              <a:latin typeface="AvenirNext LT Pro Bold"/>
              <a:ea typeface="+mj-ea"/>
              <a:cs typeface="+mj-cs"/>
            </a:endParaRPr>
          </a:p>
          <a:p>
            <a:pPr marL="0" indent="0">
              <a:buNone/>
            </a:pPr>
            <a:endParaRPr lang="en-IE" sz="1600" dirty="0">
              <a:solidFill>
                <a:srgbClr val="0D496B"/>
              </a:solidFill>
              <a:latin typeface="Baskerville Old Face" panose="02020602080505020303" pitchFamily="18" charset="0"/>
            </a:endParaRPr>
          </a:p>
          <a:p>
            <a:pPr marL="0" indent="0">
              <a:buNone/>
            </a:pPr>
            <a:endParaRPr lang="en-IE" sz="1600" dirty="0">
              <a:solidFill>
                <a:srgbClr val="0D496B"/>
              </a:solidFill>
              <a:latin typeface="Baskerville Old Face" panose="02020602080505020303" pitchFamily="18" charset="0"/>
            </a:endParaRPr>
          </a:p>
          <a:p>
            <a:pPr marL="0" indent="0">
              <a:buNone/>
            </a:pPr>
            <a:endParaRPr lang="en-US" sz="1600" dirty="0">
              <a:solidFill>
                <a:srgbClr val="0D496B"/>
              </a:solidFill>
              <a:latin typeface="Baskerville Old Face" panose="02020602080505020303" pitchFamily="18" charset="0"/>
            </a:endParaRPr>
          </a:p>
          <a:p>
            <a:pPr marL="0" indent="0">
              <a:buNone/>
            </a:pPr>
            <a:endParaRPr lang="en-US" sz="1600" dirty="0">
              <a:solidFill>
                <a:srgbClr val="0D496B"/>
              </a:solidFill>
              <a:latin typeface="Baskerville Old Face" panose="02020602080505020303" pitchFamily="18" charset="0"/>
            </a:endParaRPr>
          </a:p>
          <a:p>
            <a:pPr marL="0" indent="0">
              <a:buNone/>
            </a:pPr>
            <a:endParaRPr lang="en-US" sz="2400" b="1" dirty="0"/>
          </a:p>
          <a:p>
            <a:pPr marL="0" indent="0">
              <a:buNone/>
            </a:pPr>
            <a:endParaRPr lang="en-US" sz="2000" dirty="0"/>
          </a:p>
        </p:txBody>
      </p:sp>
      <p:cxnSp>
        <p:nvCxnSpPr>
          <p:cNvPr id="14" name="Straight Arrow Connector 13">
            <a:extLst>
              <a:ext uri="{FF2B5EF4-FFF2-40B4-BE49-F238E27FC236}">
                <a16:creationId xmlns:a16="http://schemas.microsoft.com/office/drawing/2014/main" id="{901D1EE9-92A8-3051-EBA9-B22DCB0F6887}"/>
              </a:ext>
            </a:extLst>
          </p:cNvPr>
          <p:cNvCxnSpPr>
            <a:cxnSpLocks/>
            <a:stCxn id="12" idx="1"/>
          </p:cNvCxnSpPr>
          <p:nvPr/>
        </p:nvCxnSpPr>
        <p:spPr>
          <a:xfrm flipH="1">
            <a:off x="1955800" y="7933095"/>
            <a:ext cx="1473200" cy="1489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6F90677-45BA-30AF-0D50-165C5C80CD29}"/>
              </a:ext>
            </a:extLst>
          </p:cNvPr>
          <p:cNvPicPr>
            <a:picLocks noChangeAspect="1"/>
          </p:cNvPicPr>
          <p:nvPr/>
        </p:nvPicPr>
        <p:blipFill>
          <a:blip r:embed="rId8"/>
          <a:stretch>
            <a:fillRect/>
          </a:stretch>
        </p:blipFill>
        <p:spPr>
          <a:xfrm>
            <a:off x="5095215" y="9026179"/>
            <a:ext cx="1372208" cy="257519"/>
          </a:xfrm>
          <a:prstGeom prst="rect">
            <a:avLst/>
          </a:prstGeom>
        </p:spPr>
      </p:pic>
      <p:pic>
        <p:nvPicPr>
          <p:cNvPr id="18" name="Picture 17" descr="A drawing of a face&#10;&#10;Description automatically generated">
            <a:extLst>
              <a:ext uri="{FF2B5EF4-FFF2-40B4-BE49-F238E27FC236}">
                <a16:creationId xmlns:a16="http://schemas.microsoft.com/office/drawing/2014/main" id="{6711E959-9E3E-05C9-A1D1-FF7CDE8553B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18734" y="3704583"/>
            <a:ext cx="659564" cy="374048"/>
          </a:xfrm>
          <a:prstGeom prst="rect">
            <a:avLst/>
          </a:prstGeom>
        </p:spPr>
      </p:pic>
      <p:sp>
        <p:nvSpPr>
          <p:cNvPr id="19" name="Rectangle 18">
            <a:extLst>
              <a:ext uri="{FF2B5EF4-FFF2-40B4-BE49-F238E27FC236}">
                <a16:creationId xmlns:a16="http://schemas.microsoft.com/office/drawing/2014/main" id="{1F33A5CE-337C-355C-32AC-48F83A03B65E}"/>
              </a:ext>
            </a:extLst>
          </p:cNvPr>
          <p:cNvSpPr/>
          <p:nvPr/>
        </p:nvSpPr>
        <p:spPr>
          <a:xfrm>
            <a:off x="635207" y="4042700"/>
            <a:ext cx="1244251" cy="276999"/>
          </a:xfrm>
          <a:prstGeom prst="rect">
            <a:avLst/>
          </a:prstGeom>
        </p:spPr>
        <p:txBody>
          <a:bodyPr wrap="none">
            <a:spAutoFit/>
          </a:bodyPr>
          <a:lstStyle/>
          <a:p>
            <a:r>
              <a:rPr lang="en-IE" sz="1200" b="1" dirty="0">
                <a:solidFill>
                  <a:srgbClr val="32ADBF"/>
                </a:solidFill>
              </a:rPr>
              <a:t>IEEE 802.15.4a/z</a:t>
            </a:r>
          </a:p>
        </p:txBody>
      </p:sp>
      <p:pic>
        <p:nvPicPr>
          <p:cNvPr id="20" name="Picture 19">
            <a:extLst>
              <a:ext uri="{FF2B5EF4-FFF2-40B4-BE49-F238E27FC236}">
                <a16:creationId xmlns:a16="http://schemas.microsoft.com/office/drawing/2014/main" id="{00000000-0008-0000-0300-000016020000}"/>
              </a:ext>
            </a:extLst>
          </p:cNvPr>
          <p:cNvPicPr>
            <a:picLocks noChangeAspect="1"/>
          </p:cNvPicPr>
          <p:nvPr/>
        </p:nvPicPr>
        <p:blipFill>
          <a:blip r:embed="rId10"/>
          <a:stretch>
            <a:fillRect/>
          </a:stretch>
        </p:blipFill>
        <p:spPr>
          <a:xfrm>
            <a:off x="5235523" y="7097331"/>
            <a:ext cx="1206500" cy="1407462"/>
          </a:xfrm>
          <a:prstGeom prst="rect">
            <a:avLst/>
          </a:prstGeom>
        </p:spPr>
      </p:pic>
    </p:spTree>
    <p:extLst>
      <p:ext uri="{BB962C8B-B14F-4D97-AF65-F5344CB8AC3E}">
        <p14:creationId xmlns:p14="http://schemas.microsoft.com/office/powerpoint/2010/main" val="2856809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2" presetClass="entr" presetSubtype="4" fill="hold" nodeType="with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 calcmode="lin" valueType="num">
                                      <p:cBhvr additive="base">
                                        <p:cTn id="12"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additive="base">
                                        <p:cTn id="20" dur="500" fill="hold"/>
                                        <p:tgtEl>
                                          <p:spTgt spid="14"/>
                                        </p:tgtEl>
                                        <p:attrNameLst>
                                          <p:attrName>ppt_x</p:attrName>
                                        </p:attrNameLst>
                                      </p:cBhvr>
                                      <p:tavLst>
                                        <p:tav tm="0">
                                          <p:val>
                                            <p:strVal val="#ppt_x"/>
                                          </p:val>
                                        </p:tav>
                                        <p:tav tm="100000">
                                          <p:val>
                                            <p:strVal val="#ppt_x"/>
                                          </p:val>
                                        </p:tav>
                                      </p:tavLst>
                                    </p:anim>
                                    <p:anim calcmode="lin" valueType="num">
                                      <p:cBhvr additive="base">
                                        <p:cTn id="2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F55C5-6A40-A184-E4B6-4D021F84859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64D2CEE-FA86-CD65-E0C3-248A73B3A892}"/>
              </a:ext>
            </a:extLst>
          </p:cNvPr>
          <p:cNvSpPr txBox="1"/>
          <p:nvPr/>
        </p:nvSpPr>
        <p:spPr>
          <a:xfrm>
            <a:off x="577864" y="618936"/>
            <a:ext cx="5855482" cy="949427"/>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Smart Connectivity Solutions </a:t>
            </a:r>
          </a:p>
          <a:p>
            <a:pPr>
              <a:lnSpc>
                <a:spcPct val="107000"/>
              </a:lnSpc>
              <a:spcAft>
                <a:spcPts val="300"/>
              </a:spcAft>
            </a:pPr>
            <a:r>
              <a:rPr lang="en-IE" sz="1400" dirty="0">
                <a:solidFill>
                  <a:srgbClr val="0A597A"/>
                </a:solidFill>
                <a:latin typeface="AvenirNext LT Pro Bold" panose="020B0804020202020204"/>
                <a:ea typeface="+mj-ea"/>
                <a:cs typeface="+mj-cs"/>
              </a:rPr>
              <a:t>Connect Anything. Build Securely. Scale Without Limits.</a:t>
            </a:r>
          </a:p>
          <a:p>
            <a:pPr>
              <a:lnSpc>
                <a:spcPct val="107000"/>
              </a:lnSpc>
              <a:spcAft>
                <a:spcPts val="300"/>
              </a:spcAft>
            </a:pPr>
            <a:endParaRPr lang="en-IE" sz="1400" dirty="0">
              <a:solidFill>
                <a:srgbClr val="0A597A"/>
              </a:solidFill>
              <a:latin typeface="AvenirNext LT Pro Bold" panose="020B0804020202020204"/>
              <a:ea typeface="+mj-ea"/>
              <a:cs typeface="+mj-cs"/>
            </a:endParaRPr>
          </a:p>
        </p:txBody>
      </p:sp>
      <p:sp>
        <p:nvSpPr>
          <p:cNvPr id="2" name="TextBox 1">
            <a:extLst>
              <a:ext uri="{FF2B5EF4-FFF2-40B4-BE49-F238E27FC236}">
                <a16:creationId xmlns:a16="http://schemas.microsoft.com/office/drawing/2014/main" id="{21D0C36D-F98B-B2DE-97C2-E620C99EB8A0}"/>
              </a:ext>
            </a:extLst>
          </p:cNvPr>
          <p:cNvSpPr txBox="1"/>
          <p:nvPr/>
        </p:nvSpPr>
        <p:spPr>
          <a:xfrm>
            <a:off x="577864" y="1469541"/>
            <a:ext cx="5855483" cy="5262979"/>
          </a:xfrm>
          <a:prstGeom prst="rect">
            <a:avLst/>
          </a:prstGeom>
          <a:noFill/>
        </p:spPr>
        <p:txBody>
          <a:bodyPr wrap="square">
            <a:spAutoFit/>
          </a:bodyPr>
          <a:lstStyle/>
          <a:p>
            <a:r>
              <a:rPr lang="en-IE" sz="1400" dirty="0">
                <a:solidFill>
                  <a:srgbClr val="0A597A"/>
                </a:solidFill>
                <a:latin typeface="AvenirNext LT Pro Bold" panose="020B0804020202020204"/>
                <a:ea typeface="+mj-ea"/>
                <a:cs typeface="+mj-cs"/>
              </a:rPr>
              <a:t>From cybersecurity to signal conversion, SmartFactory’s connectivity solutions make it easy to bring real-time data from any sensor, machine, or line into your digital ecosystem — without major infrastructure changes.</a:t>
            </a:r>
          </a:p>
          <a:p>
            <a:endParaRPr lang="en-IE" sz="1400" b="1"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Security and System Architecture</a:t>
            </a:r>
          </a:p>
          <a:p>
            <a:r>
              <a:rPr lang="en-IE" sz="1400" dirty="0">
                <a:solidFill>
                  <a:srgbClr val="0A597A"/>
                </a:solidFill>
                <a:latin typeface="AvenirNext LT Pro Bold" panose="020B0804020202020204"/>
                <a:ea typeface="+mj-ea"/>
                <a:cs typeface="+mj-cs"/>
              </a:rPr>
              <a:t>Design and deploy a secure, scalable, IIoT enabled industrial network that support edge computing, remote access, and real-time data collection — without compromise. </a:t>
            </a:r>
          </a:p>
          <a:p>
            <a:endParaRPr lang="en-IE" sz="1400"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Snap Signal</a:t>
            </a:r>
          </a:p>
          <a:p>
            <a:r>
              <a:rPr lang="en-IE" sz="1400" dirty="0">
                <a:solidFill>
                  <a:srgbClr val="0A597A"/>
                </a:solidFill>
                <a:latin typeface="AvenirNext LT Pro Bold" panose="020B0804020202020204"/>
                <a:ea typeface="+mj-ea"/>
                <a:cs typeface="+mj-cs"/>
              </a:rPr>
              <a:t>Bring legacy analogue and discrete sensors into the digital world by converting their outputs and wirelessly transmitting them to a data Historian.</a:t>
            </a:r>
          </a:p>
          <a:p>
            <a:endParaRPr lang="en-IE" sz="1400" b="1"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Smart Installation Solutions</a:t>
            </a:r>
          </a:p>
          <a:p>
            <a:r>
              <a:rPr lang="en-IE" sz="1400" dirty="0">
                <a:solidFill>
                  <a:srgbClr val="0A597A"/>
                </a:solidFill>
                <a:latin typeface="AvenirNext LT Pro Bold" panose="020B0804020202020204"/>
                <a:ea typeface="+mj-ea"/>
                <a:cs typeface="+mj-cs"/>
              </a:rPr>
              <a:t>Eliminate cabling delays with Power Bus — a modular 24V rail that lets you drop in wireless nodes without rewiring or cutting power.</a:t>
            </a:r>
          </a:p>
          <a:p>
            <a:endParaRPr lang="en-IE" sz="1400"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Distributed IO-Link</a:t>
            </a:r>
          </a:p>
          <a:p>
            <a:r>
              <a:rPr lang="en-IE" sz="1400" dirty="0">
                <a:solidFill>
                  <a:srgbClr val="0A597A"/>
                </a:solidFill>
                <a:latin typeface="AvenirNext LT Pro Bold" panose="020B0804020202020204"/>
                <a:ea typeface="+mj-ea"/>
                <a:cs typeface="+mj-cs"/>
              </a:rPr>
              <a:t>Enable smart, decentralised communication and control of sensors and actuators</a:t>
            </a:r>
          </a:p>
          <a:p>
            <a:endParaRPr lang="en-IE" sz="1400" dirty="0">
              <a:solidFill>
                <a:srgbClr val="0A597A"/>
              </a:solidFill>
              <a:latin typeface="AvenirNext LT Pro Bold" panose="020B0804020202020204"/>
              <a:ea typeface="+mj-ea"/>
              <a:cs typeface="+mj-cs"/>
            </a:endParaRPr>
          </a:p>
          <a:p>
            <a:r>
              <a:rPr lang="en-IE" sz="1400" b="1" dirty="0">
                <a:solidFill>
                  <a:srgbClr val="0A597A"/>
                </a:solidFill>
                <a:latin typeface="AvenirNext LT Pro Bold" panose="020B0804020202020204"/>
                <a:ea typeface="+mj-ea"/>
                <a:cs typeface="+mj-cs"/>
              </a:rPr>
              <a:t>Wireless IO-Link</a:t>
            </a:r>
          </a:p>
          <a:p>
            <a:r>
              <a:rPr lang="en-IE" sz="1400" dirty="0">
                <a:solidFill>
                  <a:srgbClr val="0A597A"/>
                </a:solidFill>
                <a:latin typeface="AvenirNext LT Pro Bold" panose="020B0804020202020204"/>
              </a:rPr>
              <a:t>Reliable industrial communication, up to 20m. Easy extension or hybrid </a:t>
            </a:r>
            <a:r>
              <a:rPr lang="en-IE" sz="1400">
                <a:solidFill>
                  <a:srgbClr val="0A597A"/>
                </a:solidFill>
                <a:latin typeface="AvenirNext LT Pro Bold" panose="020B0804020202020204"/>
              </a:rPr>
              <a:t>use with cabled IO-Link devices.</a:t>
            </a:r>
            <a:endParaRPr lang="en-IE" sz="1400" dirty="0">
              <a:solidFill>
                <a:srgbClr val="0A597A"/>
              </a:solidFill>
              <a:latin typeface="AvenirNext LT Pro Bold" panose="020B0804020202020204"/>
              <a:ea typeface="+mj-ea"/>
              <a:cs typeface="+mj-cs"/>
            </a:endParaRPr>
          </a:p>
        </p:txBody>
      </p:sp>
      <p:sp>
        <p:nvSpPr>
          <p:cNvPr id="11" name="Action Button: Go Home 10">
            <a:hlinkClick r:id="rId2" action="ppaction://hlinksldjump" highlightClick="1"/>
            <a:hlinkHover r:id="" action="ppaction://hlinkshowjump?jump=firstslide"/>
            <a:extLst>
              <a:ext uri="{FF2B5EF4-FFF2-40B4-BE49-F238E27FC236}">
                <a16:creationId xmlns:a16="http://schemas.microsoft.com/office/drawing/2014/main" id="{BDC7F1DA-DBA7-4C4B-DFA8-29A0F38B8418}"/>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113644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F2FBAC1-F109-47D9-BB40-C89515C4310A}"/>
              </a:ext>
            </a:extLst>
          </p:cNvPr>
          <p:cNvSpPr txBox="1"/>
          <p:nvPr/>
        </p:nvSpPr>
        <p:spPr>
          <a:xfrm>
            <a:off x="763214" y="200455"/>
            <a:ext cx="4621586"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Networking &amp; Security</a:t>
            </a:r>
          </a:p>
          <a:p>
            <a:pPr>
              <a:lnSpc>
                <a:spcPct val="107000"/>
              </a:lnSpc>
              <a:spcAft>
                <a:spcPts val="300"/>
              </a:spcAft>
            </a:pPr>
            <a:r>
              <a:rPr lang="en-IE" sz="1400" dirty="0">
                <a:solidFill>
                  <a:srgbClr val="0A597A"/>
                </a:solidFill>
                <a:latin typeface="AvenirNext LT Pro Bold" panose="020B0804020202020204"/>
              </a:rPr>
              <a:t>Secure</a:t>
            </a: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 ultra-reliable, </a:t>
            </a:r>
            <a:r>
              <a:rPr lang="en-IE" sz="1400" dirty="0">
                <a:solidFill>
                  <a:srgbClr val="0A597A"/>
                </a:solidFill>
                <a:latin typeface="AvenirNext LT Pro Bold" panose="020B0804020202020204"/>
              </a:rPr>
              <a:t>industrial networks</a:t>
            </a:r>
            <a:endParaRPr lang="en-IE" sz="2000" b="1" dirty="0">
              <a:solidFill>
                <a:srgbClr val="0A597A"/>
              </a:solidFill>
              <a:latin typeface="AvenirNext LT Pro Bold" panose="020B0804020202020204"/>
              <a:ea typeface="+mj-ea"/>
              <a:cs typeface="+mj-cs"/>
            </a:endParaRPr>
          </a:p>
        </p:txBody>
      </p:sp>
      <p:sp>
        <p:nvSpPr>
          <p:cNvPr id="2" name="Action Button: Go Home 1">
            <a:hlinkClick r:id="rId2" action="ppaction://hlinksldjump" highlightClick="1"/>
            <a:hlinkHover r:id="" action="ppaction://hlinkshowjump?jump=firstslide"/>
            <a:extLst>
              <a:ext uri="{FF2B5EF4-FFF2-40B4-BE49-F238E27FC236}">
                <a16:creationId xmlns:a16="http://schemas.microsoft.com/office/drawing/2014/main" id="{32B39AC8-BD52-6EC5-FB41-17DFBC2A25B2}"/>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7CD3237B-6EBB-2555-608A-63C1D146352F}"/>
              </a:ext>
            </a:extLst>
          </p:cNvPr>
          <p:cNvSpPr txBox="1"/>
          <p:nvPr/>
        </p:nvSpPr>
        <p:spPr>
          <a:xfrm>
            <a:off x="3177515" y="4706015"/>
            <a:ext cx="3335067" cy="2156744"/>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End-to-end solution (including)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Cybersecurity consultancy</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Industrial Network Design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Industrial Firewalls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Managed Routers and Switches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Industrial PoE Switches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Unmanaged industrial Switches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VPN and Secure Remote Access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NAT Devices</a:t>
            </a:r>
          </a:p>
        </p:txBody>
      </p:sp>
      <p:pic>
        <p:nvPicPr>
          <p:cNvPr id="15" name="Picture 14">
            <a:extLst>
              <a:ext uri="{FF2B5EF4-FFF2-40B4-BE49-F238E27FC236}">
                <a16:creationId xmlns:a16="http://schemas.microsoft.com/office/drawing/2014/main" id="{A6F90677-45BA-30AF-0D50-165C5C80CD29}"/>
              </a:ext>
            </a:extLst>
          </p:cNvPr>
          <p:cNvPicPr>
            <a:picLocks noChangeAspect="1"/>
          </p:cNvPicPr>
          <p:nvPr/>
        </p:nvPicPr>
        <p:blipFill>
          <a:blip r:embed="rId3"/>
          <a:stretch>
            <a:fillRect/>
          </a:stretch>
        </p:blipFill>
        <p:spPr>
          <a:xfrm>
            <a:off x="675565" y="8905903"/>
            <a:ext cx="1372208" cy="257519"/>
          </a:xfrm>
          <a:prstGeom prst="rect">
            <a:avLst/>
          </a:prstGeom>
        </p:spPr>
      </p:pic>
      <p:pic>
        <p:nvPicPr>
          <p:cNvPr id="247" name="Picture 246">
            <a:extLst>
              <a:ext uri="{FF2B5EF4-FFF2-40B4-BE49-F238E27FC236}">
                <a16:creationId xmlns:a16="http://schemas.microsoft.com/office/drawing/2014/main" id="{1A4879F7-2080-6F72-8051-23671B3E49AF}"/>
              </a:ext>
            </a:extLst>
          </p:cNvPr>
          <p:cNvPicPr>
            <a:picLocks noChangeAspect="1"/>
          </p:cNvPicPr>
          <p:nvPr/>
        </p:nvPicPr>
        <p:blipFill>
          <a:blip r:embed="rId4"/>
          <a:stretch>
            <a:fillRect/>
          </a:stretch>
        </p:blipFill>
        <p:spPr>
          <a:xfrm>
            <a:off x="194683" y="983369"/>
            <a:ext cx="6442024" cy="3351729"/>
          </a:xfrm>
          <a:prstGeom prst="rect">
            <a:avLst/>
          </a:prstGeom>
        </p:spPr>
      </p:pic>
      <p:pic>
        <p:nvPicPr>
          <p:cNvPr id="248" name="Picture 247">
            <a:extLst>
              <a:ext uri="{FF2B5EF4-FFF2-40B4-BE49-F238E27FC236}">
                <a16:creationId xmlns:a16="http://schemas.microsoft.com/office/drawing/2014/main" id="{00000000-0008-0000-0300-00006D020000}"/>
              </a:ext>
            </a:extLst>
          </p:cNvPr>
          <p:cNvPicPr>
            <a:picLocks noChangeAspect="1"/>
          </p:cNvPicPr>
          <p:nvPr/>
        </p:nvPicPr>
        <p:blipFill>
          <a:blip r:embed="rId5"/>
          <a:stretch>
            <a:fillRect/>
          </a:stretch>
        </p:blipFill>
        <p:spPr>
          <a:xfrm>
            <a:off x="1076326" y="4749801"/>
            <a:ext cx="885786" cy="990600"/>
          </a:xfrm>
          <a:prstGeom prst="rect">
            <a:avLst/>
          </a:prstGeom>
        </p:spPr>
      </p:pic>
      <p:pic>
        <p:nvPicPr>
          <p:cNvPr id="249" name="Picture 248">
            <a:extLst>
              <a:ext uri="{FF2B5EF4-FFF2-40B4-BE49-F238E27FC236}">
                <a16:creationId xmlns:a16="http://schemas.microsoft.com/office/drawing/2014/main" id="{00000000-0008-0000-0300-00009B010000}"/>
              </a:ext>
            </a:extLst>
          </p:cNvPr>
          <p:cNvPicPr>
            <a:picLocks noChangeAspect="1"/>
          </p:cNvPicPr>
          <p:nvPr/>
        </p:nvPicPr>
        <p:blipFill>
          <a:blip r:embed="rId6"/>
          <a:stretch>
            <a:fillRect/>
          </a:stretch>
        </p:blipFill>
        <p:spPr>
          <a:xfrm>
            <a:off x="1054082" y="7441882"/>
            <a:ext cx="549274" cy="1009291"/>
          </a:xfrm>
          <a:prstGeom prst="rect">
            <a:avLst/>
          </a:prstGeom>
        </p:spPr>
      </p:pic>
      <p:pic>
        <p:nvPicPr>
          <p:cNvPr id="250" name="Picture 249">
            <a:extLst>
              <a:ext uri="{FF2B5EF4-FFF2-40B4-BE49-F238E27FC236}">
                <a16:creationId xmlns:a16="http://schemas.microsoft.com/office/drawing/2014/main" id="{00000000-0008-0000-0300-00001C020000}"/>
              </a:ext>
            </a:extLst>
          </p:cNvPr>
          <p:cNvPicPr>
            <a:picLocks noChangeAspect="1"/>
          </p:cNvPicPr>
          <p:nvPr/>
        </p:nvPicPr>
        <p:blipFill>
          <a:blip r:embed="rId7"/>
          <a:stretch>
            <a:fillRect/>
          </a:stretch>
        </p:blipFill>
        <p:spPr>
          <a:xfrm>
            <a:off x="447184" y="6104304"/>
            <a:ext cx="2058459" cy="872510"/>
          </a:xfrm>
          <a:prstGeom prst="rect">
            <a:avLst/>
          </a:prstGeom>
        </p:spPr>
      </p:pic>
      <p:pic>
        <p:nvPicPr>
          <p:cNvPr id="251" name="Picture 250">
            <a:extLst>
              <a:ext uri="{FF2B5EF4-FFF2-40B4-BE49-F238E27FC236}">
                <a16:creationId xmlns:a16="http://schemas.microsoft.com/office/drawing/2014/main" id="{00000000-0008-0000-0300-0000A2010000}"/>
              </a:ext>
            </a:extLst>
          </p:cNvPr>
          <p:cNvPicPr>
            <a:picLocks noChangeAspect="1"/>
          </p:cNvPicPr>
          <p:nvPr/>
        </p:nvPicPr>
        <p:blipFill>
          <a:blip r:embed="rId8"/>
          <a:stretch>
            <a:fillRect/>
          </a:stretch>
        </p:blipFill>
        <p:spPr>
          <a:xfrm>
            <a:off x="3649136" y="8627719"/>
            <a:ext cx="717530" cy="556368"/>
          </a:xfrm>
          <a:prstGeom prst="rect">
            <a:avLst/>
          </a:prstGeom>
        </p:spPr>
      </p:pic>
      <p:pic>
        <p:nvPicPr>
          <p:cNvPr id="252" name="Picture 251">
            <a:extLst>
              <a:ext uri="{FF2B5EF4-FFF2-40B4-BE49-F238E27FC236}">
                <a16:creationId xmlns:a16="http://schemas.microsoft.com/office/drawing/2014/main" id="{A27DF326-676F-26BE-49C9-2EEB8E358CB9}"/>
              </a:ext>
            </a:extLst>
          </p:cNvPr>
          <p:cNvPicPr>
            <a:picLocks noChangeAspect="1"/>
          </p:cNvPicPr>
          <p:nvPr/>
        </p:nvPicPr>
        <p:blipFill>
          <a:blip r:embed="rId9"/>
          <a:stretch>
            <a:fillRect/>
          </a:stretch>
        </p:blipFill>
        <p:spPr>
          <a:xfrm>
            <a:off x="5384800" y="8301031"/>
            <a:ext cx="838011" cy="989750"/>
          </a:xfrm>
          <a:prstGeom prst="rect">
            <a:avLst/>
          </a:prstGeom>
        </p:spPr>
      </p:pic>
      <p:sp>
        <p:nvSpPr>
          <p:cNvPr id="253" name="TextBox 252">
            <a:extLst>
              <a:ext uri="{FF2B5EF4-FFF2-40B4-BE49-F238E27FC236}">
                <a16:creationId xmlns:a16="http://schemas.microsoft.com/office/drawing/2014/main" id="{C15B08E2-8B90-CB28-929C-022CF3FF266B}"/>
              </a:ext>
            </a:extLst>
          </p:cNvPr>
          <p:cNvSpPr txBox="1"/>
          <p:nvPr/>
        </p:nvSpPr>
        <p:spPr>
          <a:xfrm>
            <a:off x="3177515" y="7162814"/>
            <a:ext cx="3525567" cy="1004186"/>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Specialised Antennas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High-gain antennas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Clean-design antennas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Directional and Omni-directional</a:t>
            </a:r>
          </a:p>
        </p:txBody>
      </p:sp>
    </p:spTree>
    <p:extLst>
      <p:ext uri="{BB962C8B-B14F-4D97-AF65-F5344CB8AC3E}">
        <p14:creationId xmlns:p14="http://schemas.microsoft.com/office/powerpoint/2010/main" val="2996650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F2FBAC1-F109-47D9-BB40-C89515C4310A}"/>
              </a:ext>
            </a:extLst>
          </p:cNvPr>
          <p:cNvSpPr txBox="1"/>
          <p:nvPr/>
        </p:nvSpPr>
        <p:spPr>
          <a:xfrm>
            <a:off x="763214" y="200455"/>
            <a:ext cx="4177085" cy="127432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SnapSignal Convertors</a:t>
            </a:r>
          </a:p>
          <a:p>
            <a:pPr marL="0" marR="0" lvl="0" indent="0" algn="l" defTabSz="457200" rtl="0" eaLnBrk="1" fontAlgn="auto" latinLnBrk="0" hangingPunct="1">
              <a:lnSpc>
                <a:spcPct val="107000"/>
              </a:lnSpc>
              <a:spcBef>
                <a:spcPts val="0"/>
              </a:spcBef>
              <a:spcAft>
                <a:spcPts val="300"/>
              </a:spcAft>
              <a:buClrTx/>
              <a:buSzTx/>
              <a:buFontTx/>
              <a:buNone/>
              <a:tabLst/>
              <a:defRPr/>
            </a:pP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Convert any existing sensor to Modbus for integration with data collection system</a:t>
            </a:r>
          </a:p>
          <a:p>
            <a:pPr>
              <a:lnSpc>
                <a:spcPct val="107000"/>
              </a:lnSpc>
              <a:spcAft>
                <a:spcPts val="300"/>
              </a:spcAft>
            </a:pPr>
            <a:endParaRPr lang="en-IE" sz="2000" b="1" dirty="0">
              <a:solidFill>
                <a:srgbClr val="0A597A"/>
              </a:solidFill>
              <a:latin typeface="AvenirNext LT Pro Bold" panose="020B0804020202020204"/>
              <a:ea typeface="+mj-ea"/>
              <a:cs typeface="+mj-cs"/>
            </a:endParaRPr>
          </a:p>
        </p:txBody>
      </p:sp>
      <p:sp>
        <p:nvSpPr>
          <p:cNvPr id="2" name="Action Button: Go Home 1">
            <a:hlinkClick r:id="rId2" action="ppaction://hlinksldjump" highlightClick="1"/>
            <a:hlinkHover r:id="" action="ppaction://hlinkshowjump?jump=firstslide"/>
            <a:extLst>
              <a:ext uri="{FF2B5EF4-FFF2-40B4-BE49-F238E27FC236}">
                <a16:creationId xmlns:a16="http://schemas.microsoft.com/office/drawing/2014/main" id="{32B39AC8-BD52-6EC5-FB41-17DFBC2A25B2}"/>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a:extLst>
              <a:ext uri="{FF2B5EF4-FFF2-40B4-BE49-F238E27FC236}">
                <a16:creationId xmlns:a16="http://schemas.microsoft.com/office/drawing/2014/main" id="{F4DCD425-0BBC-A1E2-B1C8-8428E9D34BA0}"/>
              </a:ext>
            </a:extLst>
          </p:cNvPr>
          <p:cNvPicPr>
            <a:picLocks noChangeAspect="1"/>
          </p:cNvPicPr>
          <p:nvPr/>
        </p:nvPicPr>
        <p:blipFill rotWithShape="1">
          <a:blip r:embed="rId3"/>
          <a:srcRect l="1491"/>
          <a:stretch/>
        </p:blipFill>
        <p:spPr>
          <a:xfrm>
            <a:off x="901699" y="1238753"/>
            <a:ext cx="5338763" cy="3625472"/>
          </a:xfrm>
          <a:prstGeom prst="rect">
            <a:avLst/>
          </a:prstGeom>
          <a:solidFill>
            <a:srgbClr val="0D496B"/>
          </a:solidFill>
          <a:ln>
            <a:solidFill>
              <a:srgbClr val="0D496B"/>
            </a:solidFill>
          </a:ln>
        </p:spPr>
      </p:pic>
      <p:pic>
        <p:nvPicPr>
          <p:cNvPr id="9" name="Picture 8">
            <a:extLst>
              <a:ext uri="{FF2B5EF4-FFF2-40B4-BE49-F238E27FC236}">
                <a16:creationId xmlns:a16="http://schemas.microsoft.com/office/drawing/2014/main" id="{3AA89AE2-B8F1-0093-7507-69CA612B1CC1}"/>
              </a:ext>
            </a:extLst>
          </p:cNvPr>
          <p:cNvPicPr>
            <a:picLocks noChangeAspect="1"/>
          </p:cNvPicPr>
          <p:nvPr/>
        </p:nvPicPr>
        <p:blipFill>
          <a:blip r:embed="rId4"/>
          <a:stretch>
            <a:fillRect/>
          </a:stretch>
        </p:blipFill>
        <p:spPr>
          <a:xfrm>
            <a:off x="718498" y="6066837"/>
            <a:ext cx="1282068" cy="1011996"/>
          </a:xfrm>
          <a:prstGeom prst="rect">
            <a:avLst/>
          </a:prstGeom>
        </p:spPr>
      </p:pic>
      <p:pic>
        <p:nvPicPr>
          <p:cNvPr id="12" name="Picture 11">
            <a:extLst>
              <a:ext uri="{FF2B5EF4-FFF2-40B4-BE49-F238E27FC236}">
                <a16:creationId xmlns:a16="http://schemas.microsoft.com/office/drawing/2014/main" id="{CC18D10E-B18F-05D8-3F76-5903EC342AE2}"/>
              </a:ext>
            </a:extLst>
          </p:cNvPr>
          <p:cNvPicPr>
            <a:picLocks noChangeAspect="1"/>
          </p:cNvPicPr>
          <p:nvPr/>
        </p:nvPicPr>
        <p:blipFill>
          <a:blip r:embed="rId5"/>
          <a:stretch>
            <a:fillRect/>
          </a:stretch>
        </p:blipFill>
        <p:spPr>
          <a:xfrm>
            <a:off x="1359532" y="5155912"/>
            <a:ext cx="1282068" cy="814681"/>
          </a:xfrm>
          <a:prstGeom prst="rect">
            <a:avLst/>
          </a:prstGeom>
        </p:spPr>
      </p:pic>
      <p:sp>
        <p:nvSpPr>
          <p:cNvPr id="14" name="TextBox 13">
            <a:extLst>
              <a:ext uri="{FF2B5EF4-FFF2-40B4-BE49-F238E27FC236}">
                <a16:creationId xmlns:a16="http://schemas.microsoft.com/office/drawing/2014/main" id="{05EF943E-7113-A1F7-EC69-40E2F2CDB6CF}"/>
              </a:ext>
            </a:extLst>
          </p:cNvPr>
          <p:cNvSpPr txBox="1"/>
          <p:nvPr/>
        </p:nvSpPr>
        <p:spPr>
          <a:xfrm>
            <a:off x="3257104" y="5559271"/>
            <a:ext cx="3525567" cy="1465209"/>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Range of M12 Converters (including)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Digital to Modbus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Analogue to Modbus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Thermistor to Modbus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Current Transformer to Modbus</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10" name="Picture 9">
            <a:extLst>
              <a:ext uri="{FF2B5EF4-FFF2-40B4-BE49-F238E27FC236}">
                <a16:creationId xmlns:a16="http://schemas.microsoft.com/office/drawing/2014/main" id="{687FB526-52AF-6A84-E581-C619AF51D6E9}"/>
              </a:ext>
            </a:extLst>
          </p:cNvPr>
          <p:cNvPicPr>
            <a:picLocks noChangeAspect="1"/>
          </p:cNvPicPr>
          <p:nvPr/>
        </p:nvPicPr>
        <p:blipFill>
          <a:blip r:embed="rId6"/>
          <a:stretch>
            <a:fillRect/>
          </a:stretch>
        </p:blipFill>
        <p:spPr>
          <a:xfrm>
            <a:off x="435124" y="5299782"/>
            <a:ext cx="615884" cy="659257"/>
          </a:xfrm>
          <a:prstGeom prst="rect">
            <a:avLst/>
          </a:prstGeom>
        </p:spPr>
      </p:pic>
      <p:sp>
        <p:nvSpPr>
          <p:cNvPr id="16" name="TextBox 15">
            <a:extLst>
              <a:ext uri="{FF2B5EF4-FFF2-40B4-BE49-F238E27FC236}">
                <a16:creationId xmlns:a16="http://schemas.microsoft.com/office/drawing/2014/main" id="{3FA53AEC-4878-55C8-714B-0D6073D85E58}"/>
              </a:ext>
            </a:extLst>
          </p:cNvPr>
          <p:cNvSpPr txBox="1"/>
          <p:nvPr/>
        </p:nvSpPr>
        <p:spPr>
          <a:xfrm>
            <a:off x="3257104" y="8643910"/>
            <a:ext cx="3525567" cy="773673"/>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Industrial Wireless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Serial Data Radios</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grpSp>
        <p:nvGrpSpPr>
          <p:cNvPr id="21" name="Group 20">
            <a:extLst>
              <a:ext uri="{FF2B5EF4-FFF2-40B4-BE49-F238E27FC236}">
                <a16:creationId xmlns:a16="http://schemas.microsoft.com/office/drawing/2014/main" id="{D4AA3638-4C31-D9D0-5D58-7CA4E8D0D4EC}"/>
              </a:ext>
            </a:extLst>
          </p:cNvPr>
          <p:cNvGrpSpPr/>
          <p:nvPr/>
        </p:nvGrpSpPr>
        <p:grpSpPr>
          <a:xfrm>
            <a:off x="440228" y="8555009"/>
            <a:ext cx="2341478" cy="749423"/>
            <a:chOff x="300122" y="7894609"/>
            <a:chExt cx="2341478" cy="749423"/>
          </a:xfrm>
        </p:grpSpPr>
        <p:cxnSp>
          <p:nvCxnSpPr>
            <p:cNvPr id="18" name="Straight Arrow Connector 17">
              <a:extLst>
                <a:ext uri="{FF2B5EF4-FFF2-40B4-BE49-F238E27FC236}">
                  <a16:creationId xmlns:a16="http://schemas.microsoft.com/office/drawing/2014/main" id="{0F75CA55-9C10-B8C8-F26C-556D3900BF67}"/>
                </a:ext>
              </a:extLst>
            </p:cNvPr>
            <p:cNvCxnSpPr>
              <a:cxnSpLocks/>
            </p:cNvCxnSpPr>
            <p:nvPr/>
          </p:nvCxnSpPr>
          <p:spPr>
            <a:xfrm>
              <a:off x="1094919" y="8281445"/>
              <a:ext cx="718654" cy="1"/>
            </a:xfrm>
            <a:prstGeom prst="straightConnector1">
              <a:avLst/>
            </a:prstGeom>
            <a:ln w="3810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9C287151-4AD8-2DB6-DEAC-33D127DADCCF}"/>
                </a:ext>
              </a:extLst>
            </p:cNvPr>
            <p:cNvGrpSpPr/>
            <p:nvPr/>
          </p:nvGrpSpPr>
          <p:grpSpPr>
            <a:xfrm>
              <a:off x="300122" y="7894609"/>
              <a:ext cx="2341478" cy="749423"/>
              <a:chOff x="300122" y="7894609"/>
              <a:chExt cx="2341478" cy="749423"/>
            </a:xfrm>
          </p:grpSpPr>
          <p:pic>
            <p:nvPicPr>
              <p:cNvPr id="13" name="Picture 12">
                <a:extLst>
                  <a:ext uri="{FF2B5EF4-FFF2-40B4-BE49-F238E27FC236}">
                    <a16:creationId xmlns:a16="http://schemas.microsoft.com/office/drawing/2014/main" id="{7E7F6B8A-C25E-7F4A-1972-137547D85E54}"/>
                  </a:ext>
                </a:extLst>
              </p:cNvPr>
              <p:cNvPicPr>
                <a:picLocks noChangeAspect="1"/>
              </p:cNvPicPr>
              <p:nvPr/>
            </p:nvPicPr>
            <p:blipFill>
              <a:blip r:embed="rId7"/>
              <a:stretch>
                <a:fillRect/>
              </a:stretch>
            </p:blipFill>
            <p:spPr>
              <a:xfrm>
                <a:off x="300122" y="7894609"/>
                <a:ext cx="601578" cy="749423"/>
              </a:xfrm>
              <a:prstGeom prst="rect">
                <a:avLst/>
              </a:prstGeom>
            </p:spPr>
          </p:pic>
          <p:pic>
            <p:nvPicPr>
              <p:cNvPr id="19" name="Picture 18">
                <a:extLst>
                  <a:ext uri="{FF2B5EF4-FFF2-40B4-BE49-F238E27FC236}">
                    <a16:creationId xmlns:a16="http://schemas.microsoft.com/office/drawing/2014/main" id="{9591378E-1ED1-314E-260D-ECB07270FBD2}"/>
                  </a:ext>
                </a:extLst>
              </p:cNvPr>
              <p:cNvPicPr>
                <a:picLocks noChangeAspect="1"/>
              </p:cNvPicPr>
              <p:nvPr/>
            </p:nvPicPr>
            <p:blipFill>
              <a:blip r:embed="rId7"/>
              <a:stretch>
                <a:fillRect/>
              </a:stretch>
            </p:blipFill>
            <p:spPr>
              <a:xfrm>
                <a:off x="2040022" y="7894609"/>
                <a:ext cx="601578" cy="749423"/>
              </a:xfrm>
              <a:prstGeom prst="rect">
                <a:avLst/>
              </a:prstGeom>
            </p:spPr>
          </p:pic>
        </p:grpSp>
      </p:grpSp>
      <p:pic>
        <p:nvPicPr>
          <p:cNvPr id="25" name="Picture 24">
            <a:extLst>
              <a:ext uri="{FF2B5EF4-FFF2-40B4-BE49-F238E27FC236}">
                <a16:creationId xmlns:a16="http://schemas.microsoft.com/office/drawing/2014/main" id="{0AE9AB6F-0429-927D-4C71-51D550CEE1FC}"/>
              </a:ext>
            </a:extLst>
          </p:cNvPr>
          <p:cNvPicPr>
            <a:picLocks noChangeAspect="1"/>
          </p:cNvPicPr>
          <p:nvPr/>
        </p:nvPicPr>
        <p:blipFill>
          <a:blip r:embed="rId8"/>
          <a:stretch>
            <a:fillRect/>
          </a:stretch>
        </p:blipFill>
        <p:spPr>
          <a:xfrm>
            <a:off x="2186147" y="7228858"/>
            <a:ext cx="601578" cy="914643"/>
          </a:xfrm>
          <a:prstGeom prst="rect">
            <a:avLst/>
          </a:prstGeom>
        </p:spPr>
      </p:pic>
      <p:sp>
        <p:nvSpPr>
          <p:cNvPr id="26" name="TextBox 25">
            <a:extLst>
              <a:ext uri="{FF2B5EF4-FFF2-40B4-BE49-F238E27FC236}">
                <a16:creationId xmlns:a16="http://schemas.microsoft.com/office/drawing/2014/main" id="{77D2E7C8-C7B3-2252-33EA-D846EEF7817A}"/>
              </a:ext>
            </a:extLst>
          </p:cNvPr>
          <p:cNvSpPr txBox="1"/>
          <p:nvPr/>
        </p:nvSpPr>
        <p:spPr>
          <a:xfrm>
            <a:off x="3257104" y="7183713"/>
            <a:ext cx="3525567" cy="1234697"/>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Range of M12 Splitters (including)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T-Splitter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2-way Splitter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8-port Splitter</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27" name="Picture 26">
            <a:extLst>
              <a:ext uri="{FF2B5EF4-FFF2-40B4-BE49-F238E27FC236}">
                <a16:creationId xmlns:a16="http://schemas.microsoft.com/office/drawing/2014/main" id="{C639921F-DEDB-9D7F-79C9-69BB3CD8438A}"/>
              </a:ext>
            </a:extLst>
          </p:cNvPr>
          <p:cNvPicPr>
            <a:picLocks noChangeAspect="1"/>
          </p:cNvPicPr>
          <p:nvPr/>
        </p:nvPicPr>
        <p:blipFill>
          <a:blip r:embed="rId9"/>
          <a:stretch>
            <a:fillRect/>
          </a:stretch>
        </p:blipFill>
        <p:spPr>
          <a:xfrm rot="4012197">
            <a:off x="968833" y="7172792"/>
            <a:ext cx="659257" cy="1475168"/>
          </a:xfrm>
          <a:prstGeom prst="rect">
            <a:avLst/>
          </a:prstGeom>
        </p:spPr>
      </p:pic>
      <p:pic>
        <p:nvPicPr>
          <p:cNvPr id="23" name="Picture 22">
            <a:extLst>
              <a:ext uri="{FF2B5EF4-FFF2-40B4-BE49-F238E27FC236}">
                <a16:creationId xmlns:a16="http://schemas.microsoft.com/office/drawing/2014/main" id="{63B6AEF6-C54A-69B3-A966-C6F14F815606}"/>
              </a:ext>
            </a:extLst>
          </p:cNvPr>
          <p:cNvPicPr>
            <a:picLocks noChangeAspect="1"/>
          </p:cNvPicPr>
          <p:nvPr/>
        </p:nvPicPr>
        <p:blipFill>
          <a:blip r:embed="rId10"/>
          <a:stretch>
            <a:fillRect/>
          </a:stretch>
        </p:blipFill>
        <p:spPr>
          <a:xfrm>
            <a:off x="384563" y="7266662"/>
            <a:ext cx="582004" cy="433758"/>
          </a:xfrm>
          <a:prstGeom prst="rect">
            <a:avLst/>
          </a:prstGeom>
        </p:spPr>
      </p:pic>
      <p:sp>
        <p:nvSpPr>
          <p:cNvPr id="28" name="TextBox 27">
            <a:extLst>
              <a:ext uri="{FF2B5EF4-FFF2-40B4-BE49-F238E27FC236}">
                <a16:creationId xmlns:a16="http://schemas.microsoft.com/office/drawing/2014/main" id="{5801AC5D-A83E-087D-45DF-6CFCA2D8D6C8}"/>
              </a:ext>
            </a:extLst>
          </p:cNvPr>
          <p:cNvSpPr txBox="1"/>
          <p:nvPr/>
        </p:nvSpPr>
        <p:spPr>
          <a:xfrm>
            <a:off x="3332432" y="5013201"/>
            <a:ext cx="3525567" cy="609013"/>
          </a:xfrm>
          <a:prstGeom prst="rect">
            <a:avLst/>
          </a:prstGeom>
          <a:noFill/>
        </p:spPr>
        <p:txBody>
          <a:bodyPr wrap="square">
            <a:spAutoFit/>
          </a:bodyPr>
          <a:lstStyle/>
          <a:p>
            <a:pPr>
              <a:lnSpc>
                <a:spcPct val="107000"/>
              </a:lnSpc>
            </a:pPr>
            <a:r>
              <a:rPr lang="en-IE" b="1" i="1" dirty="0">
                <a:solidFill>
                  <a:srgbClr val="3EC4FF"/>
                </a:solidFill>
                <a:latin typeface="AvenirNext LT Pro Bold" panose="020B0804020202020204"/>
                <a:ea typeface="+mj-ea"/>
                <a:cs typeface="+mj-cs"/>
                <a:hlinkClick r:id="rId11">
                  <a:extLst>
                    <a:ext uri="{A12FA001-AC4F-418D-AE19-62706E023703}">
                      <ahyp:hlinkClr xmlns:ahyp="http://schemas.microsoft.com/office/drawing/2018/hyperlinkcolor" val="tx"/>
                    </a:ext>
                  </a:extLst>
                </a:hlinkClick>
              </a:rPr>
              <a:t>Link to SnapSignal Video</a:t>
            </a:r>
            <a:endParaRPr lang="en-IE" i="1" dirty="0">
              <a:solidFill>
                <a:srgbClr val="3EC4FF"/>
              </a:solidFill>
              <a:latin typeface="AvenirNext LT Pro Bold" panose="020B0804020202020204"/>
              <a:ea typeface="+mj-ea"/>
              <a:cs typeface="+mj-cs"/>
            </a:endParaRP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pic>
        <p:nvPicPr>
          <p:cNvPr id="30" name="Picture 29" descr="A black and white logo&#10;&#10;Description automatically generated">
            <a:extLst>
              <a:ext uri="{FF2B5EF4-FFF2-40B4-BE49-F238E27FC236}">
                <a16:creationId xmlns:a16="http://schemas.microsoft.com/office/drawing/2014/main" id="{329519A9-C318-2D4C-2E1E-46BCD0A410D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051994" y="9015241"/>
            <a:ext cx="1757832" cy="377716"/>
          </a:xfrm>
          <a:prstGeom prst="rect">
            <a:avLst/>
          </a:prstGeom>
        </p:spPr>
      </p:pic>
    </p:spTree>
    <p:extLst>
      <p:ext uri="{BB962C8B-B14F-4D97-AF65-F5344CB8AC3E}">
        <p14:creationId xmlns:p14="http://schemas.microsoft.com/office/powerpoint/2010/main" val="4039207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3B993-4407-1CC8-07C6-DB15E436D1EB}"/>
            </a:ext>
          </a:extLst>
        </p:cNvPr>
        <p:cNvGrpSpPr/>
        <p:nvPr/>
      </p:nvGrpSpPr>
      <p:grpSpPr>
        <a:xfrm>
          <a:off x="0" y="0"/>
          <a:ext cx="0" cy="0"/>
          <a:chOff x="0" y="0"/>
          <a:chExt cx="0" cy="0"/>
        </a:xfrm>
      </p:grpSpPr>
      <p:sp>
        <p:nvSpPr>
          <p:cNvPr id="2" name="Action Button: Go Home 1">
            <a:hlinkClick r:id="rId2" action="ppaction://hlinksldjump" highlightClick="1"/>
            <a:hlinkHover r:id="" action="ppaction://hlinkshowjump?jump=firstslide"/>
            <a:extLst>
              <a:ext uri="{FF2B5EF4-FFF2-40B4-BE49-F238E27FC236}">
                <a16:creationId xmlns:a16="http://schemas.microsoft.com/office/drawing/2014/main" id="{B01FBF24-97CF-4D41-0594-D349A1B596F7}"/>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834BAFF1-2C14-F187-4167-CCA9A942E6F9}"/>
              </a:ext>
            </a:extLst>
          </p:cNvPr>
          <p:cNvSpPr txBox="1"/>
          <p:nvPr/>
        </p:nvSpPr>
        <p:spPr>
          <a:xfrm>
            <a:off x="689073" y="286952"/>
            <a:ext cx="5242170"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Smart Installation Solutions</a:t>
            </a:r>
          </a:p>
          <a:p>
            <a:pPr>
              <a:lnSpc>
                <a:spcPct val="107000"/>
              </a:lnSpc>
              <a:spcAft>
                <a:spcPts val="300"/>
              </a:spcAft>
            </a:pP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Innovative solutions engineered for quick and efficient deployment</a:t>
            </a:r>
            <a:endParaRPr lang="en-IE" sz="2000" b="1" dirty="0">
              <a:solidFill>
                <a:srgbClr val="0A597A"/>
              </a:solidFill>
              <a:latin typeface="AvenirNext LT Pro Bold" panose="020B0804020202020204"/>
              <a:ea typeface="+mj-ea"/>
              <a:cs typeface="+mj-cs"/>
            </a:endParaRPr>
          </a:p>
        </p:txBody>
      </p:sp>
      <p:sp>
        <p:nvSpPr>
          <p:cNvPr id="101" name="TextBox 100">
            <a:extLst>
              <a:ext uri="{FF2B5EF4-FFF2-40B4-BE49-F238E27FC236}">
                <a16:creationId xmlns:a16="http://schemas.microsoft.com/office/drawing/2014/main" id="{D3AF4893-E868-D317-D373-3CF05F13BBDD}"/>
              </a:ext>
            </a:extLst>
          </p:cNvPr>
          <p:cNvSpPr txBox="1"/>
          <p:nvPr/>
        </p:nvSpPr>
        <p:spPr>
          <a:xfrm>
            <a:off x="675565" y="5224763"/>
            <a:ext cx="5599861" cy="543162"/>
          </a:xfrm>
          <a:prstGeom prst="rect">
            <a:avLst/>
          </a:prstGeom>
          <a:noFill/>
        </p:spPr>
        <p:txBody>
          <a:bodyPr wrap="square">
            <a:spAutoFit/>
          </a:bodyPr>
          <a:lstStyle/>
          <a:p>
            <a:pPr>
              <a:lnSpc>
                <a:spcPct val="107000"/>
              </a:lnSpc>
              <a:spcAft>
                <a:spcPts val="300"/>
              </a:spcAft>
            </a:pPr>
            <a:r>
              <a:rPr kumimoji="0" lang="en-IE" sz="1400" b="1" i="0" u="none" strike="noStrike" kern="1200" cap="none" spc="0" normalizeH="0" baseline="0" noProof="0" dirty="0">
                <a:ln>
                  <a:noFill/>
                </a:ln>
                <a:solidFill>
                  <a:srgbClr val="0A597A"/>
                </a:solidFill>
                <a:effectLst/>
                <a:uLnTx/>
                <a:uFillTx/>
                <a:latin typeface="AvenirNext LT Pro Bold" panose="020B0804020202020204"/>
                <a:ea typeface="+mn-ea"/>
                <a:cs typeface="+mn-cs"/>
              </a:rPr>
              <a:t>Distributed IO-Link - </a:t>
            </a: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for rapid deployment of flexible RFID and Barcode verification solutions </a:t>
            </a:r>
            <a:endParaRPr lang="en-IE" sz="2000" b="1" dirty="0">
              <a:solidFill>
                <a:srgbClr val="0A597A"/>
              </a:solidFill>
              <a:latin typeface="AvenirNext LT Pro Bold" panose="020B0804020202020204"/>
              <a:ea typeface="+mj-ea"/>
              <a:cs typeface="+mj-cs"/>
            </a:endParaRPr>
          </a:p>
        </p:txBody>
      </p:sp>
      <p:pic>
        <p:nvPicPr>
          <p:cNvPr id="105" name="Picture 104">
            <a:extLst>
              <a:ext uri="{FF2B5EF4-FFF2-40B4-BE49-F238E27FC236}">
                <a16:creationId xmlns:a16="http://schemas.microsoft.com/office/drawing/2014/main" id="{5380873A-B9CD-53D2-3226-754CA441357B}"/>
              </a:ext>
            </a:extLst>
          </p:cNvPr>
          <p:cNvPicPr>
            <a:picLocks noChangeAspect="1"/>
          </p:cNvPicPr>
          <p:nvPr/>
        </p:nvPicPr>
        <p:blipFill>
          <a:blip r:embed="rId3"/>
          <a:stretch>
            <a:fillRect/>
          </a:stretch>
        </p:blipFill>
        <p:spPr>
          <a:xfrm>
            <a:off x="427052" y="5774338"/>
            <a:ext cx="6003895" cy="3497414"/>
          </a:xfrm>
          <a:prstGeom prst="rect">
            <a:avLst/>
          </a:prstGeom>
        </p:spPr>
      </p:pic>
      <p:pic>
        <p:nvPicPr>
          <p:cNvPr id="6" name="Picture 5">
            <a:extLst>
              <a:ext uri="{FF2B5EF4-FFF2-40B4-BE49-F238E27FC236}">
                <a16:creationId xmlns:a16="http://schemas.microsoft.com/office/drawing/2014/main" id="{2FA5CC72-B361-1AEE-8E66-A11046D2DDF7}"/>
              </a:ext>
            </a:extLst>
          </p:cNvPr>
          <p:cNvPicPr>
            <a:picLocks noChangeAspect="1"/>
          </p:cNvPicPr>
          <p:nvPr/>
        </p:nvPicPr>
        <p:blipFill>
          <a:blip r:embed="rId4"/>
          <a:stretch>
            <a:fillRect/>
          </a:stretch>
        </p:blipFill>
        <p:spPr>
          <a:xfrm>
            <a:off x="961252" y="1553372"/>
            <a:ext cx="5048955" cy="3439005"/>
          </a:xfrm>
          <a:prstGeom prst="rect">
            <a:avLst/>
          </a:prstGeom>
        </p:spPr>
      </p:pic>
      <p:sp>
        <p:nvSpPr>
          <p:cNvPr id="7" name="TextBox 6">
            <a:extLst>
              <a:ext uri="{FF2B5EF4-FFF2-40B4-BE49-F238E27FC236}">
                <a16:creationId xmlns:a16="http://schemas.microsoft.com/office/drawing/2014/main" id="{6802BB79-11B6-9DD6-865F-C242E830BD22}"/>
              </a:ext>
            </a:extLst>
          </p:cNvPr>
          <p:cNvSpPr txBox="1"/>
          <p:nvPr/>
        </p:nvSpPr>
        <p:spPr>
          <a:xfrm>
            <a:off x="685800" y="1021936"/>
            <a:ext cx="5599861" cy="543162"/>
          </a:xfrm>
          <a:prstGeom prst="rect">
            <a:avLst/>
          </a:prstGeom>
          <a:noFill/>
        </p:spPr>
        <p:txBody>
          <a:bodyPr wrap="square">
            <a:spAutoFit/>
          </a:bodyPr>
          <a:lstStyle/>
          <a:p>
            <a:pPr>
              <a:lnSpc>
                <a:spcPct val="107000"/>
              </a:lnSpc>
              <a:spcAft>
                <a:spcPts val="300"/>
              </a:spcAft>
            </a:pPr>
            <a:r>
              <a:rPr kumimoji="0" lang="en-IE" sz="1400" b="1" i="0" u="none" strike="noStrike" kern="1200" cap="none" spc="0" normalizeH="0" baseline="0" noProof="0" dirty="0">
                <a:ln>
                  <a:noFill/>
                </a:ln>
                <a:solidFill>
                  <a:srgbClr val="0A597A"/>
                </a:solidFill>
                <a:effectLst/>
                <a:uLnTx/>
                <a:uFillTx/>
                <a:latin typeface="AvenirNext LT Pro Bold" panose="020B0804020202020204"/>
                <a:ea typeface="+mn-ea"/>
                <a:cs typeface="+mn-cs"/>
              </a:rPr>
              <a:t>Power Bus </a:t>
            </a: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 allows you to quickly add wireless nodes anywhere along a 24V power line, minimizing cabling and maximizing flexibility</a:t>
            </a:r>
            <a:endParaRPr lang="en-IE" sz="2000" b="1" dirty="0">
              <a:solidFill>
                <a:srgbClr val="0A597A"/>
              </a:solidFill>
              <a:latin typeface="AvenirNext LT Pro Bold" panose="020B0804020202020204"/>
              <a:ea typeface="+mj-ea"/>
              <a:cs typeface="+mj-cs"/>
            </a:endParaRPr>
          </a:p>
        </p:txBody>
      </p:sp>
    </p:spTree>
    <p:extLst>
      <p:ext uri="{BB962C8B-B14F-4D97-AF65-F5344CB8AC3E}">
        <p14:creationId xmlns:p14="http://schemas.microsoft.com/office/powerpoint/2010/main" val="628003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08386-62A5-E848-0719-D264E9526093}"/>
            </a:ext>
          </a:extLst>
        </p:cNvPr>
        <p:cNvGrpSpPr/>
        <p:nvPr/>
      </p:nvGrpSpPr>
      <p:grpSpPr>
        <a:xfrm>
          <a:off x="0" y="0"/>
          <a:ext cx="0" cy="0"/>
          <a:chOff x="0" y="0"/>
          <a:chExt cx="0" cy="0"/>
        </a:xfrm>
      </p:grpSpPr>
      <p:sp>
        <p:nvSpPr>
          <p:cNvPr id="2" name="Action Button: Go Home 1">
            <a:hlinkClick r:id="rId2" action="ppaction://hlinksldjump" highlightClick="1"/>
            <a:hlinkHover r:id="" action="ppaction://hlinkshowjump?jump=firstslide"/>
            <a:extLst>
              <a:ext uri="{FF2B5EF4-FFF2-40B4-BE49-F238E27FC236}">
                <a16:creationId xmlns:a16="http://schemas.microsoft.com/office/drawing/2014/main" id="{B252C8A1-0D8C-243B-C16F-B9C7E9D6BD0C}"/>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879B5E38-617F-8E07-45B6-52E947EBB64A}"/>
              </a:ext>
            </a:extLst>
          </p:cNvPr>
          <p:cNvSpPr txBox="1"/>
          <p:nvPr/>
        </p:nvSpPr>
        <p:spPr>
          <a:xfrm>
            <a:off x="689073" y="286952"/>
            <a:ext cx="5242170"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Smart Installation Solutions</a:t>
            </a:r>
          </a:p>
          <a:p>
            <a:pPr>
              <a:lnSpc>
                <a:spcPct val="107000"/>
              </a:lnSpc>
              <a:spcAft>
                <a:spcPts val="300"/>
              </a:spcAft>
            </a:pPr>
            <a:r>
              <a:rPr lang="en-IE" sz="1400" dirty="0">
                <a:solidFill>
                  <a:srgbClr val="0A597A"/>
                </a:solidFill>
                <a:latin typeface="AvenirNext LT Pro Bold" panose="020B0804020202020204"/>
              </a:rPr>
              <a:t>Accelerate your success with rapidly deployed innovations</a:t>
            </a:r>
          </a:p>
        </p:txBody>
      </p:sp>
      <p:sp>
        <p:nvSpPr>
          <p:cNvPr id="101" name="TextBox 100">
            <a:extLst>
              <a:ext uri="{FF2B5EF4-FFF2-40B4-BE49-F238E27FC236}">
                <a16:creationId xmlns:a16="http://schemas.microsoft.com/office/drawing/2014/main" id="{776DE477-1D9E-65F5-4B49-6750F4923B9B}"/>
              </a:ext>
            </a:extLst>
          </p:cNvPr>
          <p:cNvSpPr txBox="1"/>
          <p:nvPr/>
        </p:nvSpPr>
        <p:spPr>
          <a:xfrm>
            <a:off x="629069" y="5583351"/>
            <a:ext cx="5599861" cy="312650"/>
          </a:xfrm>
          <a:prstGeom prst="rect">
            <a:avLst/>
          </a:prstGeom>
          <a:noFill/>
        </p:spPr>
        <p:txBody>
          <a:bodyPr wrap="square">
            <a:spAutoFit/>
          </a:bodyPr>
          <a:lstStyle/>
          <a:p>
            <a:pPr>
              <a:lnSpc>
                <a:spcPct val="107000"/>
              </a:lnSpc>
              <a:spcAft>
                <a:spcPts val="300"/>
              </a:spcAft>
            </a:pPr>
            <a:r>
              <a:rPr lang="en-IE" sz="1400" b="1" dirty="0">
                <a:solidFill>
                  <a:srgbClr val="0A597A"/>
                </a:solidFill>
                <a:latin typeface="AvenirNext LT Pro Bold" panose="020B0804020202020204"/>
              </a:rPr>
              <a:t>Wireless</a:t>
            </a:r>
            <a:r>
              <a:rPr kumimoji="0" lang="en-IE" sz="1400" b="1" i="0" u="none" strike="noStrike" kern="1200" cap="none" spc="0" normalizeH="0" baseline="0" noProof="0" dirty="0">
                <a:ln>
                  <a:noFill/>
                </a:ln>
                <a:solidFill>
                  <a:srgbClr val="0A597A"/>
                </a:solidFill>
                <a:effectLst/>
                <a:uLnTx/>
                <a:uFillTx/>
                <a:latin typeface="AvenirNext LT Pro Bold" panose="020B0804020202020204"/>
                <a:ea typeface="+mn-ea"/>
                <a:cs typeface="+mn-cs"/>
              </a:rPr>
              <a:t> IO-Link Hubs - </a:t>
            </a: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for rapid integration of multiple IO-Link devices</a:t>
            </a:r>
            <a:endParaRPr lang="en-IE" sz="2000" b="1" dirty="0">
              <a:solidFill>
                <a:srgbClr val="0A597A"/>
              </a:solidFill>
              <a:latin typeface="AvenirNext LT Pro Bold" panose="020B0804020202020204"/>
              <a:ea typeface="+mj-ea"/>
              <a:cs typeface="+mj-cs"/>
            </a:endParaRPr>
          </a:p>
        </p:txBody>
      </p:sp>
      <p:sp>
        <p:nvSpPr>
          <p:cNvPr id="7" name="TextBox 6">
            <a:extLst>
              <a:ext uri="{FF2B5EF4-FFF2-40B4-BE49-F238E27FC236}">
                <a16:creationId xmlns:a16="http://schemas.microsoft.com/office/drawing/2014/main" id="{D334A18E-174B-8E44-E9BD-6295483ED561}"/>
              </a:ext>
            </a:extLst>
          </p:cNvPr>
          <p:cNvSpPr txBox="1"/>
          <p:nvPr/>
        </p:nvSpPr>
        <p:spPr>
          <a:xfrm>
            <a:off x="685800" y="1021936"/>
            <a:ext cx="5599861" cy="773673"/>
          </a:xfrm>
          <a:prstGeom prst="rect">
            <a:avLst/>
          </a:prstGeom>
          <a:noFill/>
        </p:spPr>
        <p:txBody>
          <a:bodyPr wrap="square">
            <a:spAutoFit/>
          </a:bodyPr>
          <a:lstStyle/>
          <a:p>
            <a:pPr>
              <a:lnSpc>
                <a:spcPct val="107000"/>
              </a:lnSpc>
              <a:spcAft>
                <a:spcPts val="300"/>
              </a:spcAft>
            </a:pPr>
            <a:r>
              <a:rPr lang="en-IE" sz="1400" b="1" dirty="0">
                <a:solidFill>
                  <a:srgbClr val="0A597A"/>
                </a:solidFill>
                <a:latin typeface="AvenirNext LT Pro Bold" panose="020B0804020202020204"/>
              </a:rPr>
              <a:t>Wireless IO-Link</a:t>
            </a:r>
            <a:r>
              <a:rPr kumimoji="0" lang="en-IE" sz="1400" b="1" i="0" u="none" strike="noStrike" kern="1200" cap="none" spc="0" normalizeH="0" baseline="0" noProof="0" dirty="0">
                <a:ln>
                  <a:noFill/>
                </a:ln>
                <a:solidFill>
                  <a:srgbClr val="0A597A"/>
                </a:solidFill>
                <a:effectLst/>
                <a:uLnTx/>
                <a:uFillTx/>
                <a:latin typeface="AvenirNext LT Pro Bold" panose="020B0804020202020204"/>
                <a:ea typeface="+mn-ea"/>
                <a:cs typeface="+mn-cs"/>
              </a:rPr>
              <a:t> </a:t>
            </a:r>
            <a:r>
              <a:rPr kumimoji="0" lang="en-IE" sz="1400" b="0" i="0" u="none" strike="noStrike" kern="1200" cap="none" spc="0" normalizeH="0" baseline="0" noProof="0" dirty="0">
                <a:ln>
                  <a:noFill/>
                </a:ln>
                <a:solidFill>
                  <a:srgbClr val="0A597A"/>
                </a:solidFill>
                <a:effectLst/>
                <a:uLnTx/>
                <a:uFillTx/>
                <a:latin typeface="AvenirNext LT Pro Bold" panose="020B0804020202020204"/>
                <a:ea typeface="+mn-ea"/>
                <a:cs typeface="+mn-cs"/>
              </a:rPr>
              <a:t>- </a:t>
            </a:r>
            <a:r>
              <a:rPr lang="en-IE" sz="1400" dirty="0">
                <a:solidFill>
                  <a:srgbClr val="0A597A"/>
                </a:solidFill>
                <a:latin typeface="AvenirNext LT Pro Bold" panose="020B0804020202020204"/>
              </a:rPr>
              <a:t>enables reliable industrial communication between the IO-Link Wireless master and hubs. The highly scalable system ensures a reliable real-time data exchange in challenging environments.</a:t>
            </a:r>
          </a:p>
        </p:txBody>
      </p:sp>
      <p:pic>
        <p:nvPicPr>
          <p:cNvPr id="5" name="Picture 4">
            <a:extLst>
              <a:ext uri="{FF2B5EF4-FFF2-40B4-BE49-F238E27FC236}">
                <a16:creationId xmlns:a16="http://schemas.microsoft.com/office/drawing/2014/main" id="{1063C978-B9AD-1D5E-D06A-AFF6F5578B1B}"/>
              </a:ext>
            </a:extLst>
          </p:cNvPr>
          <p:cNvPicPr>
            <a:picLocks noChangeAspect="1"/>
          </p:cNvPicPr>
          <p:nvPr/>
        </p:nvPicPr>
        <p:blipFill>
          <a:blip r:embed="rId3"/>
          <a:stretch>
            <a:fillRect/>
          </a:stretch>
        </p:blipFill>
        <p:spPr>
          <a:xfrm>
            <a:off x="1233785" y="1998472"/>
            <a:ext cx="743296" cy="3317099"/>
          </a:xfrm>
          <a:prstGeom prst="rect">
            <a:avLst/>
          </a:prstGeom>
          <a:effectLst>
            <a:softEdge rad="38100"/>
          </a:effectLst>
        </p:spPr>
      </p:pic>
      <p:sp>
        <p:nvSpPr>
          <p:cNvPr id="8" name="TextBox 7">
            <a:extLst>
              <a:ext uri="{FF2B5EF4-FFF2-40B4-BE49-F238E27FC236}">
                <a16:creationId xmlns:a16="http://schemas.microsoft.com/office/drawing/2014/main" id="{616C7DC1-7D64-DE30-569C-8DE51EF1D6AC}"/>
              </a:ext>
            </a:extLst>
          </p:cNvPr>
          <p:cNvSpPr txBox="1"/>
          <p:nvPr/>
        </p:nvSpPr>
        <p:spPr>
          <a:xfrm>
            <a:off x="2695602" y="2431814"/>
            <a:ext cx="3692842" cy="2156744"/>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Wireless IO-Link at a glance</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Wireless communication up to 20 m</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Up to 64 IO-Link devices per master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Interference-free frequency hopping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Data transmission with short delay time</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IIOT integration (OPC-UA, MQTT, REST API)</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Fieldbus integration </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Compact IP67 design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Interlinking to reduce the power cabling</a:t>
            </a:r>
          </a:p>
        </p:txBody>
      </p:sp>
      <p:pic>
        <p:nvPicPr>
          <p:cNvPr id="10" name="Picture 9">
            <a:extLst>
              <a:ext uri="{FF2B5EF4-FFF2-40B4-BE49-F238E27FC236}">
                <a16:creationId xmlns:a16="http://schemas.microsoft.com/office/drawing/2014/main" id="{9FEC1FCF-B46F-4863-F0DD-4BA5323C2A68}"/>
              </a:ext>
            </a:extLst>
          </p:cNvPr>
          <p:cNvPicPr>
            <a:picLocks noChangeAspect="1"/>
          </p:cNvPicPr>
          <p:nvPr/>
        </p:nvPicPr>
        <p:blipFill>
          <a:blip r:embed="rId4"/>
          <a:stretch>
            <a:fillRect/>
          </a:stretch>
        </p:blipFill>
        <p:spPr>
          <a:xfrm>
            <a:off x="530647" y="6349780"/>
            <a:ext cx="1074786" cy="2129228"/>
          </a:xfrm>
          <a:prstGeom prst="rect">
            <a:avLst/>
          </a:prstGeom>
          <a:effectLst>
            <a:softEdge rad="50800"/>
          </a:effectLst>
        </p:spPr>
      </p:pic>
      <p:pic>
        <p:nvPicPr>
          <p:cNvPr id="12" name="Picture 11">
            <a:extLst>
              <a:ext uri="{FF2B5EF4-FFF2-40B4-BE49-F238E27FC236}">
                <a16:creationId xmlns:a16="http://schemas.microsoft.com/office/drawing/2014/main" id="{01AFD680-5A89-637A-E5CE-91197EC8715B}"/>
              </a:ext>
            </a:extLst>
          </p:cNvPr>
          <p:cNvPicPr>
            <a:picLocks noChangeAspect="1"/>
          </p:cNvPicPr>
          <p:nvPr/>
        </p:nvPicPr>
        <p:blipFill>
          <a:blip r:embed="rId5"/>
          <a:stretch>
            <a:fillRect/>
          </a:stretch>
        </p:blipFill>
        <p:spPr>
          <a:xfrm>
            <a:off x="2014276" y="6798821"/>
            <a:ext cx="1074786" cy="1680187"/>
          </a:xfrm>
          <a:prstGeom prst="rect">
            <a:avLst/>
          </a:prstGeom>
          <a:effectLst>
            <a:softEdge rad="38100"/>
          </a:effectLst>
        </p:spPr>
      </p:pic>
      <p:sp>
        <p:nvSpPr>
          <p:cNvPr id="13" name="TextBox 12">
            <a:extLst>
              <a:ext uri="{FF2B5EF4-FFF2-40B4-BE49-F238E27FC236}">
                <a16:creationId xmlns:a16="http://schemas.microsoft.com/office/drawing/2014/main" id="{46B2031F-0115-1D4F-2294-005DE67D8B49}"/>
              </a:ext>
            </a:extLst>
          </p:cNvPr>
          <p:cNvSpPr txBox="1"/>
          <p:nvPr/>
        </p:nvSpPr>
        <p:spPr>
          <a:xfrm>
            <a:off x="3768940" y="6856837"/>
            <a:ext cx="2902714" cy="1234697"/>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Benefits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Up to 75% less wiring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Simplified installation</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Automated parameter setting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Enhanced diagnostics</a:t>
            </a:r>
          </a:p>
        </p:txBody>
      </p:sp>
    </p:spTree>
    <p:extLst>
      <p:ext uri="{BB962C8B-B14F-4D97-AF65-F5344CB8AC3E}">
        <p14:creationId xmlns:p14="http://schemas.microsoft.com/office/powerpoint/2010/main" val="3137361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F2FBAC1-F109-47D9-BB40-C89515C4310A}"/>
              </a:ext>
            </a:extLst>
          </p:cNvPr>
          <p:cNvSpPr txBox="1"/>
          <p:nvPr/>
        </p:nvSpPr>
        <p:spPr>
          <a:xfrm>
            <a:off x="763214" y="200455"/>
            <a:ext cx="5773510" cy="680443"/>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Workflows</a:t>
            </a:r>
          </a:p>
          <a:p>
            <a:pPr>
              <a:lnSpc>
                <a:spcPct val="107000"/>
              </a:lnSpc>
              <a:spcAft>
                <a:spcPts val="300"/>
              </a:spcAft>
            </a:pPr>
            <a:r>
              <a:rPr lang="en-IE" sz="1400" b="1" dirty="0">
                <a:solidFill>
                  <a:srgbClr val="0A597A"/>
                </a:solidFill>
                <a:latin typeface="AvenirNext LT Pro Bold" panose="020B0804020202020204"/>
                <a:ea typeface="+mj-ea"/>
                <a:cs typeface="+mj-cs"/>
              </a:rPr>
              <a:t>Pick-to-Light, Call-for-Parts and Call-for-Help</a:t>
            </a:r>
          </a:p>
        </p:txBody>
      </p:sp>
      <p:sp>
        <p:nvSpPr>
          <p:cNvPr id="2" name="Action Button: Go Home 1">
            <a:hlinkClick r:id="rId2" action="ppaction://hlinksldjump" highlightClick="1"/>
            <a:hlinkHover r:id="" action="ppaction://hlinkshowjump?jump=firstslide"/>
            <a:extLst>
              <a:ext uri="{FF2B5EF4-FFF2-40B4-BE49-F238E27FC236}">
                <a16:creationId xmlns:a16="http://schemas.microsoft.com/office/drawing/2014/main" id="{32B39AC8-BD52-6EC5-FB41-17DFBC2A25B2}"/>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7CD3237B-6EBB-2555-608A-63C1D146352F}"/>
              </a:ext>
            </a:extLst>
          </p:cNvPr>
          <p:cNvSpPr txBox="1"/>
          <p:nvPr/>
        </p:nvSpPr>
        <p:spPr>
          <a:xfrm>
            <a:off x="3184149" y="4753995"/>
            <a:ext cx="3352575" cy="1926233"/>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Range of Pick-to-Light and Call-for-Parts hardware (including)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Touch Sensor and Optical Sensor with 3-digit LED Display</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Optical Pick-to-Light sensor</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Multicolour Touch with IO-Link</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Wireless Gateway</a:t>
            </a:r>
          </a:p>
          <a:p>
            <a:pPr marL="285750" indent="-285750">
              <a:lnSpc>
                <a:spcPct val="107000"/>
              </a:lnSpc>
              <a:buFont typeface="Arial" panose="020B0604020202020204" pitchFamily="34" charset="0"/>
              <a:buChar char="•"/>
            </a:pPr>
            <a:endParaRPr lang="en-IE" sz="1400" dirty="0">
              <a:solidFill>
                <a:srgbClr val="0A597A"/>
              </a:solidFill>
              <a:latin typeface="AvenirNext LT Pro Bold" panose="020B0804020202020204"/>
              <a:ea typeface="+mj-ea"/>
              <a:cs typeface="+mj-cs"/>
            </a:endParaRPr>
          </a:p>
        </p:txBody>
      </p:sp>
      <p:sp>
        <p:nvSpPr>
          <p:cNvPr id="5" name="TextBox 4">
            <a:extLst>
              <a:ext uri="{FF2B5EF4-FFF2-40B4-BE49-F238E27FC236}">
                <a16:creationId xmlns:a16="http://schemas.microsoft.com/office/drawing/2014/main" id="{CD0C890E-2796-D841-97C8-8F6777C2494D}"/>
              </a:ext>
            </a:extLst>
          </p:cNvPr>
          <p:cNvSpPr txBox="1"/>
          <p:nvPr/>
        </p:nvSpPr>
        <p:spPr>
          <a:xfrm>
            <a:off x="3531306" y="6610246"/>
            <a:ext cx="2881851" cy="375552"/>
          </a:xfrm>
          <a:prstGeom prst="rect">
            <a:avLst/>
          </a:prstGeom>
          <a:noFill/>
        </p:spPr>
        <p:txBody>
          <a:bodyPr wrap="square">
            <a:spAutoFit/>
          </a:bodyPr>
          <a:lstStyle/>
          <a:p>
            <a:pPr>
              <a:lnSpc>
                <a:spcPct val="107000"/>
              </a:lnSpc>
            </a:pPr>
            <a:r>
              <a:rPr lang="en-IE" b="1" i="1" dirty="0">
                <a:solidFill>
                  <a:srgbClr val="3EC4FF"/>
                </a:solidFill>
                <a:latin typeface="AvenirNext LT Pro Bold" panose="020B0804020202020204"/>
                <a:ea typeface="+mj-ea"/>
                <a:cs typeface="+mj-cs"/>
                <a:hlinkClick r:id="rId3">
                  <a:extLst>
                    <a:ext uri="{A12FA001-AC4F-418D-AE19-62706E023703}">
                      <ahyp:hlinkClr xmlns:ahyp="http://schemas.microsoft.com/office/drawing/2018/hyperlinkcolor" val="tx"/>
                    </a:ext>
                  </a:extLst>
                </a:hlinkClick>
              </a:rPr>
              <a:t>Link to Pick-to-Light Video</a:t>
            </a:r>
            <a:endParaRPr lang="en-IE" i="1" dirty="0">
              <a:solidFill>
                <a:srgbClr val="3EC4FF"/>
              </a:solidFill>
              <a:latin typeface="AvenirNext LT Pro Bold" panose="020B0804020202020204"/>
              <a:ea typeface="+mj-ea"/>
              <a:cs typeface="+mj-cs"/>
            </a:endParaRPr>
          </a:p>
        </p:txBody>
      </p:sp>
      <p:pic>
        <p:nvPicPr>
          <p:cNvPr id="15" name="Picture 14">
            <a:extLst>
              <a:ext uri="{FF2B5EF4-FFF2-40B4-BE49-F238E27FC236}">
                <a16:creationId xmlns:a16="http://schemas.microsoft.com/office/drawing/2014/main" id="{2B474B76-49EF-587F-E5DD-D09C5EB1F052}"/>
              </a:ext>
            </a:extLst>
          </p:cNvPr>
          <p:cNvPicPr>
            <a:picLocks noChangeAspect="1"/>
          </p:cNvPicPr>
          <p:nvPr/>
        </p:nvPicPr>
        <p:blipFill>
          <a:blip r:embed="rId4"/>
          <a:stretch>
            <a:fillRect/>
          </a:stretch>
        </p:blipFill>
        <p:spPr>
          <a:xfrm>
            <a:off x="694400" y="4753995"/>
            <a:ext cx="1710469" cy="534697"/>
          </a:xfrm>
          <a:prstGeom prst="rect">
            <a:avLst/>
          </a:prstGeom>
        </p:spPr>
      </p:pic>
      <p:pic>
        <p:nvPicPr>
          <p:cNvPr id="22" name="Picture 21">
            <a:extLst>
              <a:ext uri="{FF2B5EF4-FFF2-40B4-BE49-F238E27FC236}">
                <a16:creationId xmlns:a16="http://schemas.microsoft.com/office/drawing/2014/main" id="{6A9CB280-14C3-F1C5-EFCD-A85664A54BA4}"/>
              </a:ext>
            </a:extLst>
          </p:cNvPr>
          <p:cNvPicPr>
            <a:picLocks noChangeAspect="1"/>
          </p:cNvPicPr>
          <p:nvPr/>
        </p:nvPicPr>
        <p:blipFill>
          <a:blip r:embed="rId5"/>
          <a:stretch>
            <a:fillRect/>
          </a:stretch>
        </p:blipFill>
        <p:spPr>
          <a:xfrm>
            <a:off x="1304659" y="5439351"/>
            <a:ext cx="608904" cy="799317"/>
          </a:xfrm>
          <a:prstGeom prst="rect">
            <a:avLst/>
          </a:prstGeom>
        </p:spPr>
      </p:pic>
      <p:pic>
        <p:nvPicPr>
          <p:cNvPr id="24" name="Picture 23">
            <a:extLst>
              <a:ext uri="{FF2B5EF4-FFF2-40B4-BE49-F238E27FC236}">
                <a16:creationId xmlns:a16="http://schemas.microsoft.com/office/drawing/2014/main" id="{00000000-0008-0000-0300-0000E7000000}"/>
              </a:ext>
            </a:extLst>
          </p:cNvPr>
          <p:cNvPicPr>
            <a:picLocks noChangeAspect="1"/>
          </p:cNvPicPr>
          <p:nvPr/>
        </p:nvPicPr>
        <p:blipFill>
          <a:blip r:embed="rId6"/>
          <a:stretch>
            <a:fillRect/>
          </a:stretch>
        </p:blipFill>
        <p:spPr>
          <a:xfrm>
            <a:off x="1234655" y="7861608"/>
            <a:ext cx="748912" cy="799317"/>
          </a:xfrm>
          <a:prstGeom prst="rect">
            <a:avLst/>
          </a:prstGeom>
        </p:spPr>
      </p:pic>
      <p:pic>
        <p:nvPicPr>
          <p:cNvPr id="28" name="Picture 27">
            <a:extLst>
              <a:ext uri="{FF2B5EF4-FFF2-40B4-BE49-F238E27FC236}">
                <a16:creationId xmlns:a16="http://schemas.microsoft.com/office/drawing/2014/main" id="{00000000-0008-0000-0300-0000FE000000}"/>
              </a:ext>
            </a:extLst>
          </p:cNvPr>
          <p:cNvPicPr>
            <a:picLocks noChangeAspect="1"/>
          </p:cNvPicPr>
          <p:nvPr/>
        </p:nvPicPr>
        <p:blipFill>
          <a:blip r:embed="rId7"/>
          <a:stretch>
            <a:fillRect/>
          </a:stretch>
        </p:blipFill>
        <p:spPr>
          <a:xfrm>
            <a:off x="1000206" y="6389327"/>
            <a:ext cx="1236233" cy="1321622"/>
          </a:xfrm>
          <a:prstGeom prst="rect">
            <a:avLst/>
          </a:prstGeom>
        </p:spPr>
      </p:pic>
      <p:pic>
        <p:nvPicPr>
          <p:cNvPr id="29" name="Picture 28" descr="A picture containing colorful, several&#10;&#10;Description automatically generated">
            <a:extLst>
              <a:ext uri="{FF2B5EF4-FFF2-40B4-BE49-F238E27FC236}">
                <a16:creationId xmlns:a16="http://schemas.microsoft.com/office/drawing/2014/main" id="{724C7809-01E9-164A-43D8-703FBF56820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69244" y="2044392"/>
            <a:ext cx="4124124" cy="2319820"/>
          </a:xfrm>
          <a:prstGeom prst="rect">
            <a:avLst/>
          </a:prstGeom>
        </p:spPr>
      </p:pic>
      <p:pic>
        <p:nvPicPr>
          <p:cNvPr id="31" name="Picture 30" descr="A black and white logo&#10;&#10;Description automatically generated">
            <a:extLst>
              <a:ext uri="{FF2B5EF4-FFF2-40B4-BE49-F238E27FC236}">
                <a16:creationId xmlns:a16="http://schemas.microsoft.com/office/drawing/2014/main" id="{DD6A612B-7D5F-31E2-E0C4-ECB2D9B49CF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507842" y="8807678"/>
            <a:ext cx="1757832" cy="377716"/>
          </a:xfrm>
          <a:prstGeom prst="rect">
            <a:avLst/>
          </a:prstGeom>
        </p:spPr>
      </p:pic>
      <p:sp>
        <p:nvSpPr>
          <p:cNvPr id="6" name="TextBox 5">
            <a:extLst>
              <a:ext uri="{FF2B5EF4-FFF2-40B4-BE49-F238E27FC236}">
                <a16:creationId xmlns:a16="http://schemas.microsoft.com/office/drawing/2014/main" id="{31FD2992-D5D5-6E8D-C3F2-DFABA4EE32AF}"/>
              </a:ext>
            </a:extLst>
          </p:cNvPr>
          <p:cNvSpPr txBox="1"/>
          <p:nvPr/>
        </p:nvSpPr>
        <p:spPr>
          <a:xfrm>
            <a:off x="3184149" y="7314749"/>
            <a:ext cx="3307747" cy="1465209"/>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Call-for-Help hardware (including)</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Wireless buttons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Record and analyse technician response times</a:t>
            </a:r>
          </a:p>
          <a:p>
            <a:pPr marL="285750" indent="-285750">
              <a:lnSpc>
                <a:spcPct val="107000"/>
              </a:lnSpc>
              <a:buFont typeface="Arial" panose="020B0604020202020204" pitchFamily="34" charset="0"/>
              <a:buChar char="•"/>
            </a:pPr>
            <a:r>
              <a:rPr lang="en-IE" sz="1400" dirty="0">
                <a:solidFill>
                  <a:srgbClr val="0A597A"/>
                </a:solidFill>
                <a:latin typeface="AvenirNext LT Pro Bold" panose="020B0804020202020204"/>
                <a:ea typeface="+mj-ea"/>
                <a:cs typeface="+mj-cs"/>
              </a:rPr>
              <a:t>Record and analyse issue resolution times</a:t>
            </a:r>
          </a:p>
        </p:txBody>
      </p:sp>
      <p:sp>
        <p:nvSpPr>
          <p:cNvPr id="10" name="TextBox 9">
            <a:extLst>
              <a:ext uri="{FF2B5EF4-FFF2-40B4-BE49-F238E27FC236}">
                <a16:creationId xmlns:a16="http://schemas.microsoft.com/office/drawing/2014/main" id="{0209E12C-FD52-EB88-3C90-F1164B945566}"/>
              </a:ext>
            </a:extLst>
          </p:cNvPr>
          <p:cNvSpPr txBox="1"/>
          <p:nvPr/>
        </p:nvSpPr>
        <p:spPr>
          <a:xfrm>
            <a:off x="763214" y="1013508"/>
            <a:ext cx="5773510" cy="773673"/>
          </a:xfrm>
          <a:prstGeom prst="rect">
            <a:avLst/>
          </a:prstGeom>
          <a:noFill/>
        </p:spPr>
        <p:txBody>
          <a:bodyPr wrap="square">
            <a:spAutoFit/>
          </a:bodyPr>
          <a:lstStyle/>
          <a:p>
            <a:pPr>
              <a:lnSpc>
                <a:spcPct val="107000"/>
              </a:lnSpc>
            </a:pPr>
            <a:r>
              <a:rPr lang="en-IE" sz="1400" dirty="0">
                <a:solidFill>
                  <a:srgbClr val="0A597A"/>
                </a:solidFill>
                <a:latin typeface="AvenirNext LT Pro Bold" panose="020B0804020202020204"/>
                <a:ea typeface="+mj-ea"/>
                <a:cs typeface="+mj-cs"/>
              </a:rPr>
              <a:t>SmartFactory’s Pick-to-Light and Call-for-Parts solutions streamline manual operations by guiding operators visually, confirming actions, and speeding up kitting/Kanban operations.</a:t>
            </a:r>
          </a:p>
        </p:txBody>
      </p:sp>
    </p:spTree>
    <p:extLst>
      <p:ext uri="{BB962C8B-B14F-4D97-AF65-F5344CB8AC3E}">
        <p14:creationId xmlns:p14="http://schemas.microsoft.com/office/powerpoint/2010/main" val="4109419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machine in a room&#10;&#10;Description automatically generated">
            <a:extLst>
              <a:ext uri="{FF2B5EF4-FFF2-40B4-BE49-F238E27FC236}">
                <a16:creationId xmlns:a16="http://schemas.microsoft.com/office/drawing/2014/main" id="{F7EA5A3C-DB5E-E638-B562-8F42BC23A6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3536" y="1111002"/>
            <a:ext cx="1883168" cy="2511497"/>
          </a:xfrm>
          <a:prstGeom prst="rect">
            <a:avLst/>
          </a:prstGeom>
        </p:spPr>
      </p:pic>
      <p:pic>
        <p:nvPicPr>
          <p:cNvPr id="9" name="Picture 8" descr="A machine in a factory&#10;&#10;Description automatically generated">
            <a:extLst>
              <a:ext uri="{FF2B5EF4-FFF2-40B4-BE49-F238E27FC236}">
                <a16:creationId xmlns:a16="http://schemas.microsoft.com/office/drawing/2014/main" id="{F72B47C7-4A14-371F-0EFE-D2A4B06F0232}"/>
              </a:ext>
            </a:extLst>
          </p:cNvPr>
          <p:cNvPicPr>
            <a:picLocks noChangeAspect="1"/>
          </p:cNvPicPr>
          <p:nvPr/>
        </p:nvPicPr>
        <p:blipFill>
          <a:blip r:embed="rId3">
            <a:extLst>
              <a:ext uri="{28A0092B-C50C-407E-A947-70E740481C1C}">
                <a14:useLocalDpi xmlns:a14="http://schemas.microsoft.com/office/drawing/2010/main" val="0"/>
              </a:ext>
            </a:extLst>
          </a:blip>
          <a:srcRect l="13316"/>
          <a:stretch/>
        </p:blipFill>
        <p:spPr>
          <a:xfrm>
            <a:off x="778477" y="3989514"/>
            <a:ext cx="1917313" cy="2522495"/>
          </a:xfrm>
          <a:prstGeom prst="rect">
            <a:avLst/>
          </a:prstGeom>
        </p:spPr>
      </p:pic>
      <p:sp>
        <p:nvSpPr>
          <p:cNvPr id="12" name="TextBox 11">
            <a:extLst>
              <a:ext uri="{FF2B5EF4-FFF2-40B4-BE49-F238E27FC236}">
                <a16:creationId xmlns:a16="http://schemas.microsoft.com/office/drawing/2014/main" id="{651F61E2-8BE1-E177-270A-19AF263EAB10}"/>
              </a:ext>
            </a:extLst>
          </p:cNvPr>
          <p:cNvSpPr txBox="1"/>
          <p:nvPr/>
        </p:nvSpPr>
        <p:spPr>
          <a:xfrm>
            <a:off x="648746" y="279004"/>
            <a:ext cx="4689373" cy="805605"/>
          </a:xfrm>
          <a:prstGeom prst="rect">
            <a:avLst/>
          </a:prstGeom>
          <a:noFill/>
        </p:spPr>
        <p:txBody>
          <a:bodyPr wrap="square">
            <a:spAutoFit/>
          </a:bodyPr>
          <a:lstStyle/>
          <a:p>
            <a:pPr>
              <a:lnSpc>
                <a:spcPct val="107000"/>
              </a:lnSpc>
              <a:spcAft>
                <a:spcPts val="600"/>
              </a:spcAft>
            </a:pPr>
            <a:r>
              <a:rPr lang="en-GB" sz="2000" b="1" dirty="0">
                <a:solidFill>
                  <a:srgbClr val="0D496B"/>
                </a:solidFill>
                <a:latin typeface="Avenir Next LT Pro" panose="020B0504020202020204" pitchFamily="34" charset="0"/>
                <a:ea typeface="Times New Roman" panose="02020603050405020304" pitchFamily="18" charset="0"/>
                <a:cs typeface="Times New Roman" panose="02020603050405020304" pitchFamily="18" charset="0"/>
              </a:rPr>
              <a:t>Installation examples</a:t>
            </a:r>
            <a:br>
              <a:rPr lang="en-GB" sz="1200" b="1" dirty="0">
                <a:solidFill>
                  <a:srgbClr val="0D496B"/>
                </a:solidFill>
                <a:latin typeface="Avenir Next LT Pro" panose="020B0504020202020204" pitchFamily="34" charset="0"/>
                <a:ea typeface="Times New Roman" panose="02020603050405020304" pitchFamily="18" charset="0"/>
                <a:cs typeface="Times New Roman" panose="02020603050405020304" pitchFamily="18" charset="0"/>
              </a:rPr>
            </a:br>
            <a:r>
              <a:rPr lang="en-GB" sz="1200" dirty="0">
                <a:solidFill>
                  <a:srgbClr val="0D496B"/>
                </a:solidFill>
                <a:latin typeface="Avenir Next LT Pro" panose="020B0504020202020204" pitchFamily="34" charset="0"/>
                <a:ea typeface="Times New Roman" panose="02020603050405020304" pitchFamily="18" charset="0"/>
                <a:cs typeface="Times New Roman" panose="02020603050405020304" pitchFamily="18" charset="0"/>
              </a:rPr>
              <a:t>New and </a:t>
            </a:r>
            <a:r>
              <a:rPr lang="en-IE" sz="1200" dirty="0">
                <a:solidFill>
                  <a:srgbClr val="0D496B"/>
                </a:solidFill>
                <a:latin typeface="Avenir Next LT Pro" panose="020B0504020202020204" pitchFamily="34" charset="0"/>
                <a:ea typeface="Times New Roman" panose="02020603050405020304" pitchFamily="18" charset="0"/>
                <a:cs typeface="Times New Roman" panose="02020603050405020304" pitchFamily="18" charset="0"/>
              </a:rPr>
              <a:t>legacy equipment in medical device, pharmaceutical, food and general manufacturing</a:t>
            </a:r>
            <a:endParaRPr lang="en-IE" sz="1200" dirty="0">
              <a:latin typeface="Avenir Next LT Pro" panose="020B050402020202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81824DDA-71B1-4AC1-18FA-4830B427896D}"/>
              </a:ext>
            </a:extLst>
          </p:cNvPr>
          <p:cNvSpPr txBox="1"/>
          <p:nvPr/>
        </p:nvSpPr>
        <p:spPr>
          <a:xfrm>
            <a:off x="729049" y="3608173"/>
            <a:ext cx="1853513" cy="307777"/>
          </a:xfrm>
          <a:prstGeom prst="rect">
            <a:avLst/>
          </a:prstGeom>
          <a:noFill/>
        </p:spPr>
        <p:txBody>
          <a:bodyPr wrap="square" rtlCol="0">
            <a:spAutoFit/>
          </a:bodyPr>
          <a:lstStyle/>
          <a:p>
            <a:pPr algn="ctr"/>
            <a:r>
              <a:rPr lang="en-IE" sz="1400" dirty="0">
                <a:solidFill>
                  <a:srgbClr val="0D496B"/>
                </a:solidFill>
              </a:rPr>
              <a:t>Injection Moulding</a:t>
            </a:r>
          </a:p>
        </p:txBody>
      </p:sp>
      <p:sp>
        <p:nvSpPr>
          <p:cNvPr id="17" name="TextBox 16">
            <a:extLst>
              <a:ext uri="{FF2B5EF4-FFF2-40B4-BE49-F238E27FC236}">
                <a16:creationId xmlns:a16="http://schemas.microsoft.com/office/drawing/2014/main" id="{CF936DF0-95A8-926C-91BA-421132ADC3C3}"/>
              </a:ext>
            </a:extLst>
          </p:cNvPr>
          <p:cNvSpPr txBox="1"/>
          <p:nvPr/>
        </p:nvSpPr>
        <p:spPr>
          <a:xfrm>
            <a:off x="659023" y="6466704"/>
            <a:ext cx="2059462" cy="307777"/>
          </a:xfrm>
          <a:prstGeom prst="rect">
            <a:avLst/>
          </a:prstGeom>
          <a:noFill/>
        </p:spPr>
        <p:txBody>
          <a:bodyPr wrap="square" rtlCol="0">
            <a:spAutoFit/>
          </a:bodyPr>
          <a:lstStyle/>
          <a:p>
            <a:pPr algn="ctr"/>
            <a:r>
              <a:rPr lang="en-IE" sz="1400" dirty="0">
                <a:solidFill>
                  <a:srgbClr val="0D496B"/>
                </a:solidFill>
              </a:rPr>
              <a:t>End-of-Line Packaging</a:t>
            </a:r>
          </a:p>
        </p:txBody>
      </p:sp>
      <p:sp>
        <p:nvSpPr>
          <p:cNvPr id="18" name="TextBox 17">
            <a:extLst>
              <a:ext uri="{FF2B5EF4-FFF2-40B4-BE49-F238E27FC236}">
                <a16:creationId xmlns:a16="http://schemas.microsoft.com/office/drawing/2014/main" id="{96D86D38-BB92-57F0-BFF7-E8F5EFC9E37C}"/>
              </a:ext>
            </a:extLst>
          </p:cNvPr>
          <p:cNvSpPr txBox="1"/>
          <p:nvPr/>
        </p:nvSpPr>
        <p:spPr>
          <a:xfrm>
            <a:off x="4271316" y="6470823"/>
            <a:ext cx="1853513" cy="307777"/>
          </a:xfrm>
          <a:prstGeom prst="rect">
            <a:avLst/>
          </a:prstGeom>
          <a:noFill/>
        </p:spPr>
        <p:txBody>
          <a:bodyPr wrap="square" rtlCol="0">
            <a:spAutoFit/>
          </a:bodyPr>
          <a:lstStyle/>
          <a:p>
            <a:pPr algn="ctr"/>
            <a:r>
              <a:rPr lang="en-IE" sz="1400" dirty="0">
                <a:solidFill>
                  <a:srgbClr val="0D496B"/>
                </a:solidFill>
              </a:rPr>
              <a:t>Process Equipment</a:t>
            </a:r>
          </a:p>
        </p:txBody>
      </p:sp>
      <p:sp>
        <p:nvSpPr>
          <p:cNvPr id="19" name="TextBox 18">
            <a:extLst>
              <a:ext uri="{FF2B5EF4-FFF2-40B4-BE49-F238E27FC236}">
                <a16:creationId xmlns:a16="http://schemas.microsoft.com/office/drawing/2014/main" id="{39561367-12DC-2ABA-690F-D4764924F9FB}"/>
              </a:ext>
            </a:extLst>
          </p:cNvPr>
          <p:cNvSpPr txBox="1"/>
          <p:nvPr/>
        </p:nvSpPr>
        <p:spPr>
          <a:xfrm>
            <a:off x="749642" y="9003974"/>
            <a:ext cx="1853513" cy="307777"/>
          </a:xfrm>
          <a:prstGeom prst="rect">
            <a:avLst/>
          </a:prstGeom>
          <a:noFill/>
        </p:spPr>
        <p:txBody>
          <a:bodyPr wrap="square" rtlCol="0">
            <a:spAutoFit/>
          </a:bodyPr>
          <a:lstStyle/>
          <a:p>
            <a:pPr algn="ctr"/>
            <a:r>
              <a:rPr lang="en-IE" sz="1400" dirty="0">
                <a:solidFill>
                  <a:srgbClr val="0D496B"/>
                </a:solidFill>
              </a:rPr>
              <a:t>Device Test Skid</a:t>
            </a:r>
          </a:p>
        </p:txBody>
      </p:sp>
      <p:sp>
        <p:nvSpPr>
          <p:cNvPr id="20" name="TextBox 19">
            <a:extLst>
              <a:ext uri="{FF2B5EF4-FFF2-40B4-BE49-F238E27FC236}">
                <a16:creationId xmlns:a16="http://schemas.microsoft.com/office/drawing/2014/main" id="{DAA78229-4D94-304F-6413-0C06FE94AC3C}"/>
              </a:ext>
            </a:extLst>
          </p:cNvPr>
          <p:cNvSpPr txBox="1"/>
          <p:nvPr/>
        </p:nvSpPr>
        <p:spPr>
          <a:xfrm>
            <a:off x="4275436" y="9003974"/>
            <a:ext cx="1853513" cy="307777"/>
          </a:xfrm>
          <a:prstGeom prst="rect">
            <a:avLst/>
          </a:prstGeom>
          <a:noFill/>
        </p:spPr>
        <p:txBody>
          <a:bodyPr wrap="square" rtlCol="0">
            <a:spAutoFit/>
          </a:bodyPr>
          <a:lstStyle/>
          <a:p>
            <a:pPr algn="ctr"/>
            <a:r>
              <a:rPr lang="en-IE" sz="1400" dirty="0">
                <a:solidFill>
                  <a:srgbClr val="0D496B"/>
                </a:solidFill>
              </a:rPr>
              <a:t>Manual Assembly</a:t>
            </a:r>
          </a:p>
        </p:txBody>
      </p:sp>
      <p:pic>
        <p:nvPicPr>
          <p:cNvPr id="23" name="Picture 22" descr="A machine in a room&#10;&#10;Description automatically generated">
            <a:extLst>
              <a:ext uri="{FF2B5EF4-FFF2-40B4-BE49-F238E27FC236}">
                <a16:creationId xmlns:a16="http://schemas.microsoft.com/office/drawing/2014/main" id="{FF6895F2-90BE-FF2F-52BD-556A6592B653}"/>
              </a:ext>
            </a:extLst>
          </p:cNvPr>
          <p:cNvPicPr>
            <a:picLocks noChangeAspect="1"/>
          </p:cNvPicPr>
          <p:nvPr/>
        </p:nvPicPr>
        <p:blipFill>
          <a:blip r:embed="rId4" cstate="print">
            <a:extLst>
              <a:ext uri="{28A0092B-C50C-407E-A947-70E740481C1C}">
                <a14:useLocalDpi xmlns:a14="http://schemas.microsoft.com/office/drawing/2010/main" val="0"/>
              </a:ext>
            </a:extLst>
          </a:blip>
          <a:srcRect l="1621" t="5596" r="36396" b="3834"/>
          <a:stretch/>
        </p:blipFill>
        <p:spPr>
          <a:xfrm>
            <a:off x="4226010" y="6858001"/>
            <a:ext cx="1977082" cy="2166745"/>
          </a:xfrm>
          <a:prstGeom prst="rect">
            <a:avLst/>
          </a:prstGeom>
        </p:spPr>
      </p:pic>
      <p:pic>
        <p:nvPicPr>
          <p:cNvPr id="25" name="Picture 24" descr="A machine in a factory&#10;&#10;Description automatically generated">
            <a:extLst>
              <a:ext uri="{FF2B5EF4-FFF2-40B4-BE49-F238E27FC236}">
                <a16:creationId xmlns:a16="http://schemas.microsoft.com/office/drawing/2014/main" id="{0AD522CD-C6D7-ED7F-AE5B-3E71D7C97EE5}"/>
              </a:ext>
            </a:extLst>
          </p:cNvPr>
          <p:cNvPicPr>
            <a:picLocks noChangeAspect="1"/>
          </p:cNvPicPr>
          <p:nvPr/>
        </p:nvPicPr>
        <p:blipFill>
          <a:blip r:embed="rId5" cstate="print">
            <a:extLst>
              <a:ext uri="{28A0092B-C50C-407E-A947-70E740481C1C}">
                <a14:useLocalDpi xmlns:a14="http://schemas.microsoft.com/office/drawing/2010/main" val="0"/>
              </a:ext>
            </a:extLst>
          </a:blip>
          <a:srcRect l="28396" t="16367" r="13591" b="16692"/>
          <a:stretch/>
        </p:blipFill>
        <p:spPr>
          <a:xfrm rot="5400000">
            <a:off x="647876" y="7002677"/>
            <a:ext cx="2150075" cy="1860724"/>
          </a:xfrm>
          <a:prstGeom prst="rect">
            <a:avLst/>
          </a:prstGeom>
        </p:spPr>
      </p:pic>
      <p:sp>
        <p:nvSpPr>
          <p:cNvPr id="27" name="TextBox 26">
            <a:extLst>
              <a:ext uri="{FF2B5EF4-FFF2-40B4-BE49-F238E27FC236}">
                <a16:creationId xmlns:a16="http://schemas.microsoft.com/office/drawing/2014/main" id="{9FF07DB5-FE3D-3744-615C-C4B03A9BF4BA}"/>
              </a:ext>
            </a:extLst>
          </p:cNvPr>
          <p:cNvSpPr txBox="1"/>
          <p:nvPr/>
        </p:nvSpPr>
        <p:spPr>
          <a:xfrm>
            <a:off x="4287792" y="3632888"/>
            <a:ext cx="1853513" cy="307777"/>
          </a:xfrm>
          <a:prstGeom prst="rect">
            <a:avLst/>
          </a:prstGeom>
          <a:noFill/>
        </p:spPr>
        <p:txBody>
          <a:bodyPr wrap="square" rtlCol="0">
            <a:spAutoFit/>
          </a:bodyPr>
          <a:lstStyle/>
          <a:p>
            <a:pPr algn="ctr"/>
            <a:r>
              <a:rPr lang="en-IE" sz="1400" dirty="0">
                <a:solidFill>
                  <a:srgbClr val="0D496B"/>
                </a:solidFill>
              </a:rPr>
              <a:t>Thermoforming</a:t>
            </a:r>
          </a:p>
        </p:txBody>
      </p:sp>
      <p:pic>
        <p:nvPicPr>
          <p:cNvPr id="29" name="Picture 28" descr="A white device with a screen&#10;&#10;Description automatically generated">
            <a:extLst>
              <a:ext uri="{FF2B5EF4-FFF2-40B4-BE49-F238E27FC236}">
                <a16:creationId xmlns:a16="http://schemas.microsoft.com/office/drawing/2014/main" id="{895A1F52-D36D-33D6-591D-DCC247D97E5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2749377" y="7403243"/>
            <a:ext cx="1396313" cy="1047235"/>
          </a:xfrm>
          <a:prstGeom prst="rect">
            <a:avLst/>
          </a:prstGeom>
        </p:spPr>
      </p:pic>
      <p:pic>
        <p:nvPicPr>
          <p:cNvPr id="33" name="Picture 32" descr="A machine in a factory&#10;&#10;Description automatically generated">
            <a:extLst>
              <a:ext uri="{FF2B5EF4-FFF2-40B4-BE49-F238E27FC236}">
                <a16:creationId xmlns:a16="http://schemas.microsoft.com/office/drawing/2014/main" id="{F8E5CD71-CD6C-7E7C-5FCE-C63DABE80805}"/>
              </a:ext>
            </a:extLst>
          </p:cNvPr>
          <p:cNvPicPr>
            <a:picLocks noChangeAspect="1"/>
          </p:cNvPicPr>
          <p:nvPr/>
        </p:nvPicPr>
        <p:blipFill>
          <a:blip r:embed="rId7" cstate="print">
            <a:extLst>
              <a:ext uri="{28A0092B-C50C-407E-A947-70E740481C1C}">
                <a14:useLocalDpi xmlns:a14="http://schemas.microsoft.com/office/drawing/2010/main" val="0"/>
              </a:ext>
            </a:extLst>
          </a:blip>
          <a:srcRect t="9967" r="9091"/>
          <a:stretch/>
        </p:blipFill>
        <p:spPr>
          <a:xfrm rot="5400000">
            <a:off x="3983030" y="4313847"/>
            <a:ext cx="2508423" cy="1863197"/>
          </a:xfrm>
          <a:prstGeom prst="rect">
            <a:avLst/>
          </a:prstGeom>
        </p:spPr>
      </p:pic>
      <p:sp>
        <p:nvSpPr>
          <p:cNvPr id="34" name="TextBox 33">
            <a:extLst>
              <a:ext uri="{FF2B5EF4-FFF2-40B4-BE49-F238E27FC236}">
                <a16:creationId xmlns:a16="http://schemas.microsoft.com/office/drawing/2014/main" id="{4CCD3A7B-ED89-CC30-0EBA-43EB492F8C4F}"/>
              </a:ext>
            </a:extLst>
          </p:cNvPr>
          <p:cNvSpPr txBox="1"/>
          <p:nvPr/>
        </p:nvSpPr>
        <p:spPr>
          <a:xfrm>
            <a:off x="2866767" y="2570204"/>
            <a:ext cx="1186249" cy="523220"/>
          </a:xfrm>
          <a:prstGeom prst="rect">
            <a:avLst/>
          </a:prstGeom>
          <a:noFill/>
        </p:spPr>
        <p:txBody>
          <a:bodyPr wrap="square" rtlCol="0">
            <a:spAutoFit/>
          </a:bodyPr>
          <a:lstStyle/>
          <a:p>
            <a:pPr algn="ctr"/>
            <a:r>
              <a:rPr lang="en-IE" sz="1400" dirty="0">
                <a:solidFill>
                  <a:srgbClr val="007DC2"/>
                </a:solidFill>
              </a:rPr>
              <a:t>Wireless Connectivity</a:t>
            </a:r>
          </a:p>
        </p:txBody>
      </p:sp>
      <p:cxnSp>
        <p:nvCxnSpPr>
          <p:cNvPr id="36" name="Straight Arrow Connector 35">
            <a:extLst>
              <a:ext uri="{FF2B5EF4-FFF2-40B4-BE49-F238E27FC236}">
                <a16:creationId xmlns:a16="http://schemas.microsoft.com/office/drawing/2014/main" id="{BFAAE2C8-A639-4439-492C-AB65714EE38E}"/>
              </a:ext>
            </a:extLst>
          </p:cNvPr>
          <p:cNvCxnSpPr>
            <a:cxnSpLocks/>
          </p:cNvCxnSpPr>
          <p:nvPr/>
        </p:nvCxnSpPr>
        <p:spPr>
          <a:xfrm flipH="1" flipV="1">
            <a:off x="1643449" y="1890584"/>
            <a:ext cx="1309816" cy="716692"/>
          </a:xfrm>
          <a:prstGeom prst="straightConnector1">
            <a:avLst/>
          </a:prstGeom>
          <a:ln>
            <a:solidFill>
              <a:srgbClr val="007DC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806FA8D-A264-2908-FD5A-A1E6C48A27C9}"/>
              </a:ext>
            </a:extLst>
          </p:cNvPr>
          <p:cNvCxnSpPr>
            <a:cxnSpLocks/>
          </p:cNvCxnSpPr>
          <p:nvPr/>
        </p:nvCxnSpPr>
        <p:spPr>
          <a:xfrm flipH="1">
            <a:off x="1569308" y="3138616"/>
            <a:ext cx="1779373" cy="1408670"/>
          </a:xfrm>
          <a:prstGeom prst="straightConnector1">
            <a:avLst/>
          </a:prstGeom>
          <a:ln>
            <a:solidFill>
              <a:srgbClr val="007DC2"/>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6702B601-9917-BD87-EBD1-89CA94E24600}"/>
              </a:ext>
            </a:extLst>
          </p:cNvPr>
          <p:cNvSpPr txBox="1"/>
          <p:nvPr/>
        </p:nvSpPr>
        <p:spPr>
          <a:xfrm>
            <a:off x="2846173" y="5404021"/>
            <a:ext cx="1186249" cy="523220"/>
          </a:xfrm>
          <a:prstGeom prst="rect">
            <a:avLst/>
          </a:prstGeom>
          <a:noFill/>
        </p:spPr>
        <p:txBody>
          <a:bodyPr wrap="square" rtlCol="0">
            <a:spAutoFit/>
          </a:bodyPr>
          <a:lstStyle/>
          <a:p>
            <a:pPr algn="ctr"/>
            <a:r>
              <a:rPr lang="en-IE" sz="1400" dirty="0">
                <a:solidFill>
                  <a:srgbClr val="7030A0"/>
                </a:solidFill>
              </a:rPr>
              <a:t>Wired Connectivity</a:t>
            </a:r>
          </a:p>
        </p:txBody>
      </p:sp>
      <p:cxnSp>
        <p:nvCxnSpPr>
          <p:cNvPr id="51" name="Straight Arrow Connector 50">
            <a:extLst>
              <a:ext uri="{FF2B5EF4-FFF2-40B4-BE49-F238E27FC236}">
                <a16:creationId xmlns:a16="http://schemas.microsoft.com/office/drawing/2014/main" id="{2D431F9D-9159-A73E-36C7-9C700DED8F51}"/>
              </a:ext>
            </a:extLst>
          </p:cNvPr>
          <p:cNvCxnSpPr>
            <a:cxnSpLocks/>
          </p:cNvCxnSpPr>
          <p:nvPr/>
        </p:nvCxnSpPr>
        <p:spPr>
          <a:xfrm flipV="1">
            <a:off x="3892378" y="5362832"/>
            <a:ext cx="1000898" cy="19770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5256B17A-1D0A-CFE6-3F8F-05B3CCB06631}"/>
              </a:ext>
            </a:extLst>
          </p:cNvPr>
          <p:cNvCxnSpPr>
            <a:cxnSpLocks/>
          </p:cNvCxnSpPr>
          <p:nvPr/>
        </p:nvCxnSpPr>
        <p:spPr>
          <a:xfrm>
            <a:off x="3612292" y="6046573"/>
            <a:ext cx="860854" cy="182468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1B22C7A-626F-E4A2-9C1B-8018104CD707}"/>
              </a:ext>
            </a:extLst>
          </p:cNvPr>
          <p:cNvCxnSpPr>
            <a:cxnSpLocks/>
          </p:cNvCxnSpPr>
          <p:nvPr/>
        </p:nvCxnSpPr>
        <p:spPr>
          <a:xfrm flipH="1">
            <a:off x="1915297" y="6005384"/>
            <a:ext cx="1248033" cy="154459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7E86DC61-BBE7-95F8-B47C-8C12B1250F3F}"/>
              </a:ext>
            </a:extLst>
          </p:cNvPr>
          <p:cNvSpPr txBox="1"/>
          <p:nvPr/>
        </p:nvSpPr>
        <p:spPr>
          <a:xfrm>
            <a:off x="2911645" y="8600646"/>
            <a:ext cx="1053574" cy="297517"/>
          </a:xfrm>
          <a:prstGeom prst="rect">
            <a:avLst/>
          </a:prstGeom>
          <a:noFill/>
        </p:spPr>
        <p:txBody>
          <a:bodyPr wrap="square" rtlCol="0">
            <a:spAutoFit/>
          </a:bodyPr>
          <a:lstStyle/>
          <a:p>
            <a:pPr algn="ctr">
              <a:lnSpc>
                <a:spcPts val="1600"/>
              </a:lnSpc>
            </a:pPr>
            <a:r>
              <a:rPr lang="en-IE" sz="1400" dirty="0">
                <a:solidFill>
                  <a:srgbClr val="0D496B"/>
                </a:solidFill>
              </a:rPr>
              <a:t>Data Logger</a:t>
            </a:r>
          </a:p>
        </p:txBody>
      </p:sp>
      <p:cxnSp>
        <p:nvCxnSpPr>
          <p:cNvPr id="60" name="Straight Arrow Connector 59">
            <a:extLst>
              <a:ext uri="{FF2B5EF4-FFF2-40B4-BE49-F238E27FC236}">
                <a16:creationId xmlns:a16="http://schemas.microsoft.com/office/drawing/2014/main" id="{77171078-C405-EFFE-9BF4-FBCAB33034CC}"/>
              </a:ext>
            </a:extLst>
          </p:cNvPr>
          <p:cNvCxnSpPr>
            <a:cxnSpLocks/>
          </p:cNvCxnSpPr>
          <p:nvPr/>
        </p:nvCxnSpPr>
        <p:spPr>
          <a:xfrm>
            <a:off x="3406346" y="6075405"/>
            <a:ext cx="0" cy="100501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pic>
        <p:nvPicPr>
          <p:cNvPr id="63" name="Picture 62" descr="A purple letter on a white background&#10;&#10;Description automatically generated">
            <a:extLst>
              <a:ext uri="{FF2B5EF4-FFF2-40B4-BE49-F238E27FC236}">
                <a16:creationId xmlns:a16="http://schemas.microsoft.com/office/drawing/2014/main" id="{7BB5241E-12B2-50CD-66AD-D6E4E1D0CAE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109302" y="3735609"/>
            <a:ext cx="818892" cy="208958"/>
          </a:xfrm>
          <a:prstGeom prst="rect">
            <a:avLst/>
          </a:prstGeom>
        </p:spPr>
      </p:pic>
      <p:pic>
        <p:nvPicPr>
          <p:cNvPr id="65" name="Picture 64" descr="A blue and yellow logo&#10;&#10;Description automatically generated">
            <a:extLst>
              <a:ext uri="{FF2B5EF4-FFF2-40B4-BE49-F238E27FC236}">
                <a16:creationId xmlns:a16="http://schemas.microsoft.com/office/drawing/2014/main" id="{862A4731-1A7C-4187-7C29-D883BCDA287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089203" y="4148342"/>
            <a:ext cx="859091" cy="292314"/>
          </a:xfrm>
          <a:prstGeom prst="rect">
            <a:avLst/>
          </a:prstGeom>
        </p:spPr>
      </p:pic>
      <p:pic>
        <p:nvPicPr>
          <p:cNvPr id="66" name="Picture 65" descr="A picture containing text, clipart&#10;&#10;Description automatically generated">
            <a:extLst>
              <a:ext uri="{FF2B5EF4-FFF2-40B4-BE49-F238E27FC236}">
                <a16:creationId xmlns:a16="http://schemas.microsoft.com/office/drawing/2014/main" id="{06100300-D010-3814-6B31-323B8A473AF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062357" y="4644431"/>
            <a:ext cx="912783" cy="236494"/>
          </a:xfrm>
          <a:prstGeom prst="rect">
            <a:avLst/>
          </a:prstGeom>
          <a:ln>
            <a:solidFill>
              <a:srgbClr val="7030A0"/>
            </a:solidFill>
          </a:ln>
        </p:spPr>
      </p:pic>
      <p:pic>
        <p:nvPicPr>
          <p:cNvPr id="3" name="Picture 2" descr="A machine in a factory&#10;&#10;Description automatically generated">
            <a:extLst>
              <a:ext uri="{FF2B5EF4-FFF2-40B4-BE49-F238E27FC236}">
                <a16:creationId xmlns:a16="http://schemas.microsoft.com/office/drawing/2014/main" id="{57DBBAB5-02DC-11A5-ACE7-853928611F6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307567" y="1148074"/>
            <a:ext cx="1863158" cy="2484812"/>
          </a:xfrm>
          <a:prstGeom prst="rect">
            <a:avLst/>
          </a:prstGeom>
        </p:spPr>
      </p:pic>
      <p:cxnSp>
        <p:nvCxnSpPr>
          <p:cNvPr id="37" name="Straight Arrow Connector 36">
            <a:extLst>
              <a:ext uri="{FF2B5EF4-FFF2-40B4-BE49-F238E27FC236}">
                <a16:creationId xmlns:a16="http://schemas.microsoft.com/office/drawing/2014/main" id="{AFB458D9-0502-97BA-4817-93EE72E76274}"/>
              </a:ext>
            </a:extLst>
          </p:cNvPr>
          <p:cNvCxnSpPr>
            <a:cxnSpLocks/>
          </p:cNvCxnSpPr>
          <p:nvPr/>
        </p:nvCxnSpPr>
        <p:spPr>
          <a:xfrm flipV="1">
            <a:off x="3842951" y="1742303"/>
            <a:ext cx="1235676" cy="803189"/>
          </a:xfrm>
          <a:prstGeom prst="straightConnector1">
            <a:avLst/>
          </a:prstGeom>
          <a:ln>
            <a:solidFill>
              <a:srgbClr val="007DC2"/>
            </a:solidFill>
            <a:tailEnd type="triangle"/>
          </a:ln>
        </p:spPr>
        <p:style>
          <a:lnRef idx="1">
            <a:schemeClr val="accent1"/>
          </a:lnRef>
          <a:fillRef idx="0">
            <a:schemeClr val="accent1"/>
          </a:fillRef>
          <a:effectRef idx="0">
            <a:schemeClr val="accent1"/>
          </a:effectRef>
          <a:fontRef idx="minor">
            <a:schemeClr val="tx1"/>
          </a:fontRef>
        </p:style>
      </p:cxnSp>
      <p:sp>
        <p:nvSpPr>
          <p:cNvPr id="2" name="Action Button: Go Home 1">
            <a:hlinkClick r:id="rId12" action="ppaction://hlinksldjump" highlightClick="1"/>
            <a:hlinkHover r:id="" action="ppaction://hlinkshowjump?jump=firstslide"/>
            <a:extLst>
              <a:ext uri="{FF2B5EF4-FFF2-40B4-BE49-F238E27FC236}">
                <a16:creationId xmlns:a16="http://schemas.microsoft.com/office/drawing/2014/main" id="{D5AD8588-5AC5-3567-AFBE-FCF2F40EDEAF}"/>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825205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0A14BB4-FFD1-A710-8D00-ECB9058D5B25}"/>
              </a:ext>
            </a:extLst>
          </p:cNvPr>
          <p:cNvPicPr>
            <a:picLocks noChangeAspect="1"/>
          </p:cNvPicPr>
          <p:nvPr/>
        </p:nvPicPr>
        <p:blipFill>
          <a:blip r:embed="rId2"/>
          <a:stretch>
            <a:fillRect/>
          </a:stretch>
        </p:blipFill>
        <p:spPr>
          <a:xfrm>
            <a:off x="4775137" y="3647634"/>
            <a:ext cx="1843987" cy="3517067"/>
          </a:xfrm>
          <a:prstGeom prst="rect">
            <a:avLst/>
          </a:prstGeom>
        </p:spPr>
      </p:pic>
      <p:pic>
        <p:nvPicPr>
          <p:cNvPr id="4" name="Picture 2">
            <a:extLst>
              <a:ext uri="{FF2B5EF4-FFF2-40B4-BE49-F238E27FC236}">
                <a16:creationId xmlns:a16="http://schemas.microsoft.com/office/drawing/2014/main" id="{153159FF-F794-81C4-EC08-2F9D9ACA79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620"/>
          <a:stretch/>
        </p:blipFill>
        <p:spPr bwMode="auto">
          <a:xfrm>
            <a:off x="-37633" y="8492613"/>
            <a:ext cx="6922929" cy="1413387"/>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5" name="Picture 4">
            <a:extLst>
              <a:ext uri="{FF2B5EF4-FFF2-40B4-BE49-F238E27FC236}">
                <a16:creationId xmlns:a16="http://schemas.microsoft.com/office/drawing/2014/main" id="{CA22E394-2512-5BC7-7505-DD7550B98CE1}"/>
              </a:ext>
            </a:extLst>
          </p:cNvPr>
          <p:cNvPicPr>
            <a:picLocks noChangeAspect="1"/>
          </p:cNvPicPr>
          <p:nvPr/>
        </p:nvPicPr>
        <p:blipFill>
          <a:blip r:embed="rId4"/>
          <a:stretch>
            <a:fillRect/>
          </a:stretch>
        </p:blipFill>
        <p:spPr>
          <a:xfrm>
            <a:off x="252381" y="7348196"/>
            <a:ext cx="6342899" cy="953008"/>
          </a:xfrm>
          <a:prstGeom prst="rect">
            <a:avLst/>
          </a:prstGeom>
        </p:spPr>
      </p:pic>
      <p:sp>
        <p:nvSpPr>
          <p:cNvPr id="6" name="Title 1">
            <a:extLst>
              <a:ext uri="{FF2B5EF4-FFF2-40B4-BE49-F238E27FC236}">
                <a16:creationId xmlns:a16="http://schemas.microsoft.com/office/drawing/2014/main" id="{AA0E7F31-F937-5CC7-4280-30E5EC98141B}"/>
              </a:ext>
            </a:extLst>
          </p:cNvPr>
          <p:cNvSpPr>
            <a:spLocks noGrp="1"/>
          </p:cNvSpPr>
          <p:nvPr>
            <p:ph type="title"/>
          </p:nvPr>
        </p:nvSpPr>
        <p:spPr>
          <a:xfrm>
            <a:off x="757374" y="177136"/>
            <a:ext cx="3151573" cy="617640"/>
          </a:xfrm>
        </p:spPr>
        <p:txBody>
          <a:bodyPr/>
          <a:lstStyle/>
          <a:p>
            <a:r>
              <a:rPr lang="en-IE" sz="2400" dirty="0">
                <a:solidFill>
                  <a:srgbClr val="0D496B"/>
                </a:solidFill>
                <a:latin typeface="AvenirNext LT Pro Bold" panose="020B0804020202020204"/>
              </a:rPr>
              <a:t>Company Overview</a:t>
            </a:r>
          </a:p>
        </p:txBody>
      </p:sp>
      <p:pic>
        <p:nvPicPr>
          <p:cNvPr id="7" name="Picture 6">
            <a:extLst>
              <a:ext uri="{FF2B5EF4-FFF2-40B4-BE49-F238E27FC236}">
                <a16:creationId xmlns:a16="http://schemas.microsoft.com/office/drawing/2014/main" id="{03F207BF-3715-36E6-C4F6-E7890FF3E9E6}"/>
              </a:ext>
            </a:extLst>
          </p:cNvPr>
          <p:cNvPicPr>
            <a:picLocks noChangeAspect="1"/>
          </p:cNvPicPr>
          <p:nvPr/>
        </p:nvPicPr>
        <p:blipFill>
          <a:blip r:embed="rId5"/>
          <a:stretch>
            <a:fillRect/>
          </a:stretch>
        </p:blipFill>
        <p:spPr>
          <a:xfrm>
            <a:off x="1245924" y="4095771"/>
            <a:ext cx="2798153" cy="548501"/>
          </a:xfrm>
          <a:prstGeom prst="rect">
            <a:avLst/>
          </a:prstGeom>
        </p:spPr>
      </p:pic>
      <p:sp>
        <p:nvSpPr>
          <p:cNvPr id="8" name="Text Box 2">
            <a:extLst>
              <a:ext uri="{FF2B5EF4-FFF2-40B4-BE49-F238E27FC236}">
                <a16:creationId xmlns:a16="http://schemas.microsoft.com/office/drawing/2014/main" id="{78F02473-375C-22F9-4EF9-4577638AC789}"/>
              </a:ext>
            </a:extLst>
          </p:cNvPr>
          <p:cNvSpPr txBox="1">
            <a:spLocks noChangeArrowheads="1"/>
          </p:cNvSpPr>
          <p:nvPr/>
        </p:nvSpPr>
        <p:spPr bwMode="auto">
          <a:xfrm>
            <a:off x="420432" y="870973"/>
            <a:ext cx="4463736" cy="289580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dirty="0">
                <a:ln>
                  <a:noFill/>
                </a:ln>
                <a:solidFill>
                  <a:srgbClr val="0E4E6E"/>
                </a:solidFill>
                <a:effectLst/>
                <a:latin typeface="AvenirNext LT Pro Bold" charset="0"/>
              </a:rPr>
              <a:t>We understand manufacturing:</a:t>
            </a:r>
            <a:endParaRPr kumimoji="0" lang="en-US" altLang="en-US" sz="1200" b="1" i="0" u="none" strike="noStrike" cap="none" normalizeH="0" baseline="0" dirty="0">
              <a:ln>
                <a:noFill/>
              </a:ln>
              <a:solidFill>
                <a:srgbClr val="0E4E6E"/>
              </a:solidFill>
              <a:effectLst/>
              <a:latin typeface="AvenirNext LT Pro Bold"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IE" altLang="en-US" sz="1200" b="0" i="0" u="none" strike="noStrike" cap="none" normalizeH="0" baseline="0" dirty="0">
                <a:ln>
                  <a:noFill/>
                </a:ln>
                <a:solidFill>
                  <a:srgbClr val="0E4E6E"/>
                </a:solidFill>
                <a:effectLst/>
                <a:latin typeface="AvenirNext LT Pro Bold" charset="0"/>
              </a:rPr>
              <a:t>SmartFactory is led by a strong experienced team of engineers, with more than 25 years of experience in the manufacture of FMCG’s, Medical Devices and Electronics.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IE" altLang="en-US" sz="1200" b="0" i="0" u="none" strike="noStrike" cap="none" normalizeH="0" baseline="0" dirty="0">
              <a:ln>
                <a:noFill/>
              </a:ln>
              <a:solidFill>
                <a:srgbClr val="0E4E6E"/>
              </a:solidFill>
              <a:effectLst/>
              <a:latin typeface="AvenirNext LT Pro Bold"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dirty="0">
                <a:ln>
                  <a:noFill/>
                </a:ln>
                <a:solidFill>
                  <a:srgbClr val="0E4E6E"/>
                </a:solidFill>
                <a:effectLst/>
                <a:latin typeface="AvenirNext LT Pro Bold" charset="0"/>
              </a:rPr>
              <a:t>Modular &amp; Scalable:</a:t>
            </a:r>
            <a:endParaRPr kumimoji="0" lang="en-US" altLang="en-US" sz="1200" b="1" i="0" u="none" strike="noStrike" cap="none" normalizeH="0" baseline="0" dirty="0">
              <a:ln>
                <a:noFill/>
              </a:ln>
              <a:solidFill>
                <a:srgbClr val="0E4E6E"/>
              </a:solidFill>
              <a:effectLst/>
              <a:latin typeface="AvenirNext LT Pro Bold"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IE" altLang="en-US" sz="1200" b="0" i="0" u="none" strike="noStrike" cap="none" normalizeH="0" baseline="0" dirty="0">
                <a:ln>
                  <a:noFill/>
                </a:ln>
                <a:solidFill>
                  <a:srgbClr val="0E4E6E"/>
                </a:solidFill>
                <a:effectLst/>
                <a:latin typeface="AvenirNext LT Pro Bold" charset="0"/>
              </a:rPr>
              <a:t>The modular solution includes: </a:t>
            </a:r>
          </a:p>
          <a:p>
            <a:pPr lvl="0" eaLnBrk="0" fontAlgn="base" hangingPunct="0">
              <a:spcBef>
                <a:spcPct val="0"/>
              </a:spcBef>
              <a:spcAft>
                <a:spcPct val="0"/>
              </a:spcAft>
            </a:pPr>
            <a:r>
              <a:rPr lang="en-IE" altLang="en-US" sz="1200" dirty="0">
                <a:solidFill>
                  <a:srgbClr val="0E4E6E"/>
                </a:solidFill>
                <a:latin typeface="AvenirNext LT Pro Bold" charset="0"/>
              </a:rPr>
              <a:t>	</a:t>
            </a:r>
            <a:r>
              <a:rPr kumimoji="0" lang="en-IE" altLang="en-US" sz="1200" b="0" i="0" u="none" strike="noStrike" cap="none" normalizeH="0" baseline="0" dirty="0">
                <a:ln>
                  <a:noFill/>
                </a:ln>
                <a:solidFill>
                  <a:srgbClr val="0E4E6E"/>
                </a:solidFill>
                <a:effectLst/>
                <a:latin typeface="AvenirNext LT Pro Bold" charset="0"/>
              </a:rPr>
              <a:t>OEE/Downtime Analysis </a:t>
            </a:r>
            <a:r>
              <a:rPr kumimoji="0" lang="en-IE" altLang="en-US" sz="1200" b="0" i="0" u="none" strike="noStrike" cap="none" normalizeH="0" baseline="0" noProof="1">
                <a:ln>
                  <a:noFill/>
                </a:ln>
                <a:solidFill>
                  <a:srgbClr val="0E4E6E"/>
                </a:solidFill>
                <a:effectLst/>
                <a:latin typeface="Wingdings" panose="05000000000000000000" pitchFamily="2" charset="2"/>
              </a:rPr>
              <a:t>ü	</a:t>
            </a:r>
            <a:r>
              <a:rPr kumimoji="0" lang="en-IE" altLang="en-US" sz="1200" b="0" i="0" u="none" strike="noStrike" cap="none" normalizeH="0" baseline="0" dirty="0">
                <a:ln>
                  <a:noFill/>
                </a:ln>
                <a:solidFill>
                  <a:srgbClr val="0E4E6E"/>
                </a:solidFill>
                <a:effectLst/>
                <a:latin typeface="AvenirNext LT Pro Bold" charset="0"/>
              </a:rPr>
              <a:t>Data Visualisation </a:t>
            </a:r>
            <a:r>
              <a:rPr kumimoji="0" lang="en-IE" altLang="en-US" sz="1200" b="0" i="0" u="none" strike="noStrike" cap="none" normalizeH="0" baseline="0" noProof="1">
                <a:ln>
                  <a:noFill/>
                </a:ln>
                <a:solidFill>
                  <a:srgbClr val="0E4E6E"/>
                </a:solidFill>
                <a:effectLst/>
                <a:latin typeface="Wingdings" panose="05000000000000000000" pitchFamily="2" charset="2"/>
              </a:rPr>
              <a:t>ü</a:t>
            </a:r>
            <a:r>
              <a:rPr kumimoji="0" lang="en-IE" altLang="en-US" sz="1200" b="0" i="0" u="none" strike="noStrike" cap="none" normalizeH="0" baseline="0" dirty="0">
                <a:ln>
                  <a:noFill/>
                </a:ln>
                <a:solidFill>
                  <a:srgbClr val="0E4E6E"/>
                </a:solidFill>
                <a:effectLst/>
                <a:latin typeface="AvenirNext LT Pro Bold" charset="0"/>
              </a:rPr>
              <a:t> 	</a:t>
            </a:r>
          </a:p>
          <a:p>
            <a:pPr lvl="0" eaLnBrk="0" fontAlgn="base" hangingPunct="0">
              <a:spcBef>
                <a:spcPct val="0"/>
              </a:spcBef>
              <a:spcAft>
                <a:spcPct val="0"/>
              </a:spcAft>
            </a:pPr>
            <a:r>
              <a:rPr lang="en-IE" altLang="en-US" sz="1200" dirty="0">
                <a:solidFill>
                  <a:srgbClr val="0E4E6E"/>
                </a:solidFill>
                <a:latin typeface="AvenirNext LT Pro Bold" charset="0"/>
              </a:rPr>
              <a:t>	</a:t>
            </a:r>
            <a:r>
              <a:rPr kumimoji="0" lang="en-IE" altLang="en-US" sz="1200" b="0" i="0" u="none" strike="noStrike" cap="none" normalizeH="0" baseline="0" dirty="0">
                <a:ln>
                  <a:noFill/>
                </a:ln>
                <a:solidFill>
                  <a:srgbClr val="0E4E6E"/>
                </a:solidFill>
                <a:effectLst/>
                <a:latin typeface="AvenirNext LT Pro Bold" charset="0"/>
              </a:rPr>
              <a:t>Data Analytics/AI </a:t>
            </a:r>
            <a:r>
              <a:rPr kumimoji="0" lang="en-IE" altLang="en-US" sz="1200" b="0" i="0" u="none" strike="noStrike" cap="none" normalizeH="0" baseline="0" noProof="1">
                <a:ln>
                  <a:noFill/>
                </a:ln>
                <a:solidFill>
                  <a:srgbClr val="0E4E6E"/>
                </a:solidFill>
                <a:effectLst/>
                <a:latin typeface="Wingdings" panose="05000000000000000000" pitchFamily="2" charset="2"/>
              </a:rPr>
              <a:t>ü		</a:t>
            </a:r>
            <a:r>
              <a:rPr lang="en-IE" altLang="en-US" sz="1200" dirty="0">
                <a:solidFill>
                  <a:srgbClr val="0E4E6E"/>
                </a:solidFill>
                <a:latin typeface="AvenirNext LT Pro Bold" charset="0"/>
              </a:rPr>
              <a:t>Digital Workflows </a:t>
            </a:r>
            <a:r>
              <a:rPr lang="en-IE" altLang="en-US" sz="1200" noProof="1">
                <a:solidFill>
                  <a:srgbClr val="0E4E6E"/>
                </a:solidFill>
                <a:latin typeface="Wingdings" panose="05000000000000000000" pitchFamily="2" charset="2"/>
              </a:rPr>
              <a:t>ü</a:t>
            </a:r>
            <a:endParaRPr kumimoji="0" lang="en-IE" altLang="en-US" sz="1200" b="0" i="0" u="none" strike="noStrike" cap="none" normalizeH="0" baseline="0" dirty="0">
              <a:ln>
                <a:noFill/>
              </a:ln>
              <a:solidFill>
                <a:srgbClr val="0E4E6E"/>
              </a:solidFill>
              <a:effectLst/>
              <a:latin typeface="AvenirNext LT Pro Bold" charset="0"/>
            </a:endParaRPr>
          </a:p>
          <a:p>
            <a:pPr eaLnBrk="0" fontAlgn="base" hangingPunct="0">
              <a:spcBef>
                <a:spcPct val="0"/>
              </a:spcBef>
              <a:spcAft>
                <a:spcPct val="0"/>
              </a:spcAft>
            </a:pPr>
            <a:r>
              <a:rPr kumimoji="0" lang="en-IE" altLang="en-US" sz="1200" b="0" i="0" u="none" strike="noStrike" cap="none" normalizeH="0" baseline="0" dirty="0">
                <a:ln>
                  <a:noFill/>
                </a:ln>
                <a:solidFill>
                  <a:srgbClr val="0E4E6E"/>
                </a:solidFill>
                <a:effectLst/>
                <a:latin typeface="AvenirNext LT Pro Bold" charset="0"/>
              </a:rPr>
              <a:t>	Condition Monitoring </a:t>
            </a:r>
            <a:r>
              <a:rPr kumimoji="0" lang="en-IE" altLang="en-US" sz="1200" b="0" i="0" u="none" strike="noStrike" cap="none" normalizeH="0" baseline="0" noProof="1">
                <a:ln>
                  <a:noFill/>
                </a:ln>
                <a:solidFill>
                  <a:srgbClr val="0E4E6E"/>
                </a:solidFill>
                <a:effectLst/>
                <a:latin typeface="Wingdings" panose="05000000000000000000" pitchFamily="2" charset="2"/>
              </a:rPr>
              <a:t>ü</a:t>
            </a:r>
            <a:r>
              <a:rPr lang="en-US" altLang="en-US" sz="1200" noProof="1">
                <a:solidFill>
                  <a:srgbClr val="0E4E6E"/>
                </a:solidFill>
                <a:latin typeface="Wingdings" panose="05000000000000000000" pitchFamily="2" charset="2"/>
              </a:rPr>
              <a:t>	</a:t>
            </a:r>
            <a:r>
              <a:rPr lang="en-IE" altLang="en-US" sz="1200" dirty="0">
                <a:solidFill>
                  <a:srgbClr val="0E4E6E"/>
                </a:solidFill>
                <a:latin typeface="AvenirNext LT Pro Bold" charset="0"/>
              </a:rPr>
              <a:t>Real-Time Locating </a:t>
            </a:r>
            <a:r>
              <a:rPr lang="en-IE" altLang="en-US" sz="1200" noProof="1">
                <a:solidFill>
                  <a:srgbClr val="0E4E6E"/>
                </a:solidFill>
                <a:latin typeface="Wingdings" panose="05000000000000000000" pitchFamily="2" charset="2"/>
              </a:rPr>
              <a:t>ü</a:t>
            </a:r>
          </a:p>
          <a:p>
            <a:pPr eaLnBrk="0" fontAlgn="base" hangingPunct="0">
              <a:spcBef>
                <a:spcPct val="0"/>
              </a:spcBef>
              <a:spcAft>
                <a:spcPct val="0"/>
              </a:spcAft>
            </a:pPr>
            <a:r>
              <a:rPr lang="en-IE" altLang="en-US" sz="1200" noProof="1">
                <a:solidFill>
                  <a:srgbClr val="0E4E6E"/>
                </a:solidFill>
                <a:latin typeface="Wingdings" panose="05000000000000000000" pitchFamily="2" charset="2"/>
              </a:rPr>
              <a:t>	</a:t>
            </a:r>
            <a:r>
              <a:rPr lang="en-IE" altLang="en-US" sz="1200" noProof="1">
                <a:solidFill>
                  <a:srgbClr val="0E4E6E"/>
                </a:solidFill>
                <a:latin typeface="AvenirNext LT Pro Bold" charset="0"/>
              </a:rPr>
              <a:t>Pick-to-Light </a:t>
            </a:r>
            <a:r>
              <a:rPr kumimoji="0" lang="en-IE" altLang="en-US" sz="1200" b="0" i="0" u="none" strike="noStrike" cap="none" normalizeH="0" baseline="0" noProof="1">
                <a:ln>
                  <a:noFill/>
                </a:ln>
                <a:solidFill>
                  <a:srgbClr val="0E4E6E"/>
                </a:solidFill>
                <a:effectLst/>
                <a:latin typeface="Wingdings" panose="05000000000000000000" pitchFamily="2" charset="2"/>
              </a:rPr>
              <a:t>ü		</a:t>
            </a:r>
            <a:r>
              <a:rPr lang="en-IE" altLang="en-US" sz="1200" noProof="1">
                <a:solidFill>
                  <a:srgbClr val="0E4E6E"/>
                </a:solidFill>
                <a:latin typeface="AvenirNext LT Pro Bold" charset="0"/>
              </a:rPr>
              <a:t>Energy Monitoring </a:t>
            </a:r>
            <a:r>
              <a:rPr lang="en-IE" altLang="en-US" sz="1200" noProof="1">
                <a:solidFill>
                  <a:srgbClr val="0E4E6E"/>
                </a:solidFill>
                <a:latin typeface="Wingdings" panose="05000000000000000000" pitchFamily="2" charset="2"/>
              </a:rPr>
              <a:t>ü</a:t>
            </a:r>
          </a:p>
          <a:p>
            <a:pPr eaLnBrk="0" fontAlgn="base" hangingPunct="0">
              <a:spcBef>
                <a:spcPct val="0"/>
              </a:spcBef>
              <a:spcAft>
                <a:spcPct val="0"/>
              </a:spcAft>
            </a:pPr>
            <a:r>
              <a:rPr kumimoji="0" lang="en-IE" altLang="en-US" sz="1200" b="0" i="0" u="none" strike="noStrike" cap="none" normalizeH="0" baseline="0" noProof="1">
                <a:ln>
                  <a:noFill/>
                </a:ln>
                <a:solidFill>
                  <a:srgbClr val="0E4E6E"/>
                </a:solidFill>
                <a:effectLst/>
                <a:latin typeface="Wingdings" panose="05000000000000000000" pitchFamily="2" charset="2"/>
              </a:rPr>
              <a:t>		</a:t>
            </a:r>
            <a:r>
              <a:rPr lang="en-IE" altLang="en-US" sz="1200" noProof="1">
                <a:solidFill>
                  <a:srgbClr val="0E4E6E"/>
                </a:solidFill>
                <a:latin typeface="AvenirNext LT Pro Bold" charset="0"/>
              </a:rPr>
              <a:t>Digital Daily Management System </a:t>
            </a:r>
            <a:r>
              <a:rPr lang="en-IE" altLang="en-US" sz="1200" noProof="1">
                <a:solidFill>
                  <a:srgbClr val="0E4E6E"/>
                </a:solidFill>
                <a:latin typeface="Wingdings" panose="05000000000000000000" pitchFamily="2" charset="2"/>
              </a:rPr>
              <a:t>ü</a:t>
            </a:r>
            <a:endParaRPr lang="en-IE" altLang="en-US" sz="1200" dirty="0">
              <a:solidFill>
                <a:srgbClr val="0E4E6E"/>
              </a:solidFill>
              <a:latin typeface="AvenirNext LT Pro Bold"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IE" altLang="en-US" sz="1200" b="0" i="0" u="none" strike="noStrike" cap="none" normalizeH="0" baseline="0" dirty="0">
              <a:ln>
                <a:noFill/>
              </a:ln>
              <a:solidFill>
                <a:srgbClr val="0E4E6E"/>
              </a:solidFill>
              <a:effectLst/>
              <a:latin typeface="AvenirNext LT Pro Bold"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IE" altLang="en-US" sz="1200" b="0" i="0" u="none" strike="noStrike" cap="none" normalizeH="0" baseline="0" dirty="0">
                <a:ln>
                  <a:noFill/>
                </a:ln>
                <a:solidFill>
                  <a:srgbClr val="0E4E6E"/>
                </a:solidFill>
                <a:effectLst/>
                <a:latin typeface="AvenirNext LT Pro Bold" charset="0"/>
              </a:rPr>
              <a:t>The SmartFactory team can provide an end-to-end solution including IIoT readiness assessment, business value and RoI appraisal, design, engineering consultancy, validation and industry-proven hardware.</a:t>
            </a:r>
            <a:endParaRPr kumimoji="0" lang="en-IE" altLang="en-US" sz="1200" b="1" i="0" strike="noStrike" cap="none" normalizeH="0" baseline="0" dirty="0">
              <a:ln>
                <a:noFill/>
              </a:ln>
              <a:solidFill>
                <a:srgbClr val="0E4E6E"/>
              </a:solidFill>
              <a:effectLst/>
              <a:latin typeface="AvenirNext LT Pro Bold"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IE" altLang="en-US" sz="1100" b="0" i="0" strike="noStrike" cap="none" normalizeH="0" baseline="0" dirty="0">
              <a:ln>
                <a:noFill/>
              </a:ln>
              <a:solidFill>
                <a:srgbClr val="036CB6"/>
              </a:solidFill>
              <a:effectLst/>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IE" altLang="en-US" sz="1100" b="0" i="0" strike="noStrike" cap="none" normalizeH="0" baseline="0" dirty="0">
              <a:ln>
                <a:noFill/>
              </a:ln>
              <a:solidFill>
                <a:srgbClr val="000000"/>
              </a:solidFill>
              <a:effectLst/>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245DBDB4-92F1-5025-7599-E0F49D67D11F}"/>
              </a:ext>
            </a:extLst>
          </p:cNvPr>
          <p:cNvSpPr txBox="1"/>
          <p:nvPr/>
        </p:nvSpPr>
        <p:spPr>
          <a:xfrm>
            <a:off x="350706" y="6621299"/>
            <a:ext cx="1843987" cy="276999"/>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IE" altLang="en-US" sz="1200" b="1" i="0" u="none" strike="noStrike" cap="none" normalizeH="0" baseline="0" dirty="0">
                <a:ln>
                  <a:noFill/>
                </a:ln>
                <a:solidFill>
                  <a:srgbClr val="0E4E6E"/>
                </a:solidFill>
                <a:effectLst/>
                <a:latin typeface="AvenirNext LT Pro Bold" charset="0"/>
              </a:rPr>
              <a:t>In the following regions:</a:t>
            </a:r>
          </a:p>
        </p:txBody>
      </p:sp>
      <p:pic>
        <p:nvPicPr>
          <p:cNvPr id="11" name="Picture 10">
            <a:extLst>
              <a:ext uri="{FF2B5EF4-FFF2-40B4-BE49-F238E27FC236}">
                <a16:creationId xmlns:a16="http://schemas.microsoft.com/office/drawing/2014/main" id="{F38F66D4-24BF-8A71-DB6B-543B905D22B9}"/>
              </a:ext>
            </a:extLst>
          </p:cNvPr>
          <p:cNvPicPr>
            <a:picLocks noChangeAspect="1"/>
          </p:cNvPicPr>
          <p:nvPr/>
        </p:nvPicPr>
        <p:blipFill>
          <a:blip r:embed="rId6"/>
          <a:stretch>
            <a:fillRect/>
          </a:stretch>
        </p:blipFill>
        <p:spPr>
          <a:xfrm>
            <a:off x="2078508" y="6697496"/>
            <a:ext cx="1968279" cy="157462"/>
          </a:xfrm>
          <a:prstGeom prst="rect">
            <a:avLst/>
          </a:prstGeom>
        </p:spPr>
      </p:pic>
      <p:sp>
        <p:nvSpPr>
          <p:cNvPr id="12" name="Rectangle 11">
            <a:extLst>
              <a:ext uri="{FF2B5EF4-FFF2-40B4-BE49-F238E27FC236}">
                <a16:creationId xmlns:a16="http://schemas.microsoft.com/office/drawing/2014/main" id="{FFE1E685-C7C3-3C11-8682-3FD96C3E6184}"/>
              </a:ext>
            </a:extLst>
          </p:cNvPr>
          <p:cNvSpPr/>
          <p:nvPr/>
        </p:nvSpPr>
        <p:spPr>
          <a:xfrm>
            <a:off x="2436628" y="7060459"/>
            <a:ext cx="1607449" cy="261610"/>
          </a:xfrm>
          <a:prstGeom prst="rect">
            <a:avLst/>
          </a:prstGeom>
        </p:spPr>
        <p:txBody>
          <a:bodyPr wrap="square">
            <a:spAutoFit/>
          </a:bodyPr>
          <a:lstStyle/>
          <a:p>
            <a:pPr lvl="0" algn="ctr" eaLnBrk="0" fontAlgn="base" hangingPunct="0">
              <a:spcBef>
                <a:spcPct val="0"/>
              </a:spcBef>
              <a:spcAft>
                <a:spcPct val="0"/>
              </a:spcAft>
            </a:pPr>
            <a:r>
              <a:rPr lang="en-IE" altLang="en-US" sz="1100" b="1" dirty="0">
                <a:solidFill>
                  <a:srgbClr val="0E4E6E"/>
                </a:solidFill>
                <a:latin typeface="AvenirNext LT Pro Bold" charset="0"/>
              </a:rPr>
              <a:t>World-class partners:</a:t>
            </a:r>
          </a:p>
        </p:txBody>
      </p:sp>
      <p:sp>
        <p:nvSpPr>
          <p:cNvPr id="13" name="TextBox 12">
            <a:extLst>
              <a:ext uri="{FF2B5EF4-FFF2-40B4-BE49-F238E27FC236}">
                <a16:creationId xmlns:a16="http://schemas.microsoft.com/office/drawing/2014/main" id="{2729ABF5-7530-E45A-C8B9-EB03AF55501B}"/>
              </a:ext>
            </a:extLst>
          </p:cNvPr>
          <p:cNvSpPr txBox="1"/>
          <p:nvPr/>
        </p:nvSpPr>
        <p:spPr>
          <a:xfrm>
            <a:off x="350706" y="4983519"/>
            <a:ext cx="2648009" cy="276999"/>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IE" altLang="en-US" sz="1200" b="1" dirty="0">
                <a:solidFill>
                  <a:srgbClr val="0E4E6E"/>
                </a:solidFill>
                <a:latin typeface="AvenirNext LT Pro Bold" charset="0"/>
              </a:rPr>
              <a:t>Working with world-class clients</a:t>
            </a:r>
            <a:r>
              <a:rPr kumimoji="0" lang="en-IE" altLang="en-US" sz="1200" b="1" i="0" u="none" strike="noStrike" cap="none" normalizeH="0" baseline="0" dirty="0">
                <a:ln>
                  <a:noFill/>
                </a:ln>
                <a:solidFill>
                  <a:srgbClr val="0E4E6E"/>
                </a:solidFill>
                <a:effectLst/>
                <a:latin typeface="AvenirNext LT Pro Bold" charset="0"/>
              </a:rPr>
              <a:t>:</a:t>
            </a:r>
          </a:p>
        </p:txBody>
      </p:sp>
      <p:pic>
        <p:nvPicPr>
          <p:cNvPr id="28" name="Picture 27">
            <a:extLst>
              <a:ext uri="{FF2B5EF4-FFF2-40B4-BE49-F238E27FC236}">
                <a16:creationId xmlns:a16="http://schemas.microsoft.com/office/drawing/2014/main" id="{9F3F184F-FEF5-D5C2-C813-89141610B3D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06157" y="2309582"/>
            <a:ext cx="687028" cy="958223"/>
          </a:xfrm>
          <a:prstGeom prst="rect">
            <a:avLst/>
          </a:prstGeom>
        </p:spPr>
      </p:pic>
      <p:sp>
        <p:nvSpPr>
          <p:cNvPr id="3" name="Action Button: Go Home 2">
            <a:hlinkClick r:id="rId8" action="ppaction://hlinksldjump" highlightClick="1"/>
            <a:hlinkHover r:id="" action="ppaction://hlinkshowjump?jump=firstslide"/>
            <a:extLst>
              <a:ext uri="{FF2B5EF4-FFF2-40B4-BE49-F238E27FC236}">
                <a16:creationId xmlns:a16="http://schemas.microsoft.com/office/drawing/2014/main" id="{34B023AE-AA26-0F9D-62A3-386ABAA9330C}"/>
              </a:ext>
            </a:extLst>
          </p:cNvPr>
          <p:cNvSpPr/>
          <p:nvPr/>
        </p:nvSpPr>
        <p:spPr>
          <a:xfrm>
            <a:off x="2283861" y="8969806"/>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3" name="Picture 22" descr="A blue and black logo&#10;&#10;Description automatically generated">
            <a:extLst>
              <a:ext uri="{FF2B5EF4-FFF2-40B4-BE49-F238E27FC236}">
                <a16:creationId xmlns:a16="http://schemas.microsoft.com/office/drawing/2014/main" id="{B76CBC5E-815A-A73C-F76C-3CCDC59C061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38106" y="1038391"/>
            <a:ext cx="1098984" cy="730013"/>
          </a:xfrm>
          <a:prstGeom prst="rect">
            <a:avLst/>
          </a:prstGeom>
        </p:spPr>
      </p:pic>
      <p:pic>
        <p:nvPicPr>
          <p:cNvPr id="29" name="Picture 28">
            <a:extLst>
              <a:ext uri="{FF2B5EF4-FFF2-40B4-BE49-F238E27FC236}">
                <a16:creationId xmlns:a16="http://schemas.microsoft.com/office/drawing/2014/main" id="{370062C5-C37A-1AFA-B8F3-C73E2F7528E6}"/>
              </a:ext>
            </a:extLst>
          </p:cNvPr>
          <p:cNvPicPr>
            <a:picLocks noChangeAspect="1"/>
          </p:cNvPicPr>
          <p:nvPr/>
        </p:nvPicPr>
        <p:blipFill>
          <a:blip r:embed="rId10"/>
          <a:stretch>
            <a:fillRect/>
          </a:stretch>
        </p:blipFill>
        <p:spPr>
          <a:xfrm>
            <a:off x="478329" y="5312188"/>
            <a:ext cx="3630518" cy="1192338"/>
          </a:xfrm>
          <a:prstGeom prst="rect">
            <a:avLst/>
          </a:prstGeom>
        </p:spPr>
      </p:pic>
    </p:spTree>
    <p:extLst>
      <p:ext uri="{BB962C8B-B14F-4D97-AF65-F5344CB8AC3E}">
        <p14:creationId xmlns:p14="http://schemas.microsoft.com/office/powerpoint/2010/main" val="3644327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49DF48A-C9F2-8B2A-F6A7-9966AE6D00F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C7B5950-AFA5-5350-BB59-AA9502097F24}"/>
              </a:ext>
            </a:extLst>
          </p:cNvPr>
          <p:cNvSpPr txBox="1"/>
          <p:nvPr/>
        </p:nvSpPr>
        <p:spPr>
          <a:xfrm>
            <a:off x="589840" y="606579"/>
            <a:ext cx="5902460" cy="1043812"/>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SmartFactory IIoT Connectivity Solutions</a:t>
            </a:r>
          </a:p>
          <a:p>
            <a:pPr>
              <a:lnSpc>
                <a:spcPct val="107000"/>
              </a:lnSpc>
              <a:spcAft>
                <a:spcPts val="300"/>
              </a:spcAft>
            </a:pPr>
            <a:r>
              <a:rPr lang="en-IE" sz="1400" dirty="0">
                <a:solidFill>
                  <a:srgbClr val="0A597A"/>
                </a:solidFill>
                <a:latin typeface="AvenirNext LT Pro Bold" panose="020B0804020202020204"/>
                <a:ea typeface="+mj-ea"/>
                <a:cs typeface="+mj-cs"/>
              </a:rPr>
              <a:t>Making Real-Time Data Acquisition Smart, Fast, Ultra-Reliable and Affordable</a:t>
            </a:r>
          </a:p>
          <a:p>
            <a:pPr>
              <a:lnSpc>
                <a:spcPct val="107000"/>
              </a:lnSpc>
              <a:spcAft>
                <a:spcPts val="300"/>
              </a:spcAft>
            </a:pPr>
            <a:endParaRPr lang="en-IE" sz="2000" b="1" dirty="0">
              <a:solidFill>
                <a:srgbClr val="0A597A"/>
              </a:solidFill>
              <a:latin typeface="AvenirNext LT Pro Bold" panose="020B0804020202020204"/>
              <a:ea typeface="+mj-ea"/>
              <a:cs typeface="+mj-cs"/>
            </a:endParaRPr>
          </a:p>
        </p:txBody>
      </p:sp>
      <p:sp>
        <p:nvSpPr>
          <p:cNvPr id="2" name="TextBox 1">
            <a:extLst>
              <a:ext uri="{FF2B5EF4-FFF2-40B4-BE49-F238E27FC236}">
                <a16:creationId xmlns:a16="http://schemas.microsoft.com/office/drawing/2014/main" id="{F71886D7-9E79-2CFD-2001-FAF733710DDA}"/>
              </a:ext>
            </a:extLst>
          </p:cNvPr>
          <p:cNvSpPr txBox="1"/>
          <p:nvPr/>
        </p:nvSpPr>
        <p:spPr>
          <a:xfrm>
            <a:off x="577864" y="1543377"/>
            <a:ext cx="5921790" cy="1600438"/>
          </a:xfrm>
          <a:prstGeom prst="rect">
            <a:avLst/>
          </a:prstGeom>
          <a:noFill/>
        </p:spPr>
        <p:txBody>
          <a:bodyPr wrap="square">
            <a:spAutoFit/>
          </a:bodyPr>
          <a:lstStyle/>
          <a:p>
            <a:r>
              <a:rPr lang="en-IE" sz="1400" dirty="0">
                <a:solidFill>
                  <a:srgbClr val="0A597A"/>
                </a:solidFill>
                <a:latin typeface="AvenirNext LT Pro Bold" panose="020B0804020202020204"/>
                <a:ea typeface="+mj-ea"/>
                <a:cs typeface="+mj-cs"/>
              </a:rPr>
              <a:t>SmartFactory’s IIoT solutions have been designed to tackle one of the biggest challenges in manufacturing: collection of process, equipment, and environmental data from manual processes or legacy equipment. Our standard connectivity solutions integrate rugged industrial hardware, from the leaders in industrial automation.</a:t>
            </a:r>
          </a:p>
          <a:p>
            <a:endParaRPr lang="en-IE" sz="1400" b="1" dirty="0">
              <a:solidFill>
                <a:srgbClr val="0A597A"/>
              </a:solidFill>
              <a:latin typeface="AvenirNext LT Pro Bold" panose="020B0804020202020204"/>
              <a:ea typeface="+mj-ea"/>
              <a:cs typeface="+mj-cs"/>
            </a:endParaRPr>
          </a:p>
          <a:p>
            <a:endParaRPr lang="en-GB" sz="1400" b="1" dirty="0">
              <a:solidFill>
                <a:srgbClr val="0A597A"/>
              </a:solidFill>
              <a:latin typeface="AvenirNext LT Pro Bold" panose="020B0804020202020204"/>
              <a:ea typeface="+mj-ea"/>
              <a:cs typeface="+mj-cs"/>
            </a:endParaRPr>
          </a:p>
        </p:txBody>
      </p:sp>
      <p:sp>
        <p:nvSpPr>
          <p:cNvPr id="11" name="Action Button: Go Home 10">
            <a:hlinkClick r:id="rId2" action="ppaction://hlinksldjump" highlightClick="1"/>
            <a:hlinkHover r:id="" action="ppaction://hlinkshowjump?jump=firstslide"/>
            <a:extLst>
              <a:ext uri="{FF2B5EF4-FFF2-40B4-BE49-F238E27FC236}">
                <a16:creationId xmlns:a16="http://schemas.microsoft.com/office/drawing/2014/main" id="{DBD86942-5C0E-F77D-3E5E-9E8F21D71B25}"/>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Box 3">
            <a:extLst>
              <a:ext uri="{FF2B5EF4-FFF2-40B4-BE49-F238E27FC236}">
                <a16:creationId xmlns:a16="http://schemas.microsoft.com/office/drawing/2014/main" id="{DCC0F033-61D6-483A-082E-A97B60A8D309}"/>
              </a:ext>
            </a:extLst>
          </p:cNvPr>
          <p:cNvSpPr txBox="1"/>
          <p:nvPr/>
        </p:nvSpPr>
        <p:spPr>
          <a:xfrm>
            <a:off x="570510" y="5857408"/>
            <a:ext cx="5921790" cy="3524042"/>
          </a:xfrm>
          <a:prstGeom prst="rect">
            <a:avLst/>
          </a:prstGeom>
          <a:noFill/>
        </p:spPr>
        <p:txBody>
          <a:bodyPr wrap="square">
            <a:spAutoFit/>
          </a:bodyPr>
          <a:lstStyle/>
          <a:p>
            <a:r>
              <a:rPr lang="en-IE" sz="1400" b="1" dirty="0">
                <a:solidFill>
                  <a:srgbClr val="0A597A"/>
                </a:solidFill>
                <a:latin typeface="AvenirNext LT Pro Bold" panose="020B0804020202020204"/>
                <a:ea typeface="+mj-ea"/>
                <a:cs typeface="+mj-cs"/>
              </a:rPr>
              <a:t>Performance and Condition Monitoring</a:t>
            </a:r>
          </a:p>
          <a:p>
            <a:r>
              <a:rPr lang="en-IE" sz="1400" dirty="0">
                <a:solidFill>
                  <a:srgbClr val="0A597A"/>
                </a:solidFill>
                <a:latin typeface="AvenirNext LT Pro Bold" panose="020B0804020202020204"/>
                <a:ea typeface="+mj-ea"/>
                <a:cs typeface="+mj-cs"/>
              </a:rPr>
              <a:t>Wireless data capture for Downtime, Scrap, Rework, Vibration, Temperature, and Current, etc.</a:t>
            </a:r>
          </a:p>
          <a:p>
            <a:pPr>
              <a:spcBef>
                <a:spcPts val="600"/>
              </a:spcBef>
            </a:pPr>
            <a:r>
              <a:rPr lang="en-IE" sz="1400" b="1" dirty="0">
                <a:solidFill>
                  <a:srgbClr val="0A597A"/>
                </a:solidFill>
                <a:latin typeface="AvenirNext LT Pro Bold" panose="020B0804020202020204"/>
                <a:ea typeface="+mj-ea"/>
                <a:cs typeface="+mj-cs"/>
              </a:rPr>
              <a:t>Sustainability and SEU Monitoring</a:t>
            </a:r>
          </a:p>
          <a:p>
            <a:r>
              <a:rPr lang="en-IE" sz="1400" dirty="0">
                <a:solidFill>
                  <a:srgbClr val="0A597A"/>
                </a:solidFill>
                <a:latin typeface="AvenirNext LT Pro Bold" panose="020B0804020202020204"/>
                <a:ea typeface="+mj-ea"/>
                <a:cs typeface="+mj-cs"/>
              </a:rPr>
              <a:t>Wired and Wireless data Capture for Energy and Utilities usage (Electricity, Gas, Water, Compressed Air, etc.).</a:t>
            </a:r>
          </a:p>
          <a:p>
            <a:pPr>
              <a:spcBef>
                <a:spcPts val="600"/>
              </a:spcBef>
            </a:pPr>
            <a:r>
              <a:rPr lang="en-IE" sz="1400" b="1" dirty="0">
                <a:solidFill>
                  <a:srgbClr val="0A597A"/>
                </a:solidFill>
                <a:latin typeface="AvenirNext LT Pro Bold" panose="020B0804020202020204"/>
                <a:ea typeface="+mj-ea"/>
                <a:cs typeface="+mj-cs"/>
              </a:rPr>
              <a:t>Identification &amp; Locating Solutions</a:t>
            </a:r>
          </a:p>
          <a:p>
            <a:r>
              <a:rPr lang="en-IE" sz="1400" dirty="0">
                <a:solidFill>
                  <a:srgbClr val="0A597A"/>
                </a:solidFill>
                <a:latin typeface="AvenirNext LT Pro Bold" panose="020B0804020202020204"/>
                <a:ea typeface="+mj-ea"/>
                <a:cs typeface="+mj-cs"/>
              </a:rPr>
              <a:t>Including Vision systems , barcode readers, RFID, and Real Time Locating Systems (RTLS).</a:t>
            </a:r>
          </a:p>
          <a:p>
            <a:pPr>
              <a:spcBef>
                <a:spcPts val="600"/>
              </a:spcBef>
            </a:pPr>
            <a:r>
              <a:rPr lang="en-IE" sz="1400" b="1" dirty="0">
                <a:solidFill>
                  <a:srgbClr val="0A597A"/>
                </a:solidFill>
                <a:latin typeface="AvenirNext LT Pro Bold" panose="020B0804020202020204"/>
                <a:ea typeface="+mj-ea"/>
                <a:cs typeface="+mj-cs"/>
              </a:rPr>
              <a:t>Smart Connectivity Solutions</a:t>
            </a:r>
          </a:p>
          <a:p>
            <a:r>
              <a:rPr lang="en-IE" sz="1400" dirty="0">
                <a:solidFill>
                  <a:srgbClr val="0A597A"/>
                </a:solidFill>
                <a:latin typeface="AvenirNext LT Pro Bold" panose="020B0804020202020204"/>
                <a:ea typeface="+mj-ea"/>
                <a:cs typeface="+mj-cs"/>
              </a:rPr>
              <a:t>Industrial-grade cybersecurity and network infrastructure, plug and play integrations.</a:t>
            </a:r>
          </a:p>
          <a:p>
            <a:pPr>
              <a:spcBef>
                <a:spcPts val="600"/>
              </a:spcBef>
            </a:pPr>
            <a:r>
              <a:rPr lang="en-IE" sz="1400" b="1" dirty="0">
                <a:solidFill>
                  <a:srgbClr val="0A597A"/>
                </a:solidFill>
                <a:latin typeface="AvenirNext LT Pro Bold" panose="020B0804020202020204"/>
                <a:ea typeface="+mj-ea"/>
                <a:cs typeface="+mj-cs"/>
              </a:rPr>
              <a:t>Workflows &amp; Process Automation</a:t>
            </a:r>
          </a:p>
          <a:p>
            <a:r>
              <a:rPr lang="en-IE" sz="1400" dirty="0">
                <a:solidFill>
                  <a:srgbClr val="0A597A"/>
                </a:solidFill>
                <a:latin typeface="AvenirNext LT Pro Bold" panose="020B0804020202020204"/>
                <a:ea typeface="+mj-ea"/>
                <a:cs typeface="+mj-cs"/>
              </a:rPr>
              <a:t>Pick-to-Light, Call-for-Parts and </a:t>
            </a:r>
            <a:r>
              <a:rPr lang="en-IE" sz="1400" i="1" dirty="0">
                <a:solidFill>
                  <a:srgbClr val="0A597A"/>
                </a:solidFill>
                <a:latin typeface="AvenirNext LT Pro Bold" panose="020B0804020202020204"/>
                <a:ea typeface="+mj-ea"/>
                <a:cs typeface="+mj-cs"/>
              </a:rPr>
              <a:t>Call-for-Help</a:t>
            </a:r>
            <a:r>
              <a:rPr lang="en-IE" sz="1400" dirty="0">
                <a:solidFill>
                  <a:srgbClr val="0A597A"/>
                </a:solidFill>
                <a:latin typeface="AvenirNext LT Pro Bold" panose="020B0804020202020204"/>
                <a:ea typeface="+mj-ea"/>
                <a:cs typeface="+mj-cs"/>
              </a:rPr>
              <a:t>.</a:t>
            </a:r>
          </a:p>
        </p:txBody>
      </p:sp>
      <p:grpSp>
        <p:nvGrpSpPr>
          <p:cNvPr id="14" name="Group 13">
            <a:extLst>
              <a:ext uri="{FF2B5EF4-FFF2-40B4-BE49-F238E27FC236}">
                <a16:creationId xmlns:a16="http://schemas.microsoft.com/office/drawing/2014/main" id="{709A4D0D-E9FB-BCD7-F353-FC04CAB0120A}"/>
              </a:ext>
            </a:extLst>
          </p:cNvPr>
          <p:cNvGrpSpPr/>
          <p:nvPr/>
        </p:nvGrpSpPr>
        <p:grpSpPr>
          <a:xfrm>
            <a:off x="480580" y="3031487"/>
            <a:ext cx="2679551" cy="2679551"/>
            <a:chOff x="480580" y="3179771"/>
            <a:chExt cx="2679551" cy="2679551"/>
          </a:xfrm>
        </p:grpSpPr>
        <p:sp>
          <p:nvSpPr>
            <p:cNvPr id="6" name="Flowchart: Connector 5">
              <a:extLst>
                <a:ext uri="{FF2B5EF4-FFF2-40B4-BE49-F238E27FC236}">
                  <a16:creationId xmlns:a16="http://schemas.microsoft.com/office/drawing/2014/main" id="{C78BF9F5-8C73-7747-EEB5-BF7633CA04EE}"/>
                </a:ext>
              </a:extLst>
            </p:cNvPr>
            <p:cNvSpPr>
              <a:spLocks noChangeAspect="1"/>
            </p:cNvSpPr>
            <p:nvPr/>
          </p:nvSpPr>
          <p:spPr>
            <a:xfrm>
              <a:off x="1244357" y="3943547"/>
              <a:ext cx="1152000" cy="1152000"/>
            </a:xfrm>
            <a:prstGeom prst="flowChartConnector">
              <a:avLst/>
            </a:prstGeom>
            <a:solidFill>
              <a:schemeClr val="bg1"/>
            </a:solidFill>
            <a:ln>
              <a:noFill/>
            </a:ln>
            <a:effectLst>
              <a:glow rad="127000">
                <a:srgbClr val="0D496B">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7" name="Flowchart: Connector 6">
              <a:extLst>
                <a:ext uri="{FF2B5EF4-FFF2-40B4-BE49-F238E27FC236}">
                  <a16:creationId xmlns:a16="http://schemas.microsoft.com/office/drawing/2014/main" id="{BB058C29-68B6-071D-1A2D-1C9922C5BC0A}"/>
                </a:ext>
              </a:extLst>
            </p:cNvPr>
            <p:cNvSpPr>
              <a:spLocks noChangeAspect="1"/>
            </p:cNvSpPr>
            <p:nvPr/>
          </p:nvSpPr>
          <p:spPr>
            <a:xfrm>
              <a:off x="920357" y="3619547"/>
              <a:ext cx="1800000" cy="1800000"/>
            </a:xfrm>
            <a:prstGeom prst="flowChartConnector">
              <a:avLst/>
            </a:prstGeom>
            <a:noFill/>
            <a:ln w="76200">
              <a:solidFill>
                <a:srgbClr val="0D496B"/>
              </a:solidFill>
            </a:ln>
            <a:effectLst>
              <a:glow rad="127000">
                <a:schemeClr val="accent3">
                  <a:satMod val="175000"/>
                  <a:alpha val="56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grpSp>
          <p:nvGrpSpPr>
            <p:cNvPr id="9" name="Group 8">
              <a:extLst>
                <a:ext uri="{FF2B5EF4-FFF2-40B4-BE49-F238E27FC236}">
                  <a16:creationId xmlns:a16="http://schemas.microsoft.com/office/drawing/2014/main" id="{AE5DE7EC-6190-BE48-4D68-7BFB9965821B}"/>
                </a:ext>
              </a:extLst>
            </p:cNvPr>
            <p:cNvGrpSpPr>
              <a:grpSpLocks noChangeAspect="1"/>
            </p:cNvGrpSpPr>
            <p:nvPr/>
          </p:nvGrpSpPr>
          <p:grpSpPr>
            <a:xfrm>
              <a:off x="1424357" y="4123547"/>
              <a:ext cx="792000" cy="792000"/>
              <a:chOff x="8172640" y="3256564"/>
              <a:chExt cx="936000" cy="936000"/>
            </a:xfrm>
          </p:grpSpPr>
          <p:sp>
            <p:nvSpPr>
              <p:cNvPr id="12" name="Oval 11">
                <a:extLst>
                  <a:ext uri="{FF2B5EF4-FFF2-40B4-BE49-F238E27FC236}">
                    <a16:creationId xmlns:a16="http://schemas.microsoft.com/office/drawing/2014/main" id="{9AF7BBD4-8E92-3D15-DBA7-079253CD308F}"/>
                  </a:ext>
                </a:extLst>
              </p:cNvPr>
              <p:cNvSpPr>
                <a:spLocks noChangeAspect="1"/>
              </p:cNvSpPr>
              <p:nvPr/>
            </p:nvSpPr>
            <p:spPr>
              <a:xfrm>
                <a:off x="8172640" y="3256564"/>
                <a:ext cx="936000" cy="936000"/>
              </a:xfrm>
              <a:prstGeom prst="ellipse">
                <a:avLst/>
              </a:prstGeom>
              <a:noFill/>
              <a:ln w="28575">
                <a:solidFill>
                  <a:srgbClr val="0D4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13" name="Graphic 12" descr="Disconnected">
                <a:extLst>
                  <a:ext uri="{FF2B5EF4-FFF2-40B4-BE49-F238E27FC236}">
                    <a16:creationId xmlns:a16="http://schemas.microsoft.com/office/drawing/2014/main" id="{DB74452E-7305-5CF4-268B-F80DD768E0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366401">
                <a:off x="8274346" y="3358271"/>
                <a:ext cx="732587" cy="732587"/>
              </a:xfrm>
              <a:prstGeom prst="rect">
                <a:avLst/>
              </a:prstGeom>
            </p:spPr>
          </p:pic>
        </p:grpSp>
        <p:sp>
          <p:nvSpPr>
            <p:cNvPr id="10" name="Flowchart: Connector 9">
              <a:extLst>
                <a:ext uri="{FF2B5EF4-FFF2-40B4-BE49-F238E27FC236}">
                  <a16:creationId xmlns:a16="http://schemas.microsoft.com/office/drawing/2014/main" id="{6E1933DF-71FB-3747-94C6-9B14E5704955}"/>
                </a:ext>
              </a:extLst>
            </p:cNvPr>
            <p:cNvSpPr>
              <a:spLocks noChangeAspect="1"/>
            </p:cNvSpPr>
            <p:nvPr/>
          </p:nvSpPr>
          <p:spPr>
            <a:xfrm>
              <a:off x="480580" y="3179771"/>
              <a:ext cx="2679551" cy="2679551"/>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grpSp>
      <p:sp>
        <p:nvSpPr>
          <p:cNvPr id="16" name="Oval 15">
            <a:extLst>
              <a:ext uri="{FF2B5EF4-FFF2-40B4-BE49-F238E27FC236}">
                <a16:creationId xmlns:a16="http://schemas.microsoft.com/office/drawing/2014/main" id="{0B9DA602-6C3A-DE15-1131-678648B3670E}"/>
              </a:ext>
            </a:extLst>
          </p:cNvPr>
          <p:cNvSpPr>
            <a:spLocks noChangeAspect="1"/>
          </p:cNvSpPr>
          <p:nvPr/>
        </p:nvSpPr>
        <p:spPr>
          <a:xfrm>
            <a:off x="2537407" y="3213063"/>
            <a:ext cx="252000" cy="252000"/>
          </a:xfrm>
          <a:prstGeom prst="ellipse">
            <a:avLst/>
          </a:prstGeom>
          <a:solidFill>
            <a:srgbClr val="0D496B"/>
          </a:solidFill>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en-IE" sz="1400" b="1" dirty="0">
                <a:solidFill>
                  <a:schemeClr val="bg1"/>
                </a:solidFill>
                <a:latin typeface="AvenirNext LT Pro Bold" panose="020B0804020202020204"/>
                <a:ea typeface="+mj-ea"/>
                <a:cs typeface="+mj-cs"/>
              </a:rPr>
              <a:t>1</a:t>
            </a:r>
          </a:p>
        </p:txBody>
      </p:sp>
      <p:sp>
        <p:nvSpPr>
          <p:cNvPr id="17" name="Oval 16">
            <a:extLst>
              <a:ext uri="{FF2B5EF4-FFF2-40B4-BE49-F238E27FC236}">
                <a16:creationId xmlns:a16="http://schemas.microsoft.com/office/drawing/2014/main" id="{E71BFCEF-A836-6087-3A4E-BA9EE1C5B4C2}"/>
              </a:ext>
            </a:extLst>
          </p:cNvPr>
          <p:cNvSpPr>
            <a:spLocks noChangeAspect="1"/>
          </p:cNvSpPr>
          <p:nvPr/>
        </p:nvSpPr>
        <p:spPr>
          <a:xfrm>
            <a:off x="2906544" y="3708679"/>
            <a:ext cx="252000" cy="252000"/>
          </a:xfrm>
          <a:prstGeom prst="ellipse">
            <a:avLst/>
          </a:prstGeom>
          <a:solidFill>
            <a:srgbClr val="0D496B"/>
          </a:solidFill>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en-IE" sz="1400" b="1" dirty="0">
                <a:solidFill>
                  <a:schemeClr val="bg1"/>
                </a:solidFill>
                <a:latin typeface="AvenirNext LT Pro Bold" panose="020B0804020202020204"/>
                <a:ea typeface="+mj-ea"/>
                <a:cs typeface="+mj-cs"/>
              </a:rPr>
              <a:t>2</a:t>
            </a:r>
          </a:p>
        </p:txBody>
      </p:sp>
      <p:sp>
        <p:nvSpPr>
          <p:cNvPr id="18" name="Oval 17">
            <a:extLst>
              <a:ext uri="{FF2B5EF4-FFF2-40B4-BE49-F238E27FC236}">
                <a16:creationId xmlns:a16="http://schemas.microsoft.com/office/drawing/2014/main" id="{54822DFD-3149-33BE-7DC7-E58E480753C3}"/>
              </a:ext>
            </a:extLst>
          </p:cNvPr>
          <p:cNvSpPr>
            <a:spLocks noChangeAspect="1"/>
          </p:cNvSpPr>
          <p:nvPr/>
        </p:nvSpPr>
        <p:spPr>
          <a:xfrm>
            <a:off x="3026777" y="4245262"/>
            <a:ext cx="252000" cy="252000"/>
          </a:xfrm>
          <a:prstGeom prst="ellipse">
            <a:avLst/>
          </a:prstGeom>
          <a:solidFill>
            <a:srgbClr val="0D496B"/>
          </a:solidFill>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en-IE" sz="1400" b="1" dirty="0">
                <a:solidFill>
                  <a:schemeClr val="bg1"/>
                </a:solidFill>
                <a:latin typeface="AvenirNext LT Pro Bold" panose="020B0804020202020204"/>
                <a:ea typeface="+mj-ea"/>
                <a:cs typeface="+mj-cs"/>
              </a:rPr>
              <a:t>3</a:t>
            </a:r>
          </a:p>
        </p:txBody>
      </p:sp>
      <p:sp>
        <p:nvSpPr>
          <p:cNvPr id="19" name="Oval 18">
            <a:extLst>
              <a:ext uri="{FF2B5EF4-FFF2-40B4-BE49-F238E27FC236}">
                <a16:creationId xmlns:a16="http://schemas.microsoft.com/office/drawing/2014/main" id="{85F0A1BC-A689-53E6-CD7F-FE1CCBC03588}"/>
              </a:ext>
            </a:extLst>
          </p:cNvPr>
          <p:cNvSpPr>
            <a:spLocks noChangeAspect="1"/>
          </p:cNvSpPr>
          <p:nvPr/>
        </p:nvSpPr>
        <p:spPr>
          <a:xfrm>
            <a:off x="2916650" y="4767432"/>
            <a:ext cx="252000" cy="252000"/>
          </a:xfrm>
          <a:prstGeom prst="ellipse">
            <a:avLst/>
          </a:prstGeom>
          <a:solidFill>
            <a:srgbClr val="0D496B"/>
          </a:solidFill>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en-IE" sz="1400" b="1" dirty="0">
                <a:solidFill>
                  <a:schemeClr val="bg1"/>
                </a:solidFill>
                <a:latin typeface="AvenirNext LT Pro Bold" panose="020B0804020202020204"/>
                <a:ea typeface="+mj-ea"/>
                <a:cs typeface="+mj-cs"/>
              </a:rPr>
              <a:t>4</a:t>
            </a:r>
          </a:p>
        </p:txBody>
      </p:sp>
      <p:sp>
        <p:nvSpPr>
          <p:cNvPr id="20" name="Oval 19">
            <a:extLst>
              <a:ext uri="{FF2B5EF4-FFF2-40B4-BE49-F238E27FC236}">
                <a16:creationId xmlns:a16="http://schemas.microsoft.com/office/drawing/2014/main" id="{EB6A18A1-8E83-7EEB-E6D6-D13658D1811B}"/>
              </a:ext>
            </a:extLst>
          </p:cNvPr>
          <p:cNvSpPr>
            <a:spLocks noChangeAspect="1"/>
          </p:cNvSpPr>
          <p:nvPr/>
        </p:nvSpPr>
        <p:spPr>
          <a:xfrm>
            <a:off x="2542343" y="5253806"/>
            <a:ext cx="252000" cy="252000"/>
          </a:xfrm>
          <a:prstGeom prst="ellipse">
            <a:avLst/>
          </a:prstGeom>
          <a:solidFill>
            <a:srgbClr val="0D496B"/>
          </a:solidFill>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en-IE" sz="1400" b="1" dirty="0">
                <a:solidFill>
                  <a:schemeClr val="bg1"/>
                </a:solidFill>
                <a:latin typeface="AvenirNext LT Pro Bold" panose="020B0804020202020204"/>
                <a:ea typeface="+mj-ea"/>
                <a:cs typeface="+mj-cs"/>
              </a:rPr>
              <a:t>5</a:t>
            </a:r>
          </a:p>
        </p:txBody>
      </p:sp>
      <p:sp>
        <p:nvSpPr>
          <p:cNvPr id="22" name="TextBox 21">
            <a:extLst>
              <a:ext uri="{FF2B5EF4-FFF2-40B4-BE49-F238E27FC236}">
                <a16:creationId xmlns:a16="http://schemas.microsoft.com/office/drawing/2014/main" id="{CF683A38-F368-1599-F0D4-DAEC8C6386EA}"/>
              </a:ext>
            </a:extLst>
          </p:cNvPr>
          <p:cNvSpPr txBox="1"/>
          <p:nvPr/>
        </p:nvSpPr>
        <p:spPr>
          <a:xfrm>
            <a:off x="2781609" y="3172475"/>
            <a:ext cx="3443286" cy="307777"/>
          </a:xfrm>
          <a:prstGeom prst="rect">
            <a:avLst/>
          </a:prstGeom>
          <a:noFill/>
        </p:spPr>
        <p:txBody>
          <a:bodyPr wrap="square">
            <a:spAutoFit/>
          </a:bodyPr>
          <a:lstStyle/>
          <a:p>
            <a:r>
              <a:rPr lang="en-IE" sz="1400" b="1" dirty="0">
                <a:solidFill>
                  <a:srgbClr val="0A597A"/>
                </a:solidFill>
                <a:latin typeface="AvenirNext LT Pro Bold" panose="020B0804020202020204"/>
                <a:ea typeface="+mj-ea"/>
                <a:cs typeface="+mj-cs"/>
              </a:rPr>
              <a:t>Performance &amp; Condition Monitoring</a:t>
            </a:r>
            <a:endParaRPr lang="en-IE" sz="1400" dirty="0"/>
          </a:p>
        </p:txBody>
      </p:sp>
      <p:sp>
        <p:nvSpPr>
          <p:cNvPr id="24" name="TextBox 23">
            <a:extLst>
              <a:ext uri="{FF2B5EF4-FFF2-40B4-BE49-F238E27FC236}">
                <a16:creationId xmlns:a16="http://schemas.microsoft.com/office/drawing/2014/main" id="{239A4906-C12D-141F-3754-37E1D4B3FDB1}"/>
              </a:ext>
            </a:extLst>
          </p:cNvPr>
          <p:cNvSpPr txBox="1"/>
          <p:nvPr/>
        </p:nvSpPr>
        <p:spPr>
          <a:xfrm>
            <a:off x="3172153" y="3690598"/>
            <a:ext cx="3443286" cy="307777"/>
          </a:xfrm>
          <a:prstGeom prst="rect">
            <a:avLst/>
          </a:prstGeom>
          <a:noFill/>
        </p:spPr>
        <p:txBody>
          <a:bodyPr wrap="square">
            <a:spAutoFit/>
          </a:bodyPr>
          <a:lstStyle/>
          <a:p>
            <a:r>
              <a:rPr lang="en-IE" sz="1400" b="1" dirty="0">
                <a:solidFill>
                  <a:srgbClr val="0A597A"/>
                </a:solidFill>
                <a:latin typeface="AvenirNext LT Pro Bold" panose="020B0804020202020204"/>
                <a:ea typeface="+mj-ea"/>
                <a:cs typeface="+mj-cs"/>
              </a:rPr>
              <a:t>Sustainability &amp; SEU Monitoring</a:t>
            </a:r>
          </a:p>
        </p:txBody>
      </p:sp>
      <p:sp>
        <p:nvSpPr>
          <p:cNvPr id="25" name="TextBox 24">
            <a:extLst>
              <a:ext uri="{FF2B5EF4-FFF2-40B4-BE49-F238E27FC236}">
                <a16:creationId xmlns:a16="http://schemas.microsoft.com/office/drawing/2014/main" id="{07B64BED-970D-CB7F-8030-4288B9C96418}"/>
              </a:ext>
            </a:extLst>
          </p:cNvPr>
          <p:cNvSpPr txBox="1"/>
          <p:nvPr/>
        </p:nvSpPr>
        <p:spPr>
          <a:xfrm>
            <a:off x="3281697" y="4208721"/>
            <a:ext cx="3443286" cy="307777"/>
          </a:xfrm>
          <a:prstGeom prst="rect">
            <a:avLst/>
          </a:prstGeom>
          <a:noFill/>
        </p:spPr>
        <p:txBody>
          <a:bodyPr wrap="square">
            <a:spAutoFit/>
          </a:bodyPr>
          <a:lstStyle/>
          <a:p>
            <a:r>
              <a:rPr lang="en-IE" sz="1400" b="1" dirty="0">
                <a:solidFill>
                  <a:srgbClr val="0A597A"/>
                </a:solidFill>
                <a:latin typeface="AvenirNext LT Pro Bold" panose="020B0804020202020204"/>
                <a:ea typeface="+mj-ea"/>
                <a:cs typeface="+mj-cs"/>
              </a:rPr>
              <a:t>Identification &amp; Locating Solutions</a:t>
            </a:r>
          </a:p>
        </p:txBody>
      </p:sp>
      <p:sp>
        <p:nvSpPr>
          <p:cNvPr id="26" name="TextBox 25">
            <a:extLst>
              <a:ext uri="{FF2B5EF4-FFF2-40B4-BE49-F238E27FC236}">
                <a16:creationId xmlns:a16="http://schemas.microsoft.com/office/drawing/2014/main" id="{367EEB6F-6035-1768-F6DA-394CF0C86D44}"/>
              </a:ext>
            </a:extLst>
          </p:cNvPr>
          <p:cNvSpPr txBox="1"/>
          <p:nvPr/>
        </p:nvSpPr>
        <p:spPr>
          <a:xfrm>
            <a:off x="3181286" y="4726844"/>
            <a:ext cx="3443286" cy="307777"/>
          </a:xfrm>
          <a:prstGeom prst="rect">
            <a:avLst/>
          </a:prstGeom>
          <a:noFill/>
        </p:spPr>
        <p:txBody>
          <a:bodyPr wrap="square">
            <a:spAutoFit/>
          </a:bodyPr>
          <a:lstStyle/>
          <a:p>
            <a:r>
              <a:rPr lang="en-IE" sz="1400" b="1" dirty="0">
                <a:solidFill>
                  <a:srgbClr val="0A597A"/>
                </a:solidFill>
                <a:latin typeface="AvenirNext LT Pro Bold" panose="020B0804020202020204"/>
                <a:ea typeface="+mj-ea"/>
                <a:cs typeface="+mj-cs"/>
              </a:rPr>
              <a:t>Smart Connectivity Solutions</a:t>
            </a:r>
          </a:p>
        </p:txBody>
      </p:sp>
      <p:sp>
        <p:nvSpPr>
          <p:cNvPr id="27" name="TextBox 26">
            <a:extLst>
              <a:ext uri="{FF2B5EF4-FFF2-40B4-BE49-F238E27FC236}">
                <a16:creationId xmlns:a16="http://schemas.microsoft.com/office/drawing/2014/main" id="{53771510-E700-F29C-4BAE-12F752AE59F9}"/>
              </a:ext>
            </a:extLst>
          </p:cNvPr>
          <p:cNvSpPr txBox="1"/>
          <p:nvPr/>
        </p:nvSpPr>
        <p:spPr>
          <a:xfrm>
            <a:off x="2787563" y="5244968"/>
            <a:ext cx="3443286" cy="307777"/>
          </a:xfrm>
          <a:prstGeom prst="rect">
            <a:avLst/>
          </a:prstGeom>
          <a:noFill/>
        </p:spPr>
        <p:txBody>
          <a:bodyPr wrap="square">
            <a:spAutoFit/>
          </a:bodyPr>
          <a:lstStyle/>
          <a:p>
            <a:r>
              <a:rPr lang="en-IE" sz="1400" b="1" dirty="0">
                <a:solidFill>
                  <a:srgbClr val="0A597A"/>
                </a:solidFill>
                <a:latin typeface="AvenirNext LT Pro Bold" panose="020B0804020202020204"/>
                <a:ea typeface="+mj-ea"/>
                <a:cs typeface="+mj-cs"/>
              </a:rPr>
              <a:t>Workflows &amp; Process Automation</a:t>
            </a:r>
          </a:p>
        </p:txBody>
      </p:sp>
    </p:spTree>
    <p:extLst>
      <p:ext uri="{BB962C8B-B14F-4D97-AF65-F5344CB8AC3E}">
        <p14:creationId xmlns:p14="http://schemas.microsoft.com/office/powerpoint/2010/main" val="34927075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3D56BE-E86C-88B9-8A81-A991D756424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E6B72EC-5025-2DE7-C473-B17F20A46F1D}"/>
              </a:ext>
            </a:extLst>
          </p:cNvPr>
          <p:cNvSpPr txBox="1"/>
          <p:nvPr/>
        </p:nvSpPr>
        <p:spPr>
          <a:xfrm>
            <a:off x="763214" y="200455"/>
            <a:ext cx="5434385" cy="1679434"/>
          </a:xfrm>
          <a:prstGeom prst="rect">
            <a:avLst/>
          </a:prstGeom>
          <a:noFill/>
        </p:spPr>
        <p:txBody>
          <a:bodyPr wrap="square">
            <a:spAutoFit/>
          </a:bodyPr>
          <a:lstStyle/>
          <a:p>
            <a:pPr>
              <a:lnSpc>
                <a:spcPct val="107000"/>
              </a:lnSpc>
              <a:spcAft>
                <a:spcPts val="300"/>
              </a:spcAft>
            </a:pPr>
            <a:r>
              <a:rPr lang="en-IE" sz="2000" b="1" dirty="0">
                <a:solidFill>
                  <a:srgbClr val="0A597A"/>
                </a:solidFill>
                <a:latin typeface="AvenirNext LT Pro Bold" panose="020B0804020202020204"/>
                <a:ea typeface="+mj-ea"/>
                <a:cs typeface="+mj-cs"/>
              </a:rPr>
              <a:t>IIoT Toolkit </a:t>
            </a:r>
            <a:r>
              <a:rPr lang="en-GB" sz="2000" b="1" dirty="0">
                <a:solidFill>
                  <a:srgbClr val="0A597A"/>
                </a:solidFill>
                <a:latin typeface="AvenirNext LT Pro Bold" panose="020B0804020202020204"/>
                <a:ea typeface="+mj-ea"/>
                <a:cs typeface="+mj-cs"/>
              </a:rPr>
              <a:t>(kit #4)</a:t>
            </a:r>
          </a:p>
          <a:p>
            <a:pPr>
              <a:lnSpc>
                <a:spcPct val="107000"/>
              </a:lnSpc>
              <a:spcAft>
                <a:spcPts val="300"/>
              </a:spcAft>
            </a:pPr>
            <a:r>
              <a:rPr lang="en-GB" sz="1400" dirty="0">
                <a:solidFill>
                  <a:srgbClr val="0A597A"/>
                </a:solidFill>
                <a:latin typeface="AvenirNext LT Pro Bold" panose="020B0804020202020204"/>
                <a:ea typeface="+mj-ea"/>
                <a:cs typeface="+mj-cs"/>
              </a:rPr>
              <a:t>Connect Any Signal, From Any Sensor – Wirelessly</a:t>
            </a:r>
          </a:p>
          <a:p>
            <a:pPr>
              <a:lnSpc>
                <a:spcPct val="107000"/>
              </a:lnSpc>
              <a:spcAft>
                <a:spcPts val="300"/>
              </a:spcAft>
            </a:pPr>
            <a:r>
              <a:rPr lang="en-IE" sz="1400" dirty="0">
                <a:solidFill>
                  <a:srgbClr val="0A597A"/>
                </a:solidFill>
                <a:latin typeface="AvenirNext LT Pro Bold" panose="020B0804020202020204"/>
                <a:ea typeface="+mj-ea"/>
                <a:cs typeface="+mj-cs"/>
              </a:rPr>
              <a:t>Modular nodes designed to support almost any I/O configuration: analogue, digital, thermistor, counters, or serial data — all over a secure wireless link.</a:t>
            </a:r>
            <a:r>
              <a:rPr lang="en-GB" sz="1400" i="1" dirty="0">
                <a:solidFill>
                  <a:srgbClr val="0A597A"/>
                </a:solidFill>
                <a:latin typeface="AvenirNext LT Pro Bold" panose="020B0804020202020204"/>
                <a:ea typeface="+mj-ea"/>
                <a:cs typeface="+mj-cs"/>
              </a:rPr>
              <a:t> </a:t>
            </a:r>
          </a:p>
          <a:p>
            <a:pPr>
              <a:lnSpc>
                <a:spcPct val="107000"/>
              </a:lnSpc>
              <a:spcAft>
                <a:spcPts val="300"/>
              </a:spcAft>
            </a:pPr>
            <a:r>
              <a:rPr lang="en-GB" sz="1400" i="1" dirty="0">
                <a:solidFill>
                  <a:srgbClr val="0A597A"/>
                </a:solidFill>
                <a:latin typeface="AvenirNext LT Pro Bold" panose="020B0804020202020204"/>
                <a:ea typeface="+mj-ea"/>
                <a:cs typeface="+mj-cs"/>
              </a:rPr>
              <a:t>Flex-power™ </a:t>
            </a:r>
            <a:r>
              <a:rPr lang="en-GB" sz="1400" dirty="0">
                <a:solidFill>
                  <a:srgbClr val="0A597A"/>
                </a:solidFill>
                <a:latin typeface="AvenirNext LT Pro Bold" panose="020B0804020202020204"/>
                <a:ea typeface="+mj-ea"/>
                <a:cs typeface="+mj-cs"/>
              </a:rPr>
              <a:t>and battery powered options available</a:t>
            </a:r>
            <a:endParaRPr lang="en-IE" sz="1400" dirty="0">
              <a:solidFill>
                <a:srgbClr val="0A597A"/>
              </a:solidFill>
              <a:latin typeface="AvenirNext LT Pro Bold" panose="020B0804020202020204"/>
              <a:ea typeface="+mj-ea"/>
              <a:cs typeface="+mj-cs"/>
            </a:endParaRPr>
          </a:p>
        </p:txBody>
      </p:sp>
      <p:sp>
        <p:nvSpPr>
          <p:cNvPr id="22" name="TextBox 21">
            <a:extLst>
              <a:ext uri="{FF2B5EF4-FFF2-40B4-BE49-F238E27FC236}">
                <a16:creationId xmlns:a16="http://schemas.microsoft.com/office/drawing/2014/main" id="{F0CAD983-D291-7F51-F6CE-3A1433624FDE}"/>
              </a:ext>
            </a:extLst>
          </p:cNvPr>
          <p:cNvSpPr txBox="1"/>
          <p:nvPr/>
        </p:nvSpPr>
        <p:spPr>
          <a:xfrm>
            <a:off x="2060867" y="2118837"/>
            <a:ext cx="4500000" cy="773673"/>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DX80</a:t>
            </a:r>
            <a:br>
              <a:rPr lang="en-IE" sz="1400" dirty="0">
                <a:solidFill>
                  <a:srgbClr val="0A597A"/>
                </a:solidFill>
                <a:latin typeface="AvenirNext LT Pro Bold" panose="020B0804020202020204"/>
                <a:ea typeface="+mj-ea"/>
                <a:cs typeface="+mj-cs"/>
              </a:rPr>
            </a:br>
            <a:r>
              <a:rPr lang="en-IE" sz="1400" dirty="0">
                <a:solidFill>
                  <a:srgbClr val="0A597A"/>
                </a:solidFill>
                <a:latin typeface="AvenirNext LT Pro Bold" panose="020B0804020202020204"/>
                <a:ea typeface="+mj-ea"/>
                <a:cs typeface="+mj-cs"/>
              </a:rPr>
              <a:t>Input: 2 Discrete (PNP/NPN) 2 Analog 2 Thermistor</a:t>
            </a:r>
          </a:p>
          <a:p>
            <a:pPr>
              <a:lnSpc>
                <a:spcPct val="107000"/>
              </a:lnSpc>
            </a:pPr>
            <a:r>
              <a:rPr lang="en-IE" sz="1400" dirty="0">
                <a:solidFill>
                  <a:srgbClr val="0A597A"/>
                </a:solidFill>
                <a:latin typeface="AvenirNext LT Pro Bold" panose="020B0804020202020204"/>
                <a:ea typeface="+mj-ea"/>
                <a:cs typeface="+mj-cs"/>
              </a:rPr>
              <a:t>Output: 2 Discrete NMOS</a:t>
            </a:r>
          </a:p>
        </p:txBody>
      </p:sp>
      <p:sp>
        <p:nvSpPr>
          <p:cNvPr id="24" name="TextBox 23">
            <a:extLst>
              <a:ext uri="{FF2B5EF4-FFF2-40B4-BE49-F238E27FC236}">
                <a16:creationId xmlns:a16="http://schemas.microsoft.com/office/drawing/2014/main" id="{8E05A1E5-FCF9-194B-936B-7728049B32FC}"/>
              </a:ext>
            </a:extLst>
          </p:cNvPr>
          <p:cNvSpPr txBox="1"/>
          <p:nvPr/>
        </p:nvSpPr>
        <p:spPr>
          <a:xfrm>
            <a:off x="2060869" y="3650181"/>
            <a:ext cx="4500000" cy="773673"/>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DX80N2X6S-P2</a:t>
            </a:r>
          </a:p>
          <a:p>
            <a:pPr>
              <a:lnSpc>
                <a:spcPct val="107000"/>
              </a:lnSpc>
            </a:pPr>
            <a:r>
              <a:rPr lang="en-IE" sz="1400" dirty="0">
                <a:solidFill>
                  <a:srgbClr val="0A597A"/>
                </a:solidFill>
                <a:latin typeface="AvenirNext LT Pro Bold" panose="020B0804020202020204"/>
                <a:ea typeface="+mj-ea"/>
                <a:cs typeface="+mj-cs"/>
              </a:rPr>
              <a:t>Input: 4 Discrete (PNP/PNP) 2 Analog</a:t>
            </a:r>
          </a:p>
          <a:p>
            <a:pPr>
              <a:lnSpc>
                <a:spcPct val="107000"/>
              </a:lnSpc>
            </a:pPr>
            <a:r>
              <a:rPr lang="en-IE" sz="1400" dirty="0">
                <a:solidFill>
                  <a:srgbClr val="0A597A"/>
                </a:solidFill>
                <a:latin typeface="AvenirNext LT Pro Bold" panose="020B0804020202020204"/>
                <a:ea typeface="+mj-ea"/>
                <a:cs typeface="+mj-cs"/>
              </a:rPr>
              <a:t>Output: 4 Discrete PNP, 2 Analog 0-20mA</a:t>
            </a:r>
          </a:p>
        </p:txBody>
      </p:sp>
      <p:sp>
        <p:nvSpPr>
          <p:cNvPr id="26" name="TextBox 25">
            <a:extLst>
              <a:ext uri="{FF2B5EF4-FFF2-40B4-BE49-F238E27FC236}">
                <a16:creationId xmlns:a16="http://schemas.microsoft.com/office/drawing/2014/main" id="{1D21D63D-974F-C4EC-AC30-5873E9B7A75B}"/>
              </a:ext>
            </a:extLst>
          </p:cNvPr>
          <p:cNvSpPr txBox="1"/>
          <p:nvPr/>
        </p:nvSpPr>
        <p:spPr>
          <a:xfrm>
            <a:off x="2060869" y="5132097"/>
            <a:ext cx="4500000" cy="543162"/>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DX80N2X6S-P6</a:t>
            </a:r>
          </a:p>
          <a:p>
            <a:pPr>
              <a:lnSpc>
                <a:spcPct val="107000"/>
              </a:lnSpc>
            </a:pPr>
            <a:r>
              <a:rPr lang="en-IE" sz="1400" dirty="0">
                <a:solidFill>
                  <a:srgbClr val="0A597A"/>
                </a:solidFill>
                <a:latin typeface="AvenirNext LT Pro Bold" panose="020B0804020202020204"/>
                <a:ea typeface="+mj-ea"/>
                <a:cs typeface="+mj-cs"/>
              </a:rPr>
              <a:t>Input: 1-wire Serial Interface</a:t>
            </a:r>
          </a:p>
        </p:txBody>
      </p:sp>
      <p:sp>
        <p:nvSpPr>
          <p:cNvPr id="30" name="TextBox 29">
            <a:extLst>
              <a:ext uri="{FF2B5EF4-FFF2-40B4-BE49-F238E27FC236}">
                <a16:creationId xmlns:a16="http://schemas.microsoft.com/office/drawing/2014/main" id="{B1AB8212-9A51-2620-DAC4-1C966AF850CA}"/>
              </a:ext>
            </a:extLst>
          </p:cNvPr>
          <p:cNvSpPr txBox="1"/>
          <p:nvPr/>
        </p:nvSpPr>
        <p:spPr>
          <a:xfrm>
            <a:off x="2060868" y="6482358"/>
            <a:ext cx="4500000" cy="543162"/>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PDX80N2X6S-P8</a:t>
            </a:r>
          </a:p>
          <a:p>
            <a:pPr>
              <a:lnSpc>
                <a:spcPct val="107000"/>
              </a:lnSpc>
            </a:pPr>
            <a:r>
              <a:rPr lang="en-IE" sz="1400" dirty="0">
                <a:solidFill>
                  <a:srgbClr val="0A597A"/>
                </a:solidFill>
                <a:latin typeface="AvenirNext LT Pro Bold" panose="020B0804020202020204"/>
                <a:ea typeface="+mj-ea"/>
                <a:cs typeface="+mj-cs"/>
              </a:rPr>
              <a:t>Input: Up to 12 Discrete PNP I/O</a:t>
            </a:r>
          </a:p>
        </p:txBody>
      </p:sp>
      <p:sp>
        <p:nvSpPr>
          <p:cNvPr id="37" name="TextBox 36">
            <a:extLst>
              <a:ext uri="{FF2B5EF4-FFF2-40B4-BE49-F238E27FC236}">
                <a16:creationId xmlns:a16="http://schemas.microsoft.com/office/drawing/2014/main" id="{3639FEC1-ED3E-D393-11CD-3F08DCC11842}"/>
              </a:ext>
            </a:extLst>
          </p:cNvPr>
          <p:cNvSpPr txBox="1"/>
          <p:nvPr/>
        </p:nvSpPr>
        <p:spPr>
          <a:xfrm>
            <a:off x="1991766" y="7853061"/>
            <a:ext cx="4500000" cy="1004186"/>
          </a:xfrm>
          <a:prstGeom prst="rect">
            <a:avLst/>
          </a:prstGeom>
          <a:noFill/>
        </p:spPr>
        <p:txBody>
          <a:bodyPr wrap="square">
            <a:spAutoFit/>
          </a:bodyPr>
          <a:lstStyle/>
          <a:p>
            <a:pPr>
              <a:lnSpc>
                <a:spcPct val="107000"/>
              </a:lnSpc>
            </a:pPr>
            <a:r>
              <a:rPr lang="en-IE" sz="1400" b="1" dirty="0">
                <a:solidFill>
                  <a:srgbClr val="0A597A"/>
                </a:solidFill>
                <a:latin typeface="AvenirNext LT Pro Bold" panose="020B0804020202020204"/>
                <a:ea typeface="+mj-ea"/>
                <a:cs typeface="+mj-cs"/>
              </a:rPr>
              <a:t>DX80N2X1S-P14</a:t>
            </a:r>
          </a:p>
          <a:p>
            <a:pPr>
              <a:lnSpc>
                <a:spcPct val="107000"/>
              </a:lnSpc>
            </a:pPr>
            <a:r>
              <a:rPr lang="en-IE" sz="1400" dirty="0">
                <a:solidFill>
                  <a:srgbClr val="0A597A"/>
                </a:solidFill>
                <a:latin typeface="AvenirNext LT Pro Bold" panose="020B0804020202020204"/>
                <a:ea typeface="+mj-ea"/>
                <a:cs typeface="+mj-cs"/>
              </a:rPr>
              <a:t>Input: 1 Configurable Discrete (PNP/NPN), 1 Analog Voltage (configurable to Current), 1 Thermistor, 1 Asynchronous Counter, 1 Switch Power Output</a:t>
            </a:r>
          </a:p>
        </p:txBody>
      </p:sp>
      <p:pic>
        <p:nvPicPr>
          <p:cNvPr id="2" name="Picture 1">
            <a:extLst>
              <a:ext uri="{FF2B5EF4-FFF2-40B4-BE49-F238E27FC236}">
                <a16:creationId xmlns:a16="http://schemas.microsoft.com/office/drawing/2014/main" id="{BF6AE4A8-F971-47AA-8DD4-77815376AB0B}"/>
              </a:ext>
            </a:extLst>
          </p:cNvPr>
          <p:cNvPicPr>
            <a:picLocks noChangeAspect="1"/>
          </p:cNvPicPr>
          <p:nvPr/>
        </p:nvPicPr>
        <p:blipFill>
          <a:blip r:embed="rId2"/>
          <a:stretch>
            <a:fillRect/>
          </a:stretch>
        </p:blipFill>
        <p:spPr>
          <a:xfrm>
            <a:off x="551303" y="2075999"/>
            <a:ext cx="1134324" cy="1213943"/>
          </a:xfrm>
          <a:prstGeom prst="rect">
            <a:avLst/>
          </a:prstGeom>
        </p:spPr>
      </p:pic>
      <p:pic>
        <p:nvPicPr>
          <p:cNvPr id="13" name="Picture 12">
            <a:extLst>
              <a:ext uri="{FF2B5EF4-FFF2-40B4-BE49-F238E27FC236}">
                <a16:creationId xmlns:a16="http://schemas.microsoft.com/office/drawing/2014/main" id="{ECF4AFD3-769E-20B8-2B4E-64FB3AA8C429}"/>
              </a:ext>
            </a:extLst>
          </p:cNvPr>
          <p:cNvPicPr>
            <a:picLocks noChangeAspect="1"/>
          </p:cNvPicPr>
          <p:nvPr/>
        </p:nvPicPr>
        <p:blipFill>
          <a:blip r:embed="rId3"/>
          <a:stretch>
            <a:fillRect/>
          </a:stretch>
        </p:blipFill>
        <p:spPr>
          <a:xfrm>
            <a:off x="483609" y="3323385"/>
            <a:ext cx="1134323" cy="1294463"/>
          </a:xfrm>
          <a:prstGeom prst="rect">
            <a:avLst/>
          </a:prstGeom>
        </p:spPr>
      </p:pic>
      <p:pic>
        <p:nvPicPr>
          <p:cNvPr id="16" name="Picture 15">
            <a:extLst>
              <a:ext uri="{FF2B5EF4-FFF2-40B4-BE49-F238E27FC236}">
                <a16:creationId xmlns:a16="http://schemas.microsoft.com/office/drawing/2014/main" id="{B3B368EA-5DAF-AE2B-B18B-D5645B06352D}"/>
              </a:ext>
            </a:extLst>
          </p:cNvPr>
          <p:cNvPicPr>
            <a:picLocks noChangeAspect="1"/>
          </p:cNvPicPr>
          <p:nvPr/>
        </p:nvPicPr>
        <p:blipFill>
          <a:blip r:embed="rId4"/>
          <a:stretch>
            <a:fillRect/>
          </a:stretch>
        </p:blipFill>
        <p:spPr>
          <a:xfrm>
            <a:off x="436314" y="4749425"/>
            <a:ext cx="1279712" cy="1257571"/>
          </a:xfrm>
          <a:prstGeom prst="rect">
            <a:avLst/>
          </a:prstGeom>
        </p:spPr>
      </p:pic>
      <p:pic>
        <p:nvPicPr>
          <p:cNvPr id="18" name="Picture 17">
            <a:extLst>
              <a:ext uri="{FF2B5EF4-FFF2-40B4-BE49-F238E27FC236}">
                <a16:creationId xmlns:a16="http://schemas.microsoft.com/office/drawing/2014/main" id="{A06E4D8B-BF87-D574-7626-452AA58A02FD}"/>
              </a:ext>
            </a:extLst>
          </p:cNvPr>
          <p:cNvPicPr>
            <a:picLocks noChangeAspect="1"/>
          </p:cNvPicPr>
          <p:nvPr/>
        </p:nvPicPr>
        <p:blipFill>
          <a:blip r:embed="rId2"/>
          <a:stretch>
            <a:fillRect/>
          </a:stretch>
        </p:blipFill>
        <p:spPr>
          <a:xfrm>
            <a:off x="436314" y="6193491"/>
            <a:ext cx="1215795" cy="1272988"/>
          </a:xfrm>
          <a:prstGeom prst="rect">
            <a:avLst/>
          </a:prstGeom>
        </p:spPr>
      </p:pic>
      <p:pic>
        <p:nvPicPr>
          <p:cNvPr id="33" name="Picture 32">
            <a:extLst>
              <a:ext uri="{FF2B5EF4-FFF2-40B4-BE49-F238E27FC236}">
                <a16:creationId xmlns:a16="http://schemas.microsoft.com/office/drawing/2014/main" id="{1594402F-73E7-7DB3-07B3-FE92FE439F80}"/>
              </a:ext>
            </a:extLst>
          </p:cNvPr>
          <p:cNvPicPr>
            <a:picLocks noChangeAspect="1"/>
          </p:cNvPicPr>
          <p:nvPr/>
        </p:nvPicPr>
        <p:blipFill>
          <a:blip r:embed="rId5"/>
          <a:stretch>
            <a:fillRect/>
          </a:stretch>
        </p:blipFill>
        <p:spPr>
          <a:xfrm>
            <a:off x="366234" y="7466479"/>
            <a:ext cx="1285875" cy="1449761"/>
          </a:xfrm>
          <a:prstGeom prst="rect">
            <a:avLst/>
          </a:prstGeom>
        </p:spPr>
      </p:pic>
      <p:sp>
        <p:nvSpPr>
          <p:cNvPr id="3" name="Action Button: Go Home 2">
            <a:hlinkClick r:id="rId6" action="ppaction://hlinksldjump" highlightClick="1"/>
            <a:hlinkHover r:id="" action="ppaction://hlinkshowjump?jump=firstslide"/>
            <a:extLst>
              <a:ext uri="{FF2B5EF4-FFF2-40B4-BE49-F238E27FC236}">
                <a16:creationId xmlns:a16="http://schemas.microsoft.com/office/drawing/2014/main" id="{12A0DAD0-607E-3333-9014-65FB70B72D80}"/>
              </a:ext>
            </a:extLst>
          </p:cNvPr>
          <p:cNvSpPr/>
          <p:nvPr/>
        </p:nvSpPr>
        <p:spPr>
          <a:xfrm>
            <a:off x="194683" y="9507071"/>
            <a:ext cx="480882" cy="358588"/>
          </a:xfrm>
          <a:prstGeom prst="actionButtonHom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6922031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Control xmlns="http://schemas.microsoft.com/VisualStudio/2011/storyboarding/control">
  <Id Name="6b2ff176-0761-4fc0-a776-85271f841f16" Revision="1" Stencil="System.MyShapes" StencilVersion="1.0"/>
</Control>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ontrol xmlns="http://schemas.microsoft.com/VisualStudio/2011/storyboarding/control">
  <Id Name="4e44641a-fd75-4ba1-ac9e-d9bcf20dcc24" Revision="1" Stencil="System.MyShapes" StencilVersion="1.0"/>
</Control>
</file>

<file path=customXml/item4.xml><?xml version="1.0" encoding="utf-8"?>
<Control xmlns="http://schemas.microsoft.com/VisualStudio/2011/storyboarding/control">
  <Id Name="4e44641a-fd75-4ba1-ac9e-d9bcf20dcc24" Revision="1" Stencil="System.MyShapes" StencilVersion="1.0"/>
</Control>
</file>

<file path=customXml/item5.xml><?xml version="1.0" encoding="utf-8"?>
<Control xmlns="http://schemas.microsoft.com/VisualStudio/2011/storyboarding/control">
  <Id Name="6b2ff176-0761-4fc0-a776-85271f841f16" Revision="1" Stencil="System.MyShapes" StencilVersion="1.0"/>
</Control>
</file>

<file path=customXml/item6.xml><?xml version="1.0" encoding="utf-8"?>
<Control xmlns="http://schemas.microsoft.com/VisualStudio/2011/storyboarding/control">
  <Id Name="6b2ff176-0761-4fc0-a776-85271f841f16" Revision="1" Stencil="System.MyShapes" StencilVersion="1.0"/>
</Control>
</file>

<file path=customXml/item7.xml><?xml version="1.0" encoding="utf-8"?>
<Control xmlns="http://schemas.microsoft.com/VisualStudio/2011/storyboarding/control">
  <Id Name="4e44641a-fd75-4ba1-ac9e-d9bcf20dcc24" Revision="1" Stencil="System.MyShapes" StencilVersion="1.0"/>
</Control>
</file>

<file path=customXml/item8.xml><?xml version="1.0" encoding="utf-8"?>
<ct:contentTypeSchema xmlns:ct="http://schemas.microsoft.com/office/2006/metadata/contentType" xmlns:ma="http://schemas.microsoft.com/office/2006/metadata/properties/metaAttributes" ct:_="" ma:_="" ma:contentTypeName="Document" ma:contentTypeID="0x010100E32327C40CD011489E31D26E5E82CE3E" ma:contentTypeVersion="19" ma:contentTypeDescription="Create a new document." ma:contentTypeScope="" ma:versionID="2282c46b7f387611a50d623baad2fecf">
  <xsd:schema xmlns:xsd="http://www.w3.org/2001/XMLSchema" xmlns:xs="http://www.w3.org/2001/XMLSchema" xmlns:p="http://schemas.microsoft.com/office/2006/metadata/properties" xmlns:ns2="76233c6f-7abc-462e-9305-1d2048dfa8ef" xmlns:ns3="50a578a1-39f3-4ad7-8ca0-f96bcb65fb54" targetNamespace="http://schemas.microsoft.com/office/2006/metadata/properties" ma:root="true" ma:fieldsID="0d8fc96051578f48d40bfcad0ea8d443" ns2:_="" ns3:_="">
    <xsd:import namespace="76233c6f-7abc-462e-9305-1d2048dfa8ef"/>
    <xsd:import namespace="50a578a1-39f3-4ad7-8ca0-f96bcb65fb5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EventHashCode" minOccurs="0"/>
                <xsd:element ref="ns2:MediaServiceGenerationTime" minOccurs="0"/>
                <xsd:element ref="ns2:Pictur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233c6f-7abc-462e-9305-1d2048dfa8ef"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Picture" ma:index="18" nillable="true" ma:displayName="Picture" ma:format="Image" ma:internalName="Pictur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875ca8d9-acfc-4ca9-b29e-ea149346698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0a578a1-39f3-4ad7-8ca0-f96bcb65fb5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2bd395b2-4f18-426f-95b8-541c8b957512}" ma:internalName="TaxCatchAll" ma:showField="CatchAllData" ma:web="50a578a1-39f3-4ad7-8ca0-f96bcb65fb5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9.xml><?xml version="1.0" encoding="utf-8"?>
<Control xmlns="http://schemas.microsoft.com/VisualStudio/2011/storyboarding/control">
  <Id Name="4e44641a-fd75-4ba1-ac9e-d9bcf20dcc24" Revision="1" Stencil="System.MyShapes" StencilVersion="1.0"/>
</Control>
</file>

<file path=customXml/item10.xml><?xml version="1.0" encoding="utf-8"?>
<p:properties xmlns:p="http://schemas.microsoft.com/office/2006/metadata/properties" xmlns:xsi="http://www.w3.org/2001/XMLSchema-instance" xmlns:pc="http://schemas.microsoft.com/office/infopath/2007/PartnerControls">
  <documentManagement>
    <SharedWithUsers xmlns="50a578a1-39f3-4ad7-8ca0-f96bcb65fb54">
      <UserInfo>
        <DisplayName>Frank Fallon</DisplayName>
        <AccountId>12</AccountId>
        <AccountType/>
      </UserInfo>
      <UserInfo>
        <DisplayName>Amy McNamara</DisplayName>
        <AccountId>21</AccountId>
        <AccountType/>
      </UserInfo>
      <UserInfo>
        <DisplayName>Noreen Bulfin</DisplayName>
        <AccountId>15</AccountId>
        <AccountType/>
      </UserInfo>
      <UserInfo>
        <DisplayName>Yolanda Bernal</DisplayName>
        <AccountId>14</AccountId>
        <AccountType/>
      </UserInfo>
      <UserInfo>
        <DisplayName>Sunil Rullania</DisplayName>
        <AccountId>202</AccountId>
        <AccountType/>
      </UserInfo>
      <UserInfo>
        <DisplayName>Manish Patil</DisplayName>
        <AccountId>213</AccountId>
        <AccountType/>
      </UserInfo>
    </SharedWithUsers>
    <MediaLengthInSeconds xmlns="76233c6f-7abc-462e-9305-1d2048dfa8ef" xsi:nil="true"/>
    <Picture xmlns="76233c6f-7abc-462e-9305-1d2048dfa8ef">
      <Url xsi:nil="true"/>
      <Description xsi:nil="true"/>
    </Picture>
    <TaxCatchAll xmlns="50a578a1-39f3-4ad7-8ca0-f96bcb65fb54" xsi:nil="true"/>
    <lcf76f155ced4ddcb4097134ff3c332f xmlns="76233c6f-7abc-462e-9305-1d2048dfa8ef">
      <Terms xmlns="http://schemas.microsoft.com/office/infopath/2007/PartnerControls"/>
    </lcf76f155ced4ddcb4097134ff3c332f>
  </documentManagement>
</p:properties>
</file>

<file path=customXml/item11.xml><?xml version="1.0" encoding="utf-8"?>
<Control xmlns="http://schemas.microsoft.com/VisualStudio/2011/storyboarding/control">
  <Id Name="4e44641a-fd75-4ba1-ac9e-d9bcf20dcc24" Revision="1" Stencil="System.MyShapes" StencilVersion="1.0"/>
</Control>
</file>

<file path=customXml/itemProps1.xml><?xml version="1.0" encoding="utf-8"?>
<ds:datastoreItem xmlns:ds="http://schemas.openxmlformats.org/officeDocument/2006/customXml" ds:itemID="{ADBA3F6A-BED9-4F26-9128-E60A6AEDD08A}">
  <ds:schemaRefs>
    <ds:schemaRef ds:uri="http://schemas.microsoft.com/VisualStudio/2011/storyboarding/control"/>
  </ds:schemaRefs>
</ds:datastoreItem>
</file>

<file path=customXml/itemProps2.xml><?xml version="1.0" encoding="utf-8"?>
<ds:datastoreItem xmlns:ds="http://schemas.openxmlformats.org/officeDocument/2006/customXml" ds:itemID="{2F324CAD-CB99-44A1-9DFC-2388A0CBC7AE}">
  <ds:schemaRefs>
    <ds:schemaRef ds:uri="http://schemas.microsoft.com/sharepoint/v3/contenttype/forms"/>
  </ds:schemaRefs>
</ds:datastoreItem>
</file>

<file path=customXml/itemProps3.xml><?xml version="1.0" encoding="utf-8"?>
<ds:datastoreItem xmlns:ds="http://schemas.openxmlformats.org/officeDocument/2006/customXml" ds:itemID="{96B0F79B-24CF-44AC-8597-A433997EC525}">
  <ds:schemaRefs>
    <ds:schemaRef ds:uri="http://schemas.microsoft.com/VisualStudio/2011/storyboarding/control"/>
  </ds:schemaRefs>
</ds:datastoreItem>
</file>

<file path=customXml/itemProps4.xml><?xml version="1.0" encoding="utf-8"?>
<ds:datastoreItem xmlns:ds="http://schemas.openxmlformats.org/officeDocument/2006/customXml" ds:itemID="{F91F3F0E-4A64-4EF9-9467-2A0B4752BF99}">
  <ds:schemaRefs>
    <ds:schemaRef ds:uri="http://schemas.microsoft.com/VisualStudio/2011/storyboarding/control"/>
  </ds:schemaRefs>
</ds:datastoreItem>
</file>

<file path=customXml/itemProps5.xml><?xml version="1.0" encoding="utf-8"?>
<ds:datastoreItem xmlns:ds="http://schemas.openxmlformats.org/officeDocument/2006/customXml" ds:itemID="{1C216CE8-C847-4694-BFAB-52C283C2B75E}">
  <ds:schemaRefs>
    <ds:schemaRef ds:uri="http://schemas.microsoft.com/VisualStudio/2011/storyboarding/control"/>
  </ds:schemaRefs>
</ds:datastoreItem>
</file>

<file path=customXml/itemProps6.xml><?xml version="1.0" encoding="utf-8"?>
<ds:datastoreItem xmlns:ds="http://schemas.openxmlformats.org/officeDocument/2006/customXml" ds:itemID="{5BDB82DD-7A60-4625-B4F7-F9DF03A8ACCF}">
  <ds:schemaRefs>
    <ds:schemaRef ds:uri="http://schemas.microsoft.com/VisualStudio/2011/storyboarding/control"/>
  </ds:schemaRefs>
</ds:datastoreItem>
</file>

<file path=customXml/itemProps7.xml><?xml version="1.0" encoding="utf-8"?>
<ds:datastoreItem xmlns:ds="http://schemas.openxmlformats.org/officeDocument/2006/customXml" ds:itemID="{971F91A1-C0E4-4E63-A72A-F2F778E95628}">
  <ds:schemaRefs>
    <ds:schemaRef ds:uri="http://schemas.microsoft.com/VisualStudio/2011/storyboarding/control"/>
  </ds:schemaRefs>
</ds:datastoreItem>
</file>

<file path=customXml/itemProps8.xml><?xml version="1.0" encoding="utf-8"?>
<ds:datastoreItem xmlns:ds="http://schemas.openxmlformats.org/officeDocument/2006/customXml" ds:itemID="{3ED49FBE-FA8B-497B-8E58-0C59087B2B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233c6f-7abc-462e-9305-1d2048dfa8ef"/>
    <ds:schemaRef ds:uri="50a578a1-39f3-4ad7-8ca0-f96bcb65fb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9.xml><?xml version="1.0" encoding="utf-8"?>
<ds:datastoreItem xmlns:ds="http://schemas.openxmlformats.org/officeDocument/2006/customXml" ds:itemID="{2031982A-FCE4-4B4B-90C1-D988CDFD6CC7}">
  <ds:schemaRefs>
    <ds:schemaRef ds:uri="http://schemas.microsoft.com/VisualStudio/2011/storyboarding/control"/>
  </ds:schemaRefs>
</ds:datastoreItem>
</file>

<file path=customXml/itemProps10.xml><?xml version="1.0" encoding="utf-8"?>
<ds:datastoreItem xmlns:ds="http://schemas.openxmlformats.org/officeDocument/2006/customXml" ds:itemID="{52936B51-3B90-4AE2-A1CC-F48B4C3DAB5C}">
  <ds:schemaRefs>
    <ds:schemaRef ds:uri="50a578a1-39f3-4ad7-8ca0-f96bcb65fb54"/>
    <ds:schemaRef ds:uri="http://purl.org/dc/elements/1.1/"/>
    <ds:schemaRef ds:uri="http://schemas.microsoft.com/office/2006/documentManagement/types"/>
    <ds:schemaRef ds:uri="http://www.w3.org/XML/1998/namespace"/>
    <ds:schemaRef ds:uri="http://purl.org/dc/terms/"/>
    <ds:schemaRef ds:uri="http://purl.org/dc/dcmitype/"/>
    <ds:schemaRef ds:uri="http://schemas.microsoft.com/office/infopath/2007/PartnerControls"/>
    <ds:schemaRef ds:uri="http://schemas.openxmlformats.org/package/2006/metadata/core-properties"/>
    <ds:schemaRef ds:uri="76233c6f-7abc-462e-9305-1d2048dfa8ef"/>
    <ds:schemaRef ds:uri="http://schemas.microsoft.com/office/2006/metadata/properties"/>
  </ds:schemaRefs>
</ds:datastoreItem>
</file>

<file path=customXml/itemProps11.xml><?xml version="1.0" encoding="utf-8"?>
<ds:datastoreItem xmlns:ds="http://schemas.openxmlformats.org/officeDocument/2006/customXml" ds:itemID="{620FEDDA-5213-4276-A287-64E26DA6A1F9}">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3266</Words>
  <Application>Microsoft Office PowerPoint</Application>
  <PresentationFormat>A4 Paper (210x297 mm)</PresentationFormat>
  <Paragraphs>465</Paragraphs>
  <Slides>29</Slides>
  <Notes>1</Notes>
  <HiddenSlides>3</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Company Overview</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Brendan Sheppard</dc:creator>
  <cp:lastModifiedBy>Brendan Sheppard</cp:lastModifiedBy>
  <cp:revision>6</cp:revision>
  <cp:lastPrinted>2022-12-06T19:24:17Z</cp:lastPrinted>
  <dcterms:created xsi:type="dcterms:W3CDTF">2016-04-17T20:01:51Z</dcterms:created>
  <dcterms:modified xsi:type="dcterms:W3CDTF">2026-03-23T10:22:43Z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Tfs.LastKnownPath">
    <vt:lpwstr>https://smartfactoryie.sharepoint.com/sites/SmartFactoryTeamSite/Shared Documents/SF Documentation/Typical Proposals/Proposed Network Architecture and Sensor Connectivity for Pilot System.pptx</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Picture">
    <vt:lpwstr>, </vt:lpwstr>
  </property>
  <property fmtid="{D5CDD505-2E9C-101B-9397-08002B2CF9AE}" pid="10" name="xd_Signature">
    <vt:lpwstr/>
  </property>
  <property fmtid="{D5CDD505-2E9C-101B-9397-08002B2CF9AE}" pid="11" name="ContentTypeId">
    <vt:lpwstr>0x010100E32327C40CD011489E31D26E5E82CE3E</vt:lpwstr>
  </property>
  <property fmtid="{D5CDD505-2E9C-101B-9397-08002B2CF9AE}" pid="12" name="MediaServiceImageTags">
    <vt:lpwstr/>
  </property>
</Properties>
</file>